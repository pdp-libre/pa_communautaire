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99A"/>
    <a:srgbClr val="5CD5E1"/>
    <a:srgbClr val="484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>
      <p:cViewPr varScale="1">
        <p:scale>
          <a:sx n="117" d="100"/>
          <a:sy n="117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C5185-EA83-6645-AC8E-FC4D32650B9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0B086-98EC-B448-9F7B-03F2D0E85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0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D3ECF-AA52-45C1-F74C-823D58AD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2286000"/>
          </a:xfrm>
        </p:spPr>
        <p:txBody>
          <a:bodyPr anchor="b"/>
          <a:lstStyle>
            <a:lvl1pPr algn="ctr">
              <a:defRPr sz="5400" b="1">
                <a:solidFill>
                  <a:srgbClr val="484848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F5E0CF3-6A25-C438-BB76-6C8E873D6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3300"/>
            <a:ext cx="9144000" cy="1031887"/>
          </a:xfrm>
        </p:spPr>
        <p:txBody>
          <a:bodyPr/>
          <a:lstStyle>
            <a:lvl1pPr marL="0" indent="0" algn="ctr">
              <a:buNone/>
              <a:defRPr sz="2200">
                <a:solidFill>
                  <a:srgbClr val="39799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F7B315-A285-666A-ED33-524513CC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B0111-29D4-4BC0-7D2D-45662CC1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9B5D01-B8BB-93C4-8A59-C57878C4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2050" name="Picture 2" descr="PDP Libre">
            <a:extLst>
              <a:ext uri="{FF2B5EF4-FFF2-40B4-BE49-F238E27FC236}">
                <a16:creationId xmlns:a16="http://schemas.microsoft.com/office/drawing/2014/main" id="{53127EC9-4D54-6C49-2243-4DA5D31B67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630" y="4899659"/>
            <a:ext cx="2364740" cy="103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62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4F61CE-4270-85C1-E980-82354A957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62861A-1AA9-3F81-2FA9-66B7F36DC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69D72-5F9F-86C9-321E-E7E6B5B8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B950B-F538-B3FB-56CE-9A38CD07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E0A6D0-A284-276B-2623-4FEA3AC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3074" name="Picture 2" descr="PDP Libre">
            <a:extLst>
              <a:ext uri="{FF2B5EF4-FFF2-40B4-BE49-F238E27FC236}">
                <a16:creationId xmlns:a16="http://schemas.microsoft.com/office/drawing/2014/main" id="{0DB21375-98DD-F7D0-4677-0A202400B9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700" y="396875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94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6D248-068E-D18F-8D7B-F812AA1D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B81692-54F4-2551-5965-39E24CBE4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836F70-1D18-30CE-796B-19BC6323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1BCD6D-E7CE-6679-5F3B-6D964A0E7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EB9F98-45B0-1C72-178F-0427AF68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13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2BADA-3FD7-2484-BF00-9517750B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D8EF49-752A-A9A9-235C-531D68666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84A32D-A232-13ED-1156-F4AE27E24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CE2AEC-6D89-428D-967B-977738A9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2E95E5-469D-CB59-84C2-0D3082B0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DDFE34-6F8D-AC10-477B-C014FF38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4098" name="Picture 2" descr="PDP Libre">
            <a:extLst>
              <a:ext uri="{FF2B5EF4-FFF2-40B4-BE49-F238E27FC236}">
                <a16:creationId xmlns:a16="http://schemas.microsoft.com/office/drawing/2014/main" id="{1C145E4F-424B-7C54-DD89-70B95AF622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4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1FA4F-8859-328C-F42D-65360BD0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F21420-6CA1-6D7D-39F1-8843AE8B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B0B4F2-CB0A-DD4A-29B0-8837F0EE6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93E8DD-79D8-5846-D4F9-9162E308A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6554BFB-FF44-E57A-1C51-98C1A20F0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5CA975-03F7-571E-751E-7448FC11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D41F1E-9C8B-47AD-DC53-6F412FFE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C2CE05-5DDA-29E4-6834-A60A37EB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Picture 2" descr="PDP Libre">
            <a:extLst>
              <a:ext uri="{FF2B5EF4-FFF2-40B4-BE49-F238E27FC236}">
                <a16:creationId xmlns:a16="http://schemas.microsoft.com/office/drawing/2014/main" id="{501C856E-7FD4-6F97-85D0-FECD214D8D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53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C0175-78F5-0C75-9281-59D2D842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490CB9D-F27A-563D-D0D3-BF4240AB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12B8A5-BD8F-12DC-3068-639389D1C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E05D3E-EB99-42F1-57AD-576F1963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6" name="Picture 2" descr="PDP Libre">
            <a:extLst>
              <a:ext uri="{FF2B5EF4-FFF2-40B4-BE49-F238E27FC236}">
                <a16:creationId xmlns:a16="http://schemas.microsoft.com/office/drawing/2014/main" id="{3BE1025A-F51F-1BA0-D0EC-92521FB3A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6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9A42FB-E4A2-4A57-CA30-1106A972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43A487-7AC7-1440-8E42-A45ACFDD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2FBCAD-09F1-255D-B9D9-0B78C226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5" name="Picture 2" descr="PDP Libre">
            <a:extLst>
              <a:ext uri="{FF2B5EF4-FFF2-40B4-BE49-F238E27FC236}">
                <a16:creationId xmlns:a16="http://schemas.microsoft.com/office/drawing/2014/main" id="{1C95B1F7-DB5A-D9B7-C8D4-8E97D9DA5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39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5DB3D-4AAC-D803-8FBC-BE075E84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1F9187-3EC7-4910-A1AA-8168C7381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BA29ED-AFBC-13FB-755C-6D4D6A354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9B4DC1-9F67-3D9C-152D-8CF11DFC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84C94C-E7C8-297B-4423-78ADF54B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907E62-553B-C70C-9F6E-605322FF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Picture 2" descr="PDP Libre">
            <a:extLst>
              <a:ext uri="{FF2B5EF4-FFF2-40B4-BE49-F238E27FC236}">
                <a16:creationId xmlns:a16="http://schemas.microsoft.com/office/drawing/2014/main" id="{EC825312-F026-0F2A-C066-3A68C87D0A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53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6D3D3-6A1C-D60B-C4C8-BCEB0E37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E1C4012-282B-20AD-3D99-7C4A122B9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39520"/>
            <a:ext cx="6169024" cy="46215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DBC7B6-2A3C-89C3-4E57-5EB5F9EBB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23C7ED-FC77-D108-0B90-CDEA802A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5A2400-6FD5-A300-9F8A-6C7013BE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0FC770-33AA-1B2C-2091-679166AE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Picture 2" descr="PDP Libre">
            <a:extLst>
              <a:ext uri="{FF2B5EF4-FFF2-40B4-BE49-F238E27FC236}">
                <a16:creationId xmlns:a16="http://schemas.microsoft.com/office/drawing/2014/main" id="{DD78722B-A4B2-B15A-8554-512C5A8F06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0" y="414814"/>
            <a:ext cx="139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63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F0FCBD-42FA-6FF1-5741-64519908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CAA2CC-FDE9-475D-87DD-5FE67B986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97A713-7A72-3DE2-DB9A-C4CF5FA1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BA0FDC-DC60-BCDE-8142-974EDC45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7CD5E7-CD2D-6176-8A74-35F3454C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63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80B4A84-F3B4-92EE-6B83-806F48AB4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1C44B0-8FA4-EC3A-862F-AE138976B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7633BC-1C7D-3A91-CB2D-FE359D40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73AC85-3921-8E72-A555-8E5667E7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CA1A90-A32B-9DC1-8595-4BAE7EEF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295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9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Top"/>
          <p:cNvSpPr/>
          <p:nvPr userDrawn="1"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CD5E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1" name="FooterBar"/>
          <p:cNvSpPr/>
          <p:nvPr userDrawn="1"/>
        </p:nvSpPr>
        <p:spPr>
          <a:xfrm>
            <a:off x="0" y="6468000"/>
            <a:ext cx="12192000" cy="390525"/>
          </a:xfrm>
          <a:prstGeom prst="rect">
            <a:avLst/>
          </a:prstGeom>
          <a:solidFill>
            <a:srgbClr val="252A4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2" name="FooterText"/>
          <p:cNvSpPr/>
          <p:nvPr userDrawn="1"/>
        </p:nvSpPr>
        <p:spPr>
          <a:xfrm>
            <a:off x="457200" y="6468000"/>
            <a:ext cx="11277600" cy="390525"/>
          </a:xfrm>
          <a:prstGeom prst="rect">
            <a:avLst/>
          </a:prstGeom>
          <a:noFill/>
          <a:ln>
            <a:noFill/>
          </a:ln>
        </p:spPr>
        <p:txBody>
          <a:bodyPr lIns="91440" rIns="91440" anchor="ctr"/>
          <a:lstStyle/>
          <a:p>
            <a:pPr algn="r"/>
            <a:r>
              <a:rPr lang="fr-FR" sz="1100" dirty="0">
                <a:solidFill>
                  <a:srgbClr val="7E8A9A"/>
                </a:solidFill>
                <a:latin typeface="Calibri"/>
              </a:rPr>
              <a:t>pdplibre.org</a:t>
            </a: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6913532-DC2C-854B-19EB-F8309E25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BE1728-BF8B-FE56-6522-9E11FA402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7800"/>
            <a:ext cx="10515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762C02-57B1-F988-EDF9-61462A5A5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DB203-8D7D-9742-857D-A857DF8690F3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AAB3D5-00D4-AB3F-2427-008CA1026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C62501-3CC5-D615-D39E-CA47C6741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D3AFA-59E9-D748-930F-B14785ACE3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10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979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848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848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848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848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848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solidFill>
                  <a:srgbClr val="484848"/>
                </a:solidFill>
              </a:rPr>
              <a:t>Onboarding</a:t>
            </a:r>
            <a:r>
              <a:rPr lang="fr-FR" dirty="0">
                <a:solidFill>
                  <a:srgbClr val="484848"/>
                </a:solidFill>
              </a:rPr>
              <a:t> contributeur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dirty="0">
                <a:solidFill>
                  <a:srgbClr val="666666"/>
                </a:solidFill>
              </a:rPr>
              <a:t>Construction 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3333"/>
                </a:solidFill>
              </a:rPr>
              <a:t>Parcours d'onboarding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3200" b="1" dirty="0">
                <a:solidFill>
                  <a:srgbClr val="388E3C"/>
                </a:solidFill>
              </a:rPr>
              <a:t>Tronc </a:t>
            </a:r>
            <a:r>
              <a:rPr sz="3200" b="1" dirty="0" err="1">
                <a:solidFill>
                  <a:srgbClr val="388E3C"/>
                </a:solidFill>
              </a:rPr>
              <a:t>commun</a:t>
            </a:r>
            <a:endParaRPr sz="3200" b="1" dirty="0">
              <a:solidFill>
                <a:srgbClr val="388E3C"/>
              </a:solidFill>
            </a:endParaRP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1. </a:t>
            </a:r>
            <a:r>
              <a:rPr sz="2400" b="0" dirty="0" err="1">
                <a:solidFill>
                  <a:srgbClr val="333333"/>
                </a:solidFill>
              </a:rPr>
              <a:t>Contexte</a:t>
            </a:r>
            <a:r>
              <a:rPr sz="2400" b="0" dirty="0">
                <a:solidFill>
                  <a:srgbClr val="333333"/>
                </a:solidFill>
              </a:rPr>
              <a:t> et vision du </a:t>
            </a:r>
            <a:r>
              <a:rPr sz="2400" b="0" dirty="0" err="1">
                <a:solidFill>
                  <a:srgbClr val="333333"/>
                </a:solidFill>
              </a:rPr>
              <a:t>projet</a:t>
            </a:r>
            <a:endParaRPr sz="24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2. Architecture : les 10 </a:t>
            </a:r>
            <a:r>
              <a:rPr sz="2400" b="0" dirty="0" err="1">
                <a:solidFill>
                  <a:srgbClr val="333333"/>
                </a:solidFill>
              </a:rPr>
              <a:t>briques</a:t>
            </a:r>
            <a:endParaRPr sz="24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3. Les </a:t>
            </a:r>
            <a:r>
              <a:rPr sz="2400" b="0" dirty="0" err="1">
                <a:solidFill>
                  <a:srgbClr val="333333"/>
                </a:solidFill>
              </a:rPr>
              <a:t>normes</a:t>
            </a:r>
            <a:r>
              <a:rPr sz="2400" b="0" dirty="0">
                <a:solidFill>
                  <a:srgbClr val="333333"/>
                </a:solidFill>
              </a:rPr>
              <a:t> de </a:t>
            </a:r>
            <a:r>
              <a:rPr sz="2400" b="0" dirty="0" err="1">
                <a:solidFill>
                  <a:srgbClr val="333333"/>
                </a:solidFill>
              </a:rPr>
              <a:t>référence</a:t>
            </a:r>
            <a:endParaRPr sz="24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4. </a:t>
            </a:r>
            <a:r>
              <a:rPr sz="2400" b="0" dirty="0" err="1">
                <a:solidFill>
                  <a:srgbClr val="333333"/>
                </a:solidFill>
              </a:rPr>
              <a:t>Organisation</a:t>
            </a:r>
            <a:r>
              <a:rPr sz="2400" b="0" dirty="0">
                <a:solidFill>
                  <a:srgbClr val="333333"/>
                </a:solidFill>
              </a:rPr>
              <a:t> du depot</a:t>
            </a: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5. </a:t>
            </a:r>
            <a:r>
              <a:rPr sz="2400" b="0" dirty="0" err="1">
                <a:solidFill>
                  <a:srgbClr val="333333"/>
                </a:solidFill>
              </a:rPr>
              <a:t>Strategie</a:t>
            </a:r>
            <a:r>
              <a:rPr sz="2400" b="0" dirty="0">
                <a:solidFill>
                  <a:srgbClr val="333333"/>
                </a:solidFill>
              </a:rPr>
              <a:t> BDD</a:t>
            </a:r>
          </a:p>
          <a:p>
            <a:pPr>
              <a:spcBef>
                <a:spcPts val="400"/>
              </a:spcBef>
            </a:pPr>
            <a:endParaRPr sz="2400" b="0" dirty="0">
              <a:solidFill>
                <a:srgbClr val="333333"/>
              </a:solidFill>
            </a:endParaRPr>
          </a:p>
          <a:p>
            <a:r>
              <a:rPr sz="3200" b="1" dirty="0" err="1">
                <a:solidFill>
                  <a:srgbClr val="388E3C"/>
                </a:solidFill>
              </a:rPr>
              <a:t>Finalisation</a:t>
            </a:r>
            <a:r>
              <a:rPr sz="3200" b="1" dirty="0">
                <a:solidFill>
                  <a:srgbClr val="388E3C"/>
                </a:solidFill>
              </a:rPr>
              <a:t> commune</a:t>
            </a: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10. Rapports de tests</a:t>
            </a: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11. </a:t>
            </a:r>
            <a:r>
              <a:rPr sz="2400" b="0" dirty="0" err="1">
                <a:solidFill>
                  <a:srgbClr val="333333"/>
                </a:solidFill>
              </a:rPr>
              <a:t>Contribuer</a:t>
            </a:r>
            <a:endParaRPr sz="2400" b="0" dirty="0">
              <a:solidFill>
                <a:srgbClr val="333333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sz="3200" b="1" dirty="0" err="1">
                <a:solidFill>
                  <a:srgbClr val="1976D2"/>
                </a:solidFill>
              </a:rPr>
              <a:t>Parcours</a:t>
            </a:r>
            <a:r>
              <a:rPr sz="3200" b="1" dirty="0">
                <a:solidFill>
                  <a:srgbClr val="1976D2"/>
                </a:solidFill>
              </a:rPr>
              <a:t> DEV</a:t>
            </a: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7. Installation </a:t>
            </a:r>
            <a:r>
              <a:rPr sz="2400" b="0" dirty="0" err="1">
                <a:solidFill>
                  <a:srgbClr val="333333"/>
                </a:solidFill>
              </a:rPr>
              <a:t>environnement</a:t>
            </a:r>
            <a:endParaRPr sz="24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8. Le code : packages et services</a:t>
            </a: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9. Implementer un test BDD</a:t>
            </a:r>
          </a:p>
          <a:p>
            <a:pPr>
              <a:spcBef>
                <a:spcPts val="400"/>
              </a:spcBef>
            </a:pPr>
            <a:endParaRPr sz="2400" b="0" dirty="0">
              <a:solidFill>
                <a:srgbClr val="333333"/>
              </a:solidFill>
            </a:endParaRPr>
          </a:p>
          <a:p>
            <a:r>
              <a:rPr sz="3200" b="1" dirty="0" err="1">
                <a:solidFill>
                  <a:srgbClr val="F57C00"/>
                </a:solidFill>
              </a:rPr>
              <a:t>Parcours</a:t>
            </a:r>
            <a:r>
              <a:rPr sz="3200" b="1" dirty="0">
                <a:solidFill>
                  <a:srgbClr val="F57C00"/>
                </a:solidFill>
              </a:rPr>
              <a:t> METIER</a:t>
            </a: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6. Rediger un scenario BDD</a:t>
            </a:r>
          </a:p>
          <a:p>
            <a:pPr>
              <a:spcBef>
                <a:spcPts val="400"/>
              </a:spcBef>
            </a:pPr>
            <a:r>
              <a:rPr sz="2400" b="0" dirty="0">
                <a:solidFill>
                  <a:srgbClr val="333333"/>
                </a:solidFill>
              </a:rPr>
              <a:t>12. Focus par </a:t>
            </a:r>
            <a:r>
              <a:rPr sz="2400" b="0" dirty="0" err="1">
                <a:solidFill>
                  <a:srgbClr val="333333"/>
                </a:solidFill>
              </a:rPr>
              <a:t>brique</a:t>
            </a:r>
            <a:endParaRPr sz="2400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388E3C"/>
                </a:solidFill>
              </a:rPr>
              <a:t>[TOUS]  </a:t>
            </a:r>
            <a:r>
              <a:rPr sz="3600" b="1">
                <a:solidFill>
                  <a:srgbClr val="333333"/>
                </a:solidFill>
              </a:rPr>
              <a:t>Contexte et vision du projet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1 - Comprendre pourquoi ce projet existe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388E3C"/>
                </a:solidFill>
              </a:rPr>
              <a:t>[TOUS]  </a:t>
            </a:r>
            <a:r>
              <a:rPr sz="2600" b="1">
                <a:solidFill>
                  <a:srgbClr val="333333"/>
                </a:solidFill>
              </a:rPr>
              <a:t>La reforme facturation electronique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Qu'est-ce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qu'une</a:t>
            </a:r>
            <a:r>
              <a:rPr sz="2400" b="1" dirty="0">
                <a:solidFill>
                  <a:srgbClr val="333333"/>
                </a:solidFill>
              </a:rPr>
              <a:t> PDP (</a:t>
            </a:r>
            <a:r>
              <a:rPr sz="2400" b="1" dirty="0" err="1">
                <a:solidFill>
                  <a:srgbClr val="333333"/>
                </a:solidFill>
              </a:rPr>
              <a:t>Plateforme</a:t>
            </a:r>
            <a:r>
              <a:rPr sz="2400" b="1" dirty="0">
                <a:solidFill>
                  <a:srgbClr val="333333"/>
                </a:solidFill>
              </a:rPr>
              <a:t> de </a:t>
            </a:r>
            <a:r>
              <a:rPr sz="2400" b="1" dirty="0" err="1">
                <a:solidFill>
                  <a:srgbClr val="333333"/>
                </a:solidFill>
              </a:rPr>
              <a:t>Dematerialisation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Partenaire</a:t>
            </a:r>
            <a:r>
              <a:rPr sz="2400" b="1" dirty="0">
                <a:solidFill>
                  <a:srgbClr val="333333"/>
                </a:solidFill>
              </a:rPr>
              <a:t>) ?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Point </a:t>
            </a:r>
            <a:r>
              <a:rPr sz="2000" b="0" dirty="0" err="1">
                <a:solidFill>
                  <a:srgbClr val="333333"/>
                </a:solidFill>
              </a:rPr>
              <a:t>d'entree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obligatoire</a:t>
            </a:r>
            <a:r>
              <a:rPr sz="2000" b="0" dirty="0">
                <a:solidFill>
                  <a:srgbClr val="333333"/>
                </a:solidFill>
              </a:rPr>
              <a:t> pour </a:t>
            </a:r>
            <a:r>
              <a:rPr sz="2000" b="0" dirty="0" err="1">
                <a:solidFill>
                  <a:srgbClr val="333333"/>
                </a:solidFill>
              </a:rPr>
              <a:t>emettre</a:t>
            </a:r>
            <a:r>
              <a:rPr sz="2000" b="0" dirty="0">
                <a:solidFill>
                  <a:srgbClr val="333333"/>
                </a:solidFill>
              </a:rPr>
              <a:t>/</a:t>
            </a:r>
            <a:r>
              <a:rPr sz="2000" b="0" dirty="0" err="1">
                <a:solidFill>
                  <a:srgbClr val="333333"/>
                </a:solidFill>
              </a:rPr>
              <a:t>recevoir</a:t>
            </a:r>
            <a:r>
              <a:rPr sz="2000" b="0" dirty="0">
                <a:solidFill>
                  <a:srgbClr val="333333"/>
                </a:solidFill>
              </a:rPr>
              <a:t> des factures </a:t>
            </a:r>
            <a:r>
              <a:rPr sz="2000" b="0" dirty="0" err="1">
                <a:solidFill>
                  <a:srgbClr val="333333"/>
                </a:solidFill>
              </a:rPr>
              <a:t>electroniques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Positionnement</a:t>
            </a:r>
            <a:r>
              <a:rPr sz="2000" b="0" dirty="0">
                <a:solidFill>
                  <a:srgbClr val="333333"/>
                </a:solidFill>
              </a:rPr>
              <a:t> vis-a-vis du PPF (</a:t>
            </a:r>
            <a:r>
              <a:rPr sz="2000" b="0" dirty="0" err="1">
                <a:solidFill>
                  <a:srgbClr val="333333"/>
                </a:solidFill>
              </a:rPr>
              <a:t>Portail</a:t>
            </a:r>
            <a:r>
              <a:rPr sz="2000" b="0" dirty="0">
                <a:solidFill>
                  <a:srgbClr val="333333"/>
                </a:solidFill>
              </a:rPr>
              <a:t> Public de </a:t>
            </a:r>
            <a:r>
              <a:rPr sz="2000" b="0" dirty="0" err="1">
                <a:solidFill>
                  <a:srgbClr val="333333"/>
                </a:solidFill>
              </a:rPr>
              <a:t>Facturation</a:t>
            </a:r>
            <a:r>
              <a:rPr sz="2000" b="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Calendrier</a:t>
            </a:r>
            <a:r>
              <a:rPr sz="2400" b="1" dirty="0">
                <a:solidFill>
                  <a:srgbClr val="333333"/>
                </a:solidFill>
              </a:rPr>
              <a:t> de la </a:t>
            </a:r>
            <a:r>
              <a:rPr sz="2400" b="1" dirty="0" err="1">
                <a:solidFill>
                  <a:srgbClr val="333333"/>
                </a:solidFill>
              </a:rPr>
              <a:t>reforme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Sept. 2026 : obligation de reception pour </a:t>
            </a:r>
            <a:r>
              <a:rPr sz="2000" b="0" dirty="0" err="1">
                <a:solidFill>
                  <a:srgbClr val="333333"/>
                </a:solidFill>
              </a:rPr>
              <a:t>toutes</a:t>
            </a:r>
            <a:r>
              <a:rPr sz="2000" b="0" dirty="0">
                <a:solidFill>
                  <a:srgbClr val="333333"/>
                </a:solidFill>
              </a:rPr>
              <a:t> les </a:t>
            </a:r>
            <a:r>
              <a:rPr sz="2000" b="0" dirty="0" err="1">
                <a:solidFill>
                  <a:srgbClr val="333333"/>
                </a:solidFill>
              </a:rPr>
              <a:t>entreprises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2027 : obligation </a:t>
            </a:r>
            <a:r>
              <a:rPr sz="2000" b="0" dirty="0" err="1">
                <a:solidFill>
                  <a:srgbClr val="333333"/>
                </a:solidFill>
              </a:rPr>
              <a:t>d'emission</a:t>
            </a:r>
            <a:r>
              <a:rPr sz="2000" b="0" dirty="0">
                <a:solidFill>
                  <a:srgbClr val="333333"/>
                </a:solidFill>
              </a:rPr>
              <a:t> (</a:t>
            </a:r>
            <a:r>
              <a:rPr sz="2000" b="0" dirty="0" err="1">
                <a:solidFill>
                  <a:srgbClr val="333333"/>
                </a:solidFill>
              </a:rPr>
              <a:t>echelonnee</a:t>
            </a:r>
            <a:r>
              <a:rPr sz="2000" b="0" dirty="0">
                <a:solidFill>
                  <a:srgbClr val="333333"/>
                </a:solidFill>
              </a:rPr>
              <a:t> par taille)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3 obligations : reception, emission, e-reporting (transmission </a:t>
            </a:r>
            <a:r>
              <a:rPr sz="2400" b="1" dirty="0" err="1">
                <a:solidFill>
                  <a:srgbClr val="333333"/>
                </a:solidFill>
              </a:rPr>
              <a:t>fiscale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33333"/>
                </a:solidFill>
              </a:rPr>
              <a:t>Vision PA Communautaire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Trajectoire</a:t>
            </a:r>
            <a:r>
              <a:rPr sz="2400" b="1" dirty="0">
                <a:solidFill>
                  <a:srgbClr val="333333"/>
                </a:solidFill>
              </a:rPr>
              <a:t> du </a:t>
            </a:r>
            <a:r>
              <a:rPr sz="2400" b="1" dirty="0" err="1">
                <a:solidFill>
                  <a:srgbClr val="333333"/>
                </a:solidFill>
              </a:rPr>
              <a:t>projet</a:t>
            </a:r>
            <a:r>
              <a:rPr sz="2400" b="1" dirty="0">
                <a:solidFill>
                  <a:srgbClr val="333333"/>
                </a:solidFill>
              </a:rPr>
              <a:t> PDP Libre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Choix </a:t>
            </a:r>
            <a:r>
              <a:rPr sz="2000" b="0" dirty="0" err="1">
                <a:solidFill>
                  <a:srgbClr val="333333"/>
                </a:solidFill>
              </a:rPr>
              <a:t>d'une</a:t>
            </a:r>
            <a:r>
              <a:rPr sz="2000" b="0" dirty="0">
                <a:solidFill>
                  <a:srgbClr val="333333"/>
                </a:solidFill>
              </a:rPr>
              <a:t> PA </a:t>
            </a:r>
            <a:r>
              <a:rPr sz="2000" b="0" dirty="0" err="1">
                <a:solidFill>
                  <a:srgbClr val="333333"/>
                </a:solidFill>
              </a:rPr>
              <a:t>partenaire</a:t>
            </a:r>
            <a:r>
              <a:rPr sz="2000" b="0" dirty="0">
                <a:solidFill>
                  <a:srgbClr val="333333"/>
                </a:solidFill>
              </a:rPr>
              <a:t> pour </a:t>
            </a:r>
            <a:r>
              <a:rPr sz="2000" b="0" dirty="0" err="1">
                <a:solidFill>
                  <a:srgbClr val="333333"/>
                </a:solidFill>
              </a:rPr>
              <a:t>septembre</a:t>
            </a:r>
            <a:r>
              <a:rPr sz="2000" b="0" dirty="0">
                <a:solidFill>
                  <a:srgbClr val="333333"/>
                </a:solidFill>
              </a:rPr>
              <a:t> 2026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En </a:t>
            </a:r>
            <a:r>
              <a:rPr sz="2000" b="0" dirty="0" err="1">
                <a:solidFill>
                  <a:srgbClr val="333333"/>
                </a:solidFill>
              </a:rPr>
              <a:t>parallele</a:t>
            </a:r>
            <a:r>
              <a:rPr sz="2000" b="0" dirty="0">
                <a:solidFill>
                  <a:srgbClr val="333333"/>
                </a:solidFill>
              </a:rPr>
              <a:t> : construction </a:t>
            </a:r>
            <a:r>
              <a:rPr sz="2000" b="0" dirty="0" err="1">
                <a:solidFill>
                  <a:srgbClr val="333333"/>
                </a:solidFill>
              </a:rPr>
              <a:t>d'une</a:t>
            </a:r>
            <a:r>
              <a:rPr sz="2000" b="0" dirty="0">
                <a:solidFill>
                  <a:srgbClr val="333333"/>
                </a:solidFill>
              </a:rPr>
              <a:t> PA Communautaire open source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Valeurs </a:t>
            </a:r>
            <a:r>
              <a:rPr sz="2400" b="1" dirty="0" err="1">
                <a:solidFill>
                  <a:srgbClr val="333333"/>
                </a:solidFill>
              </a:rPr>
              <a:t>fondamentales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Open source : code </a:t>
            </a:r>
            <a:r>
              <a:rPr sz="2000" b="0" dirty="0" err="1">
                <a:solidFill>
                  <a:srgbClr val="333333"/>
                </a:solidFill>
              </a:rPr>
              <a:t>ouvert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licences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libres</a:t>
            </a:r>
            <a:r>
              <a:rPr sz="2000" b="0" dirty="0">
                <a:solidFill>
                  <a:srgbClr val="333333"/>
                </a:solidFill>
              </a:rPr>
              <a:t> (GPL-3.0-or-later)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Souverainete</a:t>
            </a:r>
            <a:r>
              <a:rPr sz="2000" b="0" dirty="0">
                <a:solidFill>
                  <a:srgbClr val="333333"/>
                </a:solidFill>
              </a:rPr>
              <a:t> : </a:t>
            </a:r>
            <a:r>
              <a:rPr sz="2000" b="0" dirty="0" err="1">
                <a:solidFill>
                  <a:srgbClr val="333333"/>
                </a:solidFill>
              </a:rPr>
              <a:t>independance</a:t>
            </a:r>
            <a:r>
              <a:rPr sz="2000" b="0" dirty="0">
                <a:solidFill>
                  <a:srgbClr val="333333"/>
                </a:solidFill>
              </a:rPr>
              <a:t> vis-a-vis des </a:t>
            </a:r>
            <a:r>
              <a:rPr sz="2000" b="0" dirty="0" err="1">
                <a:solidFill>
                  <a:srgbClr val="333333"/>
                </a:solidFill>
              </a:rPr>
              <a:t>acteurs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commerciaux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Communautaire : </a:t>
            </a:r>
            <a:r>
              <a:rPr sz="2000" b="0" dirty="0" err="1">
                <a:solidFill>
                  <a:srgbClr val="333333"/>
                </a:solidFill>
              </a:rPr>
              <a:t>gouvernance</a:t>
            </a:r>
            <a:r>
              <a:rPr sz="2000" b="0" dirty="0">
                <a:solidFill>
                  <a:srgbClr val="333333"/>
                </a:solidFill>
              </a:rPr>
              <a:t> participative et </a:t>
            </a:r>
            <a:r>
              <a:rPr sz="2000" b="0" dirty="0" err="1">
                <a:solidFill>
                  <a:srgbClr val="333333"/>
                </a:solidFill>
              </a:rPr>
              <a:t>transparente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Sans but </a:t>
            </a:r>
            <a:r>
              <a:rPr sz="2000" b="0" dirty="0" err="1">
                <a:solidFill>
                  <a:srgbClr val="333333"/>
                </a:solidFill>
              </a:rPr>
              <a:t>lucratif</a:t>
            </a:r>
            <a:r>
              <a:rPr sz="2000" b="0" dirty="0">
                <a:solidFill>
                  <a:srgbClr val="333333"/>
                </a:solidFill>
              </a:rPr>
              <a:t> : au service de </a:t>
            </a:r>
            <a:r>
              <a:rPr sz="2000" b="0" dirty="0" err="1">
                <a:solidFill>
                  <a:srgbClr val="333333"/>
                </a:solidFill>
              </a:rPr>
              <a:t>l'interet</a:t>
            </a:r>
            <a:r>
              <a:rPr sz="2000" b="0" dirty="0">
                <a:solidFill>
                  <a:srgbClr val="333333"/>
                </a:solidFill>
              </a:rPr>
              <a:t> general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Ecosysteme</a:t>
            </a:r>
            <a:r>
              <a:rPr sz="2400" b="1" dirty="0">
                <a:solidFill>
                  <a:srgbClr val="333333"/>
                </a:solidFill>
              </a:rPr>
              <a:t> : </a:t>
            </a:r>
            <a:r>
              <a:rPr sz="2400" b="1" dirty="0" err="1">
                <a:solidFill>
                  <a:srgbClr val="333333"/>
                </a:solidFill>
              </a:rPr>
              <a:t>emetteur</a:t>
            </a:r>
            <a:r>
              <a:rPr sz="2400" b="1" dirty="0">
                <a:solidFill>
                  <a:srgbClr val="333333"/>
                </a:solidFill>
              </a:rPr>
              <a:t>, </a:t>
            </a:r>
            <a:r>
              <a:rPr sz="2400" b="1" dirty="0" err="1">
                <a:solidFill>
                  <a:srgbClr val="333333"/>
                </a:solidFill>
              </a:rPr>
              <a:t>destinataire</a:t>
            </a:r>
            <a:r>
              <a:rPr sz="2400" b="1" dirty="0">
                <a:solidFill>
                  <a:srgbClr val="333333"/>
                </a:solidFill>
              </a:rPr>
              <a:t>, PDP </a:t>
            </a:r>
            <a:r>
              <a:rPr sz="2400" b="1" dirty="0" err="1">
                <a:solidFill>
                  <a:srgbClr val="333333"/>
                </a:solidFill>
              </a:rPr>
              <a:t>emettrice</a:t>
            </a:r>
            <a:r>
              <a:rPr sz="2400" b="1" dirty="0">
                <a:solidFill>
                  <a:srgbClr val="333333"/>
                </a:solidFill>
              </a:rPr>
              <a:t>/</a:t>
            </a:r>
            <a:r>
              <a:rPr sz="2400" b="1" dirty="0" err="1">
                <a:solidFill>
                  <a:srgbClr val="333333"/>
                </a:solidFill>
              </a:rPr>
              <a:t>receptrice</a:t>
            </a:r>
            <a:r>
              <a:rPr sz="2400" b="1" dirty="0">
                <a:solidFill>
                  <a:srgbClr val="333333"/>
                </a:solidFill>
              </a:rPr>
              <a:t>, PPF, </a:t>
            </a:r>
            <a:r>
              <a:rPr sz="2400" b="1" dirty="0" err="1">
                <a:solidFill>
                  <a:srgbClr val="333333"/>
                </a:solidFill>
              </a:rPr>
              <a:t>DGFiP</a:t>
            </a:r>
            <a:endParaRPr sz="24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33333"/>
                </a:solidFill>
              </a:rPr>
              <a:t>Parcours d'une facture (vue simplifiee)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333333"/>
                </a:solidFill>
              </a:rPr>
              <a:t>1. </a:t>
            </a:r>
            <a:r>
              <a:rPr b="1" dirty="0" err="1">
                <a:solidFill>
                  <a:srgbClr val="333333"/>
                </a:solidFill>
              </a:rPr>
              <a:t>L'emetteur</a:t>
            </a:r>
            <a:r>
              <a:rPr b="1" dirty="0">
                <a:solidFill>
                  <a:srgbClr val="333333"/>
                </a:solidFill>
              </a:rPr>
              <a:t> depose </a:t>
            </a:r>
            <a:r>
              <a:rPr b="1" dirty="0" err="1">
                <a:solidFill>
                  <a:srgbClr val="333333"/>
                </a:solidFill>
              </a:rPr>
              <a:t>une</a:t>
            </a:r>
            <a:r>
              <a:rPr b="1" dirty="0">
                <a:solidFill>
                  <a:srgbClr val="333333"/>
                </a:solidFill>
              </a:rPr>
              <a:t> facture sur </a:t>
            </a:r>
            <a:r>
              <a:rPr b="1" dirty="0" err="1">
                <a:solidFill>
                  <a:srgbClr val="333333"/>
                </a:solidFill>
              </a:rPr>
              <a:t>sa</a:t>
            </a:r>
            <a:r>
              <a:rPr b="1" dirty="0">
                <a:solidFill>
                  <a:srgbClr val="333333"/>
                </a:solidFill>
              </a:rPr>
              <a:t> PDP</a:t>
            </a:r>
          </a:p>
          <a:p>
            <a:pPr>
              <a:spcBef>
                <a:spcPts val="400"/>
              </a:spcBef>
            </a:pPr>
            <a:r>
              <a:rPr b="1" dirty="0">
                <a:solidFill>
                  <a:srgbClr val="333333"/>
                </a:solidFill>
              </a:rPr>
              <a:t>2. La PDP </a:t>
            </a:r>
            <a:r>
              <a:rPr b="1" dirty="0" err="1">
                <a:solidFill>
                  <a:srgbClr val="333333"/>
                </a:solidFill>
              </a:rPr>
              <a:t>controle</a:t>
            </a:r>
            <a:r>
              <a:rPr b="1" dirty="0">
                <a:solidFill>
                  <a:srgbClr val="333333"/>
                </a:solidFill>
              </a:rPr>
              <a:t> le format (UBL, CII, </a:t>
            </a:r>
            <a:r>
              <a:rPr b="1" dirty="0" err="1">
                <a:solidFill>
                  <a:srgbClr val="333333"/>
                </a:solidFill>
              </a:rPr>
              <a:t>Factur</a:t>
            </a:r>
            <a:r>
              <a:rPr b="1" dirty="0">
                <a:solidFill>
                  <a:srgbClr val="333333"/>
                </a:solidFill>
              </a:rPr>
              <a:t>-X)</a:t>
            </a:r>
          </a:p>
          <a:p>
            <a:pPr>
              <a:spcBef>
                <a:spcPts val="400"/>
              </a:spcBef>
            </a:pPr>
            <a:r>
              <a:rPr b="1" dirty="0">
                <a:solidFill>
                  <a:srgbClr val="333333"/>
                </a:solidFill>
              </a:rPr>
              <a:t>3. La PDP </a:t>
            </a:r>
            <a:r>
              <a:rPr b="1" dirty="0" err="1">
                <a:solidFill>
                  <a:srgbClr val="333333"/>
                </a:solidFill>
              </a:rPr>
              <a:t>valide</a:t>
            </a:r>
            <a:r>
              <a:rPr b="1" dirty="0">
                <a:solidFill>
                  <a:srgbClr val="333333"/>
                </a:solidFill>
              </a:rPr>
              <a:t> les </a:t>
            </a:r>
            <a:r>
              <a:rPr b="1" dirty="0" err="1">
                <a:solidFill>
                  <a:srgbClr val="333333"/>
                </a:solidFill>
              </a:rPr>
              <a:t>regles</a:t>
            </a:r>
            <a:r>
              <a:rPr b="1" dirty="0">
                <a:solidFill>
                  <a:srgbClr val="333333"/>
                </a:solidFill>
              </a:rPr>
              <a:t> </a:t>
            </a:r>
            <a:r>
              <a:rPr b="1" dirty="0" err="1">
                <a:solidFill>
                  <a:srgbClr val="333333"/>
                </a:solidFill>
              </a:rPr>
              <a:t>metier</a:t>
            </a:r>
            <a:endParaRPr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b="1" dirty="0">
                <a:solidFill>
                  <a:srgbClr val="333333"/>
                </a:solidFill>
              </a:rPr>
              <a:t>4. La PDP route la facture </a:t>
            </a:r>
            <a:r>
              <a:rPr b="1" dirty="0" err="1">
                <a:solidFill>
                  <a:srgbClr val="333333"/>
                </a:solidFill>
              </a:rPr>
              <a:t>vers</a:t>
            </a:r>
            <a:r>
              <a:rPr b="1" dirty="0">
                <a:solidFill>
                  <a:srgbClr val="333333"/>
                </a:solidFill>
              </a:rPr>
              <a:t> la PDP du </a:t>
            </a:r>
            <a:r>
              <a:rPr b="1" dirty="0" err="1">
                <a:solidFill>
                  <a:srgbClr val="333333"/>
                </a:solidFill>
              </a:rPr>
              <a:t>destinataire</a:t>
            </a:r>
            <a:r>
              <a:rPr b="1" dirty="0">
                <a:solidFill>
                  <a:srgbClr val="333333"/>
                </a:solidFill>
              </a:rPr>
              <a:t> (via PEPPOL)</a:t>
            </a:r>
          </a:p>
          <a:p>
            <a:pPr>
              <a:spcBef>
                <a:spcPts val="400"/>
              </a:spcBef>
            </a:pPr>
            <a:r>
              <a:rPr b="1" dirty="0">
                <a:solidFill>
                  <a:srgbClr val="333333"/>
                </a:solidFill>
              </a:rPr>
              <a:t>5. Le </a:t>
            </a:r>
            <a:r>
              <a:rPr b="1" dirty="0" err="1">
                <a:solidFill>
                  <a:srgbClr val="333333"/>
                </a:solidFill>
              </a:rPr>
              <a:t>destinataire</a:t>
            </a:r>
            <a:r>
              <a:rPr b="1" dirty="0">
                <a:solidFill>
                  <a:srgbClr val="333333"/>
                </a:solidFill>
              </a:rPr>
              <a:t> </a:t>
            </a:r>
            <a:r>
              <a:rPr b="1" dirty="0" err="1">
                <a:solidFill>
                  <a:srgbClr val="333333"/>
                </a:solidFill>
              </a:rPr>
              <a:t>recoit</a:t>
            </a:r>
            <a:r>
              <a:rPr b="1" dirty="0">
                <a:solidFill>
                  <a:srgbClr val="333333"/>
                </a:solidFill>
              </a:rPr>
              <a:t> la facture et </a:t>
            </a:r>
            <a:r>
              <a:rPr b="1" dirty="0" err="1">
                <a:solidFill>
                  <a:srgbClr val="333333"/>
                </a:solidFill>
              </a:rPr>
              <a:t>gere</a:t>
            </a:r>
            <a:r>
              <a:rPr b="1" dirty="0">
                <a:solidFill>
                  <a:srgbClr val="333333"/>
                </a:solidFill>
              </a:rPr>
              <a:t> son cycle de vie</a:t>
            </a:r>
          </a:p>
          <a:p>
            <a:pPr>
              <a:spcBef>
                <a:spcPts val="400"/>
              </a:spcBef>
            </a:pPr>
            <a:r>
              <a:rPr b="1" dirty="0">
                <a:solidFill>
                  <a:srgbClr val="333333"/>
                </a:solidFill>
              </a:rPr>
              <a:t>6. Les </a:t>
            </a:r>
            <a:r>
              <a:rPr b="1" dirty="0" err="1">
                <a:solidFill>
                  <a:srgbClr val="333333"/>
                </a:solidFill>
              </a:rPr>
              <a:t>donnees</a:t>
            </a:r>
            <a:r>
              <a:rPr b="1" dirty="0">
                <a:solidFill>
                  <a:srgbClr val="333333"/>
                </a:solidFill>
              </a:rPr>
              <a:t> </a:t>
            </a:r>
            <a:r>
              <a:rPr b="1" dirty="0" err="1">
                <a:solidFill>
                  <a:srgbClr val="333333"/>
                </a:solidFill>
              </a:rPr>
              <a:t>fiscales</a:t>
            </a:r>
            <a:r>
              <a:rPr b="1" dirty="0">
                <a:solidFill>
                  <a:srgbClr val="333333"/>
                </a:solidFill>
              </a:rPr>
              <a:t> </a:t>
            </a:r>
            <a:r>
              <a:rPr b="1" dirty="0" err="1">
                <a:solidFill>
                  <a:srgbClr val="333333"/>
                </a:solidFill>
              </a:rPr>
              <a:t>sont</a:t>
            </a:r>
            <a:r>
              <a:rPr b="1" dirty="0">
                <a:solidFill>
                  <a:srgbClr val="333333"/>
                </a:solidFill>
              </a:rPr>
              <a:t> </a:t>
            </a:r>
            <a:r>
              <a:rPr b="1" dirty="0" err="1">
                <a:solidFill>
                  <a:srgbClr val="333333"/>
                </a:solidFill>
              </a:rPr>
              <a:t>transmises</a:t>
            </a:r>
            <a:r>
              <a:rPr b="1" dirty="0">
                <a:solidFill>
                  <a:srgbClr val="333333"/>
                </a:solidFill>
              </a:rPr>
              <a:t> a </a:t>
            </a:r>
            <a:r>
              <a:rPr b="1" dirty="0" err="1">
                <a:solidFill>
                  <a:srgbClr val="333333"/>
                </a:solidFill>
              </a:rPr>
              <a:t>l'Etat</a:t>
            </a:r>
            <a:r>
              <a:rPr b="1" dirty="0">
                <a:solidFill>
                  <a:srgbClr val="333333"/>
                </a:solidFill>
              </a:rPr>
              <a:t> (e-reporting)</a:t>
            </a:r>
          </a:p>
          <a:p>
            <a:pPr>
              <a:spcBef>
                <a:spcPts val="400"/>
              </a:spcBef>
            </a:pPr>
            <a:endParaRPr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b="1" dirty="0" err="1">
                <a:solidFill>
                  <a:srgbClr val="333333"/>
                </a:solidFill>
              </a:rPr>
              <a:t>Ressources</a:t>
            </a:r>
            <a:r>
              <a:rPr b="1" dirty="0">
                <a:solidFill>
                  <a:srgbClr val="333333"/>
                </a:solidFill>
              </a:rPr>
              <a:t> : </a:t>
            </a:r>
            <a:r>
              <a:rPr b="1" dirty="0" err="1">
                <a:solidFill>
                  <a:srgbClr val="333333"/>
                </a:solidFill>
              </a:rPr>
              <a:t>README.md</a:t>
            </a:r>
            <a:r>
              <a:rPr b="1" dirty="0">
                <a:solidFill>
                  <a:srgbClr val="333333"/>
                </a:solidFill>
              </a:rPr>
              <a:t>, forum https://</a:t>
            </a:r>
            <a:r>
              <a:rPr b="1" dirty="0" err="1">
                <a:solidFill>
                  <a:srgbClr val="333333"/>
                </a:solidFill>
              </a:rPr>
              <a:t>forum.pdplibre.org</a:t>
            </a:r>
            <a:r>
              <a:rPr b="1" dirty="0">
                <a:solidFill>
                  <a:srgbClr val="333333"/>
                </a:solidFill>
              </a:rPr>
              <a:t>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388E3C"/>
                </a:solidFill>
              </a:rPr>
              <a:t>[TOUS]  </a:t>
            </a:r>
            <a:r>
              <a:rPr sz="3600" b="1">
                <a:solidFill>
                  <a:srgbClr val="333333"/>
                </a:solidFill>
              </a:rPr>
              <a:t>Architecture fonctionnelle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2 - Les 10 briques de la plateforme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3333"/>
                </a:solidFill>
              </a:rPr>
              <a:t>Vue d'ensemble de l'architecture</a:t>
            </a:r>
          </a:p>
        </p:txBody>
      </p:sp>
      <p:pic>
        <p:nvPicPr>
          <p:cNvPr id="3" name="Picture 2" descr="Architecture_Plateforme_Factures_Electroniques_v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712" y="1186542"/>
            <a:ext cx="5222576" cy="51880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388E3C"/>
                </a:solidFill>
              </a:rPr>
              <a:t>[TOUS]  </a:t>
            </a:r>
            <a:r>
              <a:rPr sz="2600" b="1">
                <a:solidFill>
                  <a:srgbClr val="333333"/>
                </a:solidFill>
              </a:rPr>
              <a:t>Les 10 briques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2400" b="1" dirty="0">
                <a:solidFill>
                  <a:srgbClr val="333333"/>
                </a:solidFill>
              </a:rPr>
              <a:t>01 - API Gateway (</a:t>
            </a:r>
            <a:r>
              <a:rPr sz="2400" b="1" dirty="0" err="1">
                <a:solidFill>
                  <a:srgbClr val="333333"/>
                </a:solidFill>
              </a:rPr>
              <a:t>FastAPI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Point </a:t>
            </a:r>
            <a:r>
              <a:rPr sz="2000" b="0" dirty="0" err="1">
                <a:solidFill>
                  <a:srgbClr val="333333"/>
                </a:solidFill>
              </a:rPr>
              <a:t>d'entree</a:t>
            </a:r>
            <a:r>
              <a:rPr sz="2000" b="0" dirty="0">
                <a:solidFill>
                  <a:srgbClr val="333333"/>
                </a:solidFill>
              </a:rPr>
              <a:t> REST, </a:t>
            </a:r>
            <a:r>
              <a:rPr sz="2000" b="0" dirty="0" err="1">
                <a:solidFill>
                  <a:srgbClr val="333333"/>
                </a:solidFill>
              </a:rPr>
              <a:t>norme</a:t>
            </a:r>
            <a:r>
              <a:rPr sz="2000" b="0" dirty="0">
                <a:solidFill>
                  <a:srgbClr val="333333"/>
                </a:solidFill>
              </a:rPr>
              <a:t> XP Z12-013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02 - ESB Central (NATS)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Orchestration des flux, message queue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03 - Controle Formats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Validation UBL / CII / </a:t>
            </a:r>
            <a:r>
              <a:rPr sz="2000" b="0" dirty="0" err="1">
                <a:solidFill>
                  <a:srgbClr val="333333"/>
                </a:solidFill>
              </a:rPr>
              <a:t>Factur</a:t>
            </a:r>
            <a:r>
              <a:rPr sz="2000" b="0" dirty="0">
                <a:solidFill>
                  <a:srgbClr val="333333"/>
                </a:solidFill>
              </a:rPr>
              <a:t>-X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04 - Validation </a:t>
            </a:r>
            <a:r>
              <a:rPr sz="2400" b="1" dirty="0" err="1">
                <a:solidFill>
                  <a:srgbClr val="333333"/>
                </a:solidFill>
              </a:rPr>
              <a:t>Metier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Regles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r>
              <a:rPr sz="2000" b="0" dirty="0">
                <a:solidFill>
                  <a:srgbClr val="333333"/>
                </a:solidFill>
              </a:rPr>
              <a:t>, verification </a:t>
            </a:r>
            <a:r>
              <a:rPr sz="2000" b="0" dirty="0" err="1">
                <a:solidFill>
                  <a:srgbClr val="333333"/>
                </a:solidFill>
              </a:rPr>
              <a:t>destinataire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05 - Conversion Formats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Conversion entre UBL, CII, </a:t>
            </a:r>
            <a:r>
              <a:rPr sz="2000" b="0" dirty="0" err="1">
                <a:solidFill>
                  <a:srgbClr val="333333"/>
                </a:solidFill>
              </a:rPr>
              <a:t>Factur</a:t>
            </a:r>
            <a:r>
              <a:rPr sz="2000" b="0" dirty="0">
                <a:solidFill>
                  <a:srgbClr val="333333"/>
                </a:solidFill>
              </a:rPr>
              <a:t>-X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sz="2400" b="1">
                <a:solidFill>
                  <a:srgbClr val="333333"/>
                </a:solidFill>
              </a:rPr>
              <a:t>06 - Annuaire Local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Cache local, synchronisation PPF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33333"/>
                </a:solidFill>
              </a:rPr>
              <a:t>07 - Routage (PEPPOL)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Acheminement inter-PDP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33333"/>
                </a:solidFill>
              </a:rPr>
              <a:t>08 - Transmission Fiscale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E-reporting vers l'Etat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33333"/>
                </a:solidFill>
              </a:rPr>
              <a:t>09 - Gestion Cycle de Vie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Statuts : deposee, recue, approuvee...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33333"/>
                </a:solidFill>
              </a:rPr>
              <a:t>10 - Stockage (S3 / SeaweedFS)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Persistance des fichiers factures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33333"/>
                </a:solidFill>
              </a:rPr>
              <a:t>Flux type d'une facture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>
                <a:solidFill>
                  <a:srgbClr val="333333"/>
                </a:solidFill>
              </a:rPr>
              <a:t>Depot facture via API Gateway (01)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Publication sur </a:t>
            </a:r>
            <a:r>
              <a:rPr sz="2000" b="0" dirty="0" err="1">
                <a:solidFill>
                  <a:srgbClr val="333333"/>
                </a:solidFill>
              </a:rPr>
              <a:t>l'ESB</a:t>
            </a:r>
            <a:r>
              <a:rPr sz="2000" b="0" dirty="0">
                <a:solidFill>
                  <a:srgbClr val="333333"/>
                </a:solidFill>
              </a:rPr>
              <a:t> Central (02)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Controle du format (03) </a:t>
            </a:r>
            <a:r>
              <a:rPr sz="2400" b="1" dirty="0" err="1">
                <a:solidFill>
                  <a:srgbClr val="333333"/>
                </a:solidFill>
              </a:rPr>
              <a:t>puis</a:t>
            </a:r>
            <a:r>
              <a:rPr sz="2400" b="1" dirty="0">
                <a:solidFill>
                  <a:srgbClr val="333333"/>
                </a:solidFill>
              </a:rPr>
              <a:t> validation </a:t>
            </a:r>
            <a:r>
              <a:rPr sz="2400" b="1" dirty="0" err="1">
                <a:solidFill>
                  <a:srgbClr val="333333"/>
                </a:solidFill>
              </a:rPr>
              <a:t>metier</a:t>
            </a:r>
            <a:r>
              <a:rPr sz="2400" b="1" dirty="0">
                <a:solidFill>
                  <a:srgbClr val="333333"/>
                </a:solidFill>
              </a:rPr>
              <a:t> (04)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Conversion </a:t>
            </a:r>
            <a:r>
              <a:rPr sz="2400" b="1" dirty="0" err="1">
                <a:solidFill>
                  <a:srgbClr val="333333"/>
                </a:solidFill>
              </a:rPr>
              <a:t>si</a:t>
            </a:r>
            <a:r>
              <a:rPr sz="2400" b="1" dirty="0">
                <a:solidFill>
                  <a:srgbClr val="333333"/>
                </a:solidFill>
              </a:rPr>
              <a:t> necessaire (05)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Consultation de </a:t>
            </a:r>
            <a:r>
              <a:rPr sz="2400" b="1" dirty="0" err="1">
                <a:solidFill>
                  <a:srgbClr val="333333"/>
                </a:solidFill>
              </a:rPr>
              <a:t>l'annuaire</a:t>
            </a:r>
            <a:r>
              <a:rPr sz="2400" b="1" dirty="0">
                <a:solidFill>
                  <a:srgbClr val="333333"/>
                </a:solidFill>
              </a:rPr>
              <a:t> (06) pour </a:t>
            </a:r>
            <a:r>
              <a:rPr sz="2400" b="1" dirty="0" err="1">
                <a:solidFill>
                  <a:srgbClr val="333333"/>
                </a:solidFill>
              </a:rPr>
              <a:t>trouver</a:t>
            </a:r>
            <a:r>
              <a:rPr sz="2400" b="1" dirty="0">
                <a:solidFill>
                  <a:srgbClr val="333333"/>
                </a:solidFill>
              </a:rPr>
              <a:t> le </a:t>
            </a:r>
            <a:r>
              <a:rPr sz="2400" b="1" dirty="0" err="1">
                <a:solidFill>
                  <a:srgbClr val="333333"/>
                </a:solidFill>
              </a:rPr>
              <a:t>destinataire</a:t>
            </a: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Routage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vers</a:t>
            </a:r>
            <a:r>
              <a:rPr sz="2400" b="1" dirty="0">
                <a:solidFill>
                  <a:srgbClr val="333333"/>
                </a:solidFill>
              </a:rPr>
              <a:t> la PDP </a:t>
            </a:r>
            <a:r>
              <a:rPr sz="2400" b="1" dirty="0" err="1">
                <a:solidFill>
                  <a:srgbClr val="333333"/>
                </a:solidFill>
              </a:rPr>
              <a:t>destinataire</a:t>
            </a:r>
            <a:r>
              <a:rPr sz="2400" b="1" dirty="0">
                <a:solidFill>
                  <a:srgbClr val="333333"/>
                </a:solidFill>
              </a:rPr>
              <a:t> via PEPPOL (07)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Transmission </a:t>
            </a:r>
            <a:r>
              <a:rPr sz="2400" b="1" dirty="0" err="1">
                <a:solidFill>
                  <a:srgbClr val="333333"/>
                </a:solidFill>
              </a:rPr>
              <a:t>fiscale</a:t>
            </a:r>
            <a:r>
              <a:rPr sz="2400" b="1" dirty="0">
                <a:solidFill>
                  <a:srgbClr val="333333"/>
                </a:solidFill>
              </a:rPr>
              <a:t> a </a:t>
            </a:r>
            <a:r>
              <a:rPr sz="2400" b="1" dirty="0" err="1">
                <a:solidFill>
                  <a:srgbClr val="333333"/>
                </a:solidFill>
              </a:rPr>
              <a:t>l'Etat</a:t>
            </a:r>
            <a:r>
              <a:rPr sz="2400" b="1" dirty="0">
                <a:solidFill>
                  <a:srgbClr val="333333"/>
                </a:solidFill>
              </a:rPr>
              <a:t> (08)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Gestion du cycle de vie et </a:t>
            </a:r>
            <a:r>
              <a:rPr sz="2400" b="1" dirty="0" err="1">
                <a:solidFill>
                  <a:srgbClr val="333333"/>
                </a:solidFill>
              </a:rPr>
              <a:t>statuts</a:t>
            </a:r>
            <a:r>
              <a:rPr sz="2400" b="1" dirty="0">
                <a:solidFill>
                  <a:srgbClr val="333333"/>
                </a:solidFill>
              </a:rPr>
              <a:t> (09)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Stockage des </a:t>
            </a:r>
            <a:r>
              <a:rPr sz="2400" b="1" dirty="0" err="1">
                <a:solidFill>
                  <a:srgbClr val="333333"/>
                </a:solidFill>
              </a:rPr>
              <a:t>fichiers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en</a:t>
            </a:r>
            <a:r>
              <a:rPr sz="2400" b="1" dirty="0">
                <a:solidFill>
                  <a:srgbClr val="333333"/>
                </a:solidFill>
              </a:rPr>
              <a:t> S3 (10)</a:t>
            </a:r>
          </a:p>
          <a:p>
            <a:pPr>
              <a:spcBef>
                <a:spcPts val="400"/>
              </a:spcBef>
            </a:pP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Documentation par </a:t>
            </a:r>
            <a:r>
              <a:rPr sz="2400" b="1" dirty="0" err="1">
                <a:solidFill>
                  <a:srgbClr val="333333"/>
                </a:solidFill>
              </a:rPr>
              <a:t>brique</a:t>
            </a:r>
            <a:r>
              <a:rPr sz="2400" b="1" dirty="0">
                <a:solidFill>
                  <a:srgbClr val="333333"/>
                </a:solidFill>
              </a:rPr>
              <a:t> : docs/</a:t>
            </a:r>
            <a:r>
              <a:rPr sz="2400" b="1" dirty="0" err="1">
                <a:solidFill>
                  <a:srgbClr val="333333"/>
                </a:solidFill>
              </a:rPr>
              <a:t>briques</a:t>
            </a:r>
            <a:r>
              <a:rPr sz="2400" b="1" dirty="0">
                <a:solidFill>
                  <a:srgbClr val="333333"/>
                </a:solidFill>
              </a:rPr>
              <a:t>/&lt;NN-nom&gt;/</a:t>
            </a:r>
            <a:r>
              <a:rPr sz="2400" b="1" dirty="0" err="1">
                <a:solidFill>
                  <a:srgbClr val="333333"/>
                </a:solidFill>
              </a:rPr>
              <a:t>README.md</a:t>
            </a:r>
            <a:endParaRPr sz="24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388E3C"/>
                </a:solidFill>
              </a:rPr>
              <a:t>[TOUS]  </a:t>
            </a:r>
            <a:r>
              <a:rPr sz="3600" b="1">
                <a:solidFill>
                  <a:srgbClr val="333333"/>
                </a:solidFill>
              </a:rPr>
              <a:t>Les normes de 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3 - AFNOR, UN/CEFACT et cas d'usage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33333"/>
                </a:solidFill>
              </a:rPr>
              <a:t>3 normes AFNOR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>
                <a:solidFill>
                  <a:srgbClr val="333333"/>
                </a:solidFill>
              </a:rPr>
              <a:t>XP Z12-012 - Formats et cycle de vie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Formats : UBL, CII, </a:t>
            </a:r>
            <a:r>
              <a:rPr sz="2000" b="0" dirty="0" err="1">
                <a:solidFill>
                  <a:srgbClr val="333333"/>
                </a:solidFill>
              </a:rPr>
              <a:t>Factur</a:t>
            </a:r>
            <a:r>
              <a:rPr sz="2000" b="0" dirty="0">
                <a:solidFill>
                  <a:srgbClr val="333333"/>
                </a:solidFill>
              </a:rPr>
              <a:t>-X (EN16931)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Profils</a:t>
            </a:r>
            <a:r>
              <a:rPr sz="2000" b="0" dirty="0">
                <a:solidFill>
                  <a:srgbClr val="333333"/>
                </a:solidFill>
              </a:rPr>
              <a:t> de messages, </a:t>
            </a:r>
            <a:r>
              <a:rPr sz="2000" b="0" dirty="0" err="1">
                <a:solidFill>
                  <a:srgbClr val="333333"/>
                </a:solidFill>
              </a:rPr>
              <a:t>regles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statuts</a:t>
            </a:r>
            <a:r>
              <a:rPr sz="2000" b="0" dirty="0">
                <a:solidFill>
                  <a:srgbClr val="333333"/>
                </a:solidFill>
              </a:rPr>
              <a:t> de cycle de vie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Annexe</a:t>
            </a:r>
            <a:r>
              <a:rPr sz="2000" b="0" dirty="0">
                <a:solidFill>
                  <a:srgbClr val="333333"/>
                </a:solidFill>
              </a:rPr>
              <a:t> A (Excel) : </a:t>
            </a:r>
            <a:r>
              <a:rPr sz="2000" b="0" dirty="0" err="1">
                <a:solidFill>
                  <a:srgbClr val="333333"/>
                </a:solidFill>
              </a:rPr>
              <a:t>regles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r>
              <a:rPr sz="2000" b="0" dirty="0">
                <a:solidFill>
                  <a:srgbClr val="333333"/>
                </a:solidFill>
              </a:rPr>
              <a:t>, code lists, mappings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Annexe</a:t>
            </a:r>
            <a:r>
              <a:rPr sz="2000" b="0" dirty="0">
                <a:solidFill>
                  <a:srgbClr val="333333"/>
                </a:solidFill>
              </a:rPr>
              <a:t> B : </a:t>
            </a:r>
            <a:r>
              <a:rPr sz="2000" b="0" dirty="0" err="1">
                <a:solidFill>
                  <a:srgbClr val="333333"/>
                </a:solidFill>
              </a:rPr>
              <a:t>exemples</a:t>
            </a:r>
            <a:r>
              <a:rPr sz="2000" b="0" dirty="0">
                <a:solidFill>
                  <a:srgbClr val="333333"/>
                </a:solidFill>
              </a:rPr>
              <a:t> de factures et </a:t>
            </a:r>
            <a:r>
              <a:rPr sz="2000" b="0" dirty="0" err="1">
                <a:solidFill>
                  <a:srgbClr val="333333"/>
                </a:solidFill>
              </a:rPr>
              <a:t>statuts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XP Z12-013 - API REST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Swagger </a:t>
            </a:r>
            <a:r>
              <a:rPr sz="2000" b="0" dirty="0" err="1">
                <a:solidFill>
                  <a:srgbClr val="333333"/>
                </a:solidFill>
              </a:rPr>
              <a:t>en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annexe</a:t>
            </a:r>
            <a:r>
              <a:rPr sz="2000" b="0" dirty="0">
                <a:solidFill>
                  <a:srgbClr val="333333"/>
                </a:solidFill>
              </a:rPr>
              <a:t> (Flow Service, Directory Service)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Routes : /</a:t>
            </a:r>
            <a:r>
              <a:rPr sz="2000" b="0" dirty="0" err="1">
                <a:solidFill>
                  <a:srgbClr val="333333"/>
                </a:solidFill>
              </a:rPr>
              <a:t>healthcheck</a:t>
            </a:r>
            <a:r>
              <a:rPr sz="2000" b="0" dirty="0">
                <a:solidFill>
                  <a:srgbClr val="333333"/>
                </a:solidFill>
              </a:rPr>
              <a:t>, /flows, /directory-line, /search...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XP Z12-014 - Cas </a:t>
            </a:r>
            <a:r>
              <a:rPr sz="2400" b="1" dirty="0" err="1">
                <a:solidFill>
                  <a:srgbClr val="333333"/>
                </a:solidFill>
              </a:rPr>
              <a:t>d'usage</a:t>
            </a:r>
            <a:r>
              <a:rPr sz="2400" b="1" dirty="0">
                <a:solidFill>
                  <a:srgbClr val="333333"/>
                </a:solidFill>
              </a:rPr>
              <a:t> B2B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UC1 a UC5 avec </a:t>
            </a:r>
            <a:r>
              <a:rPr sz="2000" b="0" dirty="0" err="1">
                <a:solidFill>
                  <a:srgbClr val="333333"/>
                </a:solidFill>
              </a:rPr>
              <a:t>exemples</a:t>
            </a:r>
            <a:r>
              <a:rPr sz="2000" b="0" dirty="0">
                <a:solidFill>
                  <a:srgbClr val="333333"/>
                </a:solidFill>
              </a:rPr>
              <a:t> XML </a:t>
            </a:r>
            <a:r>
              <a:rPr sz="2000" b="0" dirty="0" err="1">
                <a:solidFill>
                  <a:srgbClr val="333333"/>
                </a:solidFill>
              </a:rPr>
              <a:t>complets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Scenarios </a:t>
            </a:r>
            <a:r>
              <a:rPr sz="2000" b="0" dirty="0" err="1">
                <a:solidFill>
                  <a:srgbClr val="333333"/>
                </a:solidFill>
              </a:rPr>
              <a:t>nominaux</a:t>
            </a:r>
            <a:r>
              <a:rPr sz="2000" b="0" dirty="0">
                <a:solidFill>
                  <a:srgbClr val="333333"/>
                </a:solidFill>
              </a:rPr>
              <a:t> et </a:t>
            </a:r>
            <a:r>
              <a:rPr sz="2000" b="0" dirty="0" err="1">
                <a:solidFill>
                  <a:srgbClr val="333333"/>
                </a:solidFill>
              </a:rPr>
              <a:t>d'erreur</a:t>
            </a:r>
            <a:endParaRPr sz="2000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 err="1">
                <a:solidFill>
                  <a:srgbClr val="333333"/>
                </a:solidFill>
              </a:rPr>
              <a:t>Autres</a:t>
            </a:r>
            <a:r>
              <a:rPr sz="2600" b="1" dirty="0">
                <a:solidFill>
                  <a:srgbClr val="333333"/>
                </a:solidFill>
              </a:rPr>
              <a:t>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>
                <a:solidFill>
                  <a:srgbClr val="333333"/>
                </a:solidFill>
              </a:rPr>
              <a:t>CDAR D22B (UN/CEFACT)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Cross Domain Acknowledgement and Response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Format des accuses de reception entre PDP</a:t>
            </a:r>
          </a:p>
          <a:p>
            <a:pPr>
              <a:spcBef>
                <a:spcPts val="400"/>
              </a:spcBef>
            </a:pPr>
            <a:r>
              <a:rPr sz="2000" b="1" dirty="0">
                <a:solidFill>
                  <a:srgbClr val="333333"/>
                </a:solidFill>
              </a:rPr>
              <a:t>BRS - </a:t>
            </a:r>
            <a:r>
              <a:rPr sz="2000" b="1" dirty="0" err="1">
                <a:solidFill>
                  <a:srgbClr val="333333"/>
                </a:solidFill>
              </a:rPr>
              <a:t>CDAError</a:t>
            </a:r>
            <a:r>
              <a:rPr sz="2000" b="1" dirty="0">
                <a:solidFill>
                  <a:srgbClr val="333333"/>
                </a:solidFill>
              </a:rPr>
              <a:t> Acknowledgement Process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Processus de gestion des </a:t>
            </a:r>
            <a:r>
              <a:rPr sz="1800" b="0" dirty="0" err="1">
                <a:solidFill>
                  <a:srgbClr val="333333"/>
                </a:solidFill>
              </a:rPr>
              <a:t>erreurs</a:t>
            </a:r>
            <a:r>
              <a:rPr sz="1800" b="0" dirty="0">
                <a:solidFill>
                  <a:srgbClr val="333333"/>
                </a:solidFill>
              </a:rPr>
              <a:t> </a:t>
            </a:r>
            <a:r>
              <a:rPr sz="1800" b="0" dirty="0" err="1">
                <a:solidFill>
                  <a:srgbClr val="333333"/>
                </a:solidFill>
              </a:rPr>
              <a:t>d'accuse</a:t>
            </a: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000" b="1" dirty="0">
                <a:solidFill>
                  <a:srgbClr val="333333"/>
                </a:solidFill>
              </a:rPr>
              <a:t>Navigation : docs/</a:t>
            </a:r>
            <a:r>
              <a:rPr sz="2000" b="1" dirty="0" err="1">
                <a:solidFill>
                  <a:srgbClr val="333333"/>
                </a:solidFill>
              </a:rPr>
              <a:t>norme</a:t>
            </a:r>
            <a:r>
              <a:rPr sz="2000" b="1" dirty="0">
                <a:solidFill>
                  <a:srgbClr val="333333"/>
                </a:solidFill>
              </a:rPr>
              <a:t>/</a:t>
            </a:r>
            <a:r>
              <a:rPr sz="2000" b="1" dirty="0" err="1">
                <a:solidFill>
                  <a:srgbClr val="333333"/>
                </a:solidFill>
              </a:rPr>
              <a:t>index.md</a:t>
            </a:r>
            <a:endParaRPr sz="20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000" b="1" dirty="0" err="1">
                <a:solidFill>
                  <a:srgbClr val="333333"/>
                </a:solidFill>
              </a:rPr>
              <a:t>Fichiers</a:t>
            </a:r>
            <a:r>
              <a:rPr sz="2000" b="1" dirty="0">
                <a:solidFill>
                  <a:srgbClr val="333333"/>
                </a:solidFill>
              </a:rPr>
              <a:t> PDF, XSD et </a:t>
            </a:r>
            <a:r>
              <a:rPr sz="2000" b="1" dirty="0" err="1">
                <a:solidFill>
                  <a:srgbClr val="333333"/>
                </a:solidFill>
              </a:rPr>
              <a:t>exemples</a:t>
            </a:r>
            <a:r>
              <a:rPr sz="2000" b="1" dirty="0">
                <a:solidFill>
                  <a:srgbClr val="333333"/>
                </a:solidFill>
              </a:rPr>
              <a:t> XML dans docs/</a:t>
            </a:r>
            <a:r>
              <a:rPr sz="2000" b="1" dirty="0" err="1">
                <a:solidFill>
                  <a:srgbClr val="333333"/>
                </a:solidFill>
              </a:rPr>
              <a:t>norme</a:t>
            </a:r>
            <a:r>
              <a:rPr sz="2000" b="1" dirty="0">
                <a:solidFill>
                  <a:srgbClr val="333333"/>
                </a:solidFill>
              </a:rPr>
              <a:t>/</a:t>
            </a:r>
            <a:endParaRPr lang="fr-FR" sz="20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lang="fr-FR" sz="20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fr-FR" sz="2000" b="1" dirty="0">
                <a:solidFill>
                  <a:srgbClr val="333333"/>
                </a:solidFill>
              </a:rPr>
              <a:t>Voir également : https://</a:t>
            </a:r>
            <a:r>
              <a:rPr lang="fr-FR" sz="2000" b="1" dirty="0" err="1">
                <a:solidFill>
                  <a:srgbClr val="333333"/>
                </a:solidFill>
              </a:rPr>
              <a:t>github.com</a:t>
            </a:r>
            <a:r>
              <a:rPr lang="fr-FR" sz="2000" b="1" dirty="0">
                <a:solidFill>
                  <a:srgbClr val="333333"/>
                </a:solidFill>
              </a:rPr>
              <a:t>/PDP-Libre/</a:t>
            </a:r>
            <a:r>
              <a:rPr lang="fr-FR" sz="2000" b="1" dirty="0" err="1">
                <a:solidFill>
                  <a:srgbClr val="333333"/>
                </a:solidFill>
              </a:rPr>
              <a:t>awesome</a:t>
            </a:r>
            <a:r>
              <a:rPr lang="fr-FR" sz="2000" b="1" dirty="0">
                <a:solidFill>
                  <a:srgbClr val="333333"/>
                </a:solidFill>
              </a:rPr>
              <a:t>-facturation-</a:t>
            </a:r>
            <a:r>
              <a:rPr lang="fr-FR" sz="2000" b="1" dirty="0" err="1">
                <a:solidFill>
                  <a:srgbClr val="333333"/>
                </a:solidFill>
              </a:rPr>
              <a:t>electronique</a:t>
            </a:r>
            <a:endParaRPr sz="20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388E3C"/>
                </a:solidFill>
              </a:rPr>
              <a:t>[TOUS]  </a:t>
            </a:r>
            <a:r>
              <a:rPr sz="3600" b="1">
                <a:solidFill>
                  <a:srgbClr val="333333"/>
                </a:solidFill>
              </a:rPr>
              <a:t>Organisation du depot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4 - Ou trouver quoi dans le monorepo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388E3C"/>
                </a:solidFill>
              </a:rPr>
              <a:t>[TOUS]  </a:t>
            </a:r>
            <a:r>
              <a:rPr sz="2600" b="1">
                <a:solidFill>
                  <a:srgbClr val="333333"/>
                </a:solidFill>
              </a:rPr>
              <a:t>Structure du monorepo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2000" b="1" dirty="0">
                <a:solidFill>
                  <a:srgbClr val="333333"/>
                </a:solidFill>
              </a:rPr>
              <a:t>/docs/</a:t>
            </a:r>
          </a:p>
          <a:p>
            <a:pPr lvl="1">
              <a:spcBef>
                <a:spcPts val="400"/>
              </a:spcBef>
            </a:pPr>
            <a:r>
              <a:rPr sz="1800" b="1" dirty="0" err="1">
                <a:solidFill>
                  <a:srgbClr val="333333"/>
                </a:solidFill>
              </a:rPr>
              <a:t>briques</a:t>
            </a:r>
            <a:r>
              <a:rPr sz="1800" b="1" dirty="0">
                <a:solidFill>
                  <a:srgbClr val="333333"/>
                </a:solidFill>
              </a:rPr>
              <a:t>/ : doc + .feature par </a:t>
            </a:r>
            <a:r>
              <a:rPr sz="1800" b="1" dirty="0" err="1">
                <a:solidFill>
                  <a:srgbClr val="333333"/>
                </a:solidFill>
              </a:rPr>
              <a:t>brique</a:t>
            </a:r>
            <a:endParaRPr sz="18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1800" b="0" dirty="0" err="1">
                <a:solidFill>
                  <a:srgbClr val="333333"/>
                </a:solidFill>
              </a:rPr>
              <a:t>developpement</a:t>
            </a:r>
            <a:r>
              <a:rPr sz="1800" b="0" dirty="0">
                <a:solidFill>
                  <a:srgbClr val="333333"/>
                </a:solidFill>
              </a:rPr>
              <a:t>/ : guides dev, BDD, install</a:t>
            </a:r>
          </a:p>
          <a:p>
            <a:pPr lvl="1">
              <a:spcBef>
                <a:spcPts val="400"/>
              </a:spcBef>
            </a:pPr>
            <a:r>
              <a:rPr sz="1800" b="0" dirty="0" err="1">
                <a:solidFill>
                  <a:srgbClr val="333333"/>
                </a:solidFill>
              </a:rPr>
              <a:t>norme</a:t>
            </a:r>
            <a:r>
              <a:rPr sz="1800" b="0" dirty="0">
                <a:solidFill>
                  <a:srgbClr val="333333"/>
                </a:solidFill>
              </a:rPr>
              <a:t>/ : </a:t>
            </a:r>
            <a:r>
              <a:rPr sz="1800" b="0" dirty="0" err="1">
                <a:solidFill>
                  <a:srgbClr val="333333"/>
                </a:solidFill>
              </a:rPr>
              <a:t>normes</a:t>
            </a:r>
            <a:r>
              <a:rPr sz="1800" b="0" dirty="0">
                <a:solidFill>
                  <a:srgbClr val="333333"/>
                </a:solidFill>
              </a:rPr>
              <a:t> AFNOR et annexes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test/ : </a:t>
            </a:r>
            <a:r>
              <a:rPr sz="1800" b="0" dirty="0" err="1">
                <a:solidFill>
                  <a:srgbClr val="333333"/>
                </a:solidFill>
              </a:rPr>
              <a:t>exemples</a:t>
            </a:r>
            <a:r>
              <a:rPr sz="1800" b="0" dirty="0">
                <a:solidFill>
                  <a:srgbClr val="333333"/>
                </a:solidFill>
              </a:rPr>
              <a:t> BDD </a:t>
            </a:r>
            <a:r>
              <a:rPr sz="1800" b="0" dirty="0" err="1">
                <a:solidFill>
                  <a:srgbClr val="333333"/>
                </a:solidFill>
              </a:rPr>
              <a:t>commentes</a:t>
            </a: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000" b="1" dirty="0">
                <a:solidFill>
                  <a:srgbClr val="333333"/>
                </a:solidFill>
              </a:rPr>
              <a:t>/packages/</a:t>
            </a:r>
          </a:p>
          <a:p>
            <a:pPr lvl="1">
              <a:spcBef>
                <a:spcPts val="400"/>
              </a:spcBef>
            </a:pPr>
            <a:r>
              <a:rPr sz="1800" b="1" dirty="0">
                <a:solidFill>
                  <a:srgbClr val="333333"/>
                </a:solidFill>
              </a:rPr>
              <a:t>pac0/ : implementation de reference</a:t>
            </a:r>
          </a:p>
          <a:p>
            <a:pPr lvl="1">
              <a:spcBef>
                <a:spcPts val="400"/>
              </a:spcBef>
            </a:pPr>
            <a:r>
              <a:rPr sz="1800" b="0" dirty="0" err="1">
                <a:solidFill>
                  <a:srgbClr val="333333"/>
                </a:solidFill>
              </a:rPr>
              <a:t>pac-bdd</a:t>
            </a:r>
            <a:r>
              <a:rPr sz="1800" b="0" dirty="0">
                <a:solidFill>
                  <a:srgbClr val="333333"/>
                </a:solidFill>
              </a:rPr>
              <a:t>/ : </a:t>
            </a:r>
            <a:r>
              <a:rPr sz="1800" b="0" dirty="0" err="1">
                <a:solidFill>
                  <a:srgbClr val="333333"/>
                </a:solidFill>
              </a:rPr>
              <a:t>moteur</a:t>
            </a:r>
            <a:r>
              <a:rPr sz="1800" b="0" dirty="0">
                <a:solidFill>
                  <a:srgbClr val="333333"/>
                </a:solidFill>
              </a:rPr>
              <a:t> de tests BDD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pac0-cli/ : CLI </a:t>
            </a:r>
            <a:r>
              <a:rPr sz="1800" b="0" dirty="0" err="1">
                <a:solidFill>
                  <a:srgbClr val="333333"/>
                </a:solidFill>
              </a:rPr>
              <a:t>utilitaire</a:t>
            </a:r>
            <a:endParaRPr sz="1800" b="0" dirty="0">
              <a:solidFill>
                <a:srgbClr val="333333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sz="2000" b="1" dirty="0">
                <a:solidFill>
                  <a:srgbClr val="333333"/>
                </a:solidFill>
              </a:rPr>
              <a:t>/docker/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docker-compose</a:t>
            </a:r>
            <a:r>
              <a:rPr lang="fr-FR" sz="1800" b="0" dirty="0">
                <a:solidFill>
                  <a:srgbClr val="333333"/>
                </a:solidFill>
              </a:rPr>
              <a:t> (sera déplacé à la racine)</a:t>
            </a:r>
          </a:p>
          <a:p>
            <a:pPr lvl="1">
              <a:spcBef>
                <a:spcPts val="400"/>
              </a:spcBef>
            </a:pPr>
            <a:r>
              <a:rPr sz="1800" b="0" dirty="0" err="1">
                <a:solidFill>
                  <a:srgbClr val="333333"/>
                </a:solidFill>
              </a:rPr>
              <a:t>Dockerfiles</a:t>
            </a:r>
            <a:endParaRPr sz="18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10 services + test-</a:t>
            </a:r>
            <a:r>
              <a:rPr sz="1800" b="0" dirty="0" err="1">
                <a:solidFill>
                  <a:srgbClr val="333333"/>
                </a:solidFill>
              </a:rPr>
              <a:t>bdd</a:t>
            </a: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000" b="1" dirty="0">
                <a:solidFill>
                  <a:srgbClr val="333333"/>
                </a:solidFill>
              </a:rPr>
              <a:t>/report/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Rapports de tests (HTML, MD, XML)</a:t>
            </a:r>
          </a:p>
          <a:p>
            <a:pPr>
              <a:spcBef>
                <a:spcPts val="400"/>
              </a:spcBef>
            </a:pPr>
            <a:r>
              <a:rPr sz="2000" b="1" dirty="0">
                <a:solidFill>
                  <a:srgbClr val="333333"/>
                </a:solidFill>
              </a:rPr>
              <a:t>/script/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Scripts </a:t>
            </a:r>
            <a:r>
              <a:rPr sz="1800" b="0" dirty="0" err="1">
                <a:solidFill>
                  <a:srgbClr val="333333"/>
                </a:solidFill>
              </a:rPr>
              <a:t>utilitaires</a:t>
            </a:r>
            <a:r>
              <a:rPr sz="1800" b="0" dirty="0">
                <a:solidFill>
                  <a:srgbClr val="333333"/>
                </a:solidFill>
              </a:rPr>
              <a:t> (./script/test)</a:t>
            </a:r>
          </a:p>
          <a:p>
            <a:pPr>
              <a:spcBef>
                <a:spcPts val="400"/>
              </a:spcBef>
            </a:pP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000" b="1" dirty="0">
                <a:solidFill>
                  <a:srgbClr val="333333"/>
                </a:solidFill>
              </a:rPr>
              <a:t>Depots :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333333"/>
                </a:solidFill>
              </a:rPr>
              <a:t>GitHub : releases </a:t>
            </a:r>
            <a:r>
              <a:rPr sz="1800" b="0" dirty="0" err="1">
                <a:solidFill>
                  <a:srgbClr val="333333"/>
                </a:solidFill>
              </a:rPr>
              <a:t>publiques</a:t>
            </a:r>
            <a:endParaRPr sz="18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1800" b="0" dirty="0" err="1">
                <a:solidFill>
                  <a:srgbClr val="333333"/>
                </a:solidFill>
              </a:rPr>
              <a:t>Forgejo</a:t>
            </a:r>
            <a:r>
              <a:rPr sz="1800" b="0" dirty="0">
                <a:solidFill>
                  <a:srgbClr val="333333"/>
                </a:solidFill>
              </a:rPr>
              <a:t> : </a:t>
            </a:r>
            <a:r>
              <a:rPr sz="1800" b="0" dirty="0" err="1">
                <a:solidFill>
                  <a:srgbClr val="333333"/>
                </a:solidFill>
              </a:rPr>
              <a:t>developpement</a:t>
            </a:r>
            <a:r>
              <a:rPr sz="1800" b="0" dirty="0">
                <a:solidFill>
                  <a:srgbClr val="333333"/>
                </a:solidFill>
              </a:rPr>
              <a:t> </a:t>
            </a:r>
            <a:r>
              <a:rPr sz="1800" b="0" dirty="0" err="1">
                <a:solidFill>
                  <a:srgbClr val="333333"/>
                </a:solidFill>
              </a:rPr>
              <a:t>quotidien</a:t>
            </a:r>
            <a:endParaRPr sz="1800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388E3C"/>
                </a:solidFill>
              </a:rPr>
              <a:t>[TOUS]  </a:t>
            </a:r>
            <a:r>
              <a:rPr sz="3600" b="1">
                <a:solidFill>
                  <a:srgbClr val="333333"/>
                </a:solidFill>
              </a:rPr>
              <a:t>Strategie BDD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5 - Pourquoi et comment on teste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>
                <a:solidFill>
                  <a:srgbClr val="333333"/>
                </a:solidFill>
              </a:rPr>
              <a:t>Le BDD : un </a:t>
            </a:r>
            <a:r>
              <a:rPr sz="2600" b="1" dirty="0" err="1">
                <a:solidFill>
                  <a:srgbClr val="333333"/>
                </a:solidFill>
              </a:rPr>
              <a:t>langage</a:t>
            </a:r>
            <a:r>
              <a:rPr sz="2600" b="1" dirty="0">
                <a:solidFill>
                  <a:srgbClr val="333333"/>
                </a:solidFill>
              </a:rPr>
              <a:t> </a:t>
            </a:r>
            <a:r>
              <a:rPr sz="2600" b="1" dirty="0" err="1">
                <a:solidFill>
                  <a:srgbClr val="333333"/>
                </a:solidFill>
              </a:rPr>
              <a:t>commun</a:t>
            </a:r>
            <a:endParaRPr sz="2600" b="1" dirty="0">
              <a:solidFill>
                <a:srgbClr val="33333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>
                <a:solidFill>
                  <a:srgbClr val="333333"/>
                </a:solidFill>
              </a:rPr>
              <a:t>Behavior Driven Development : specifications executables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Langage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commun</a:t>
            </a:r>
            <a:r>
              <a:rPr sz="2000" b="0" dirty="0">
                <a:solidFill>
                  <a:srgbClr val="333333"/>
                </a:solidFill>
              </a:rPr>
              <a:t> entre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r>
              <a:rPr sz="2000" b="0" dirty="0">
                <a:solidFill>
                  <a:srgbClr val="333333"/>
                </a:solidFill>
              </a:rPr>
              <a:t> et </a:t>
            </a:r>
            <a:r>
              <a:rPr sz="2000" b="0" dirty="0" err="1">
                <a:solidFill>
                  <a:srgbClr val="333333"/>
                </a:solidFill>
              </a:rPr>
              <a:t>developpeur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Vision </a:t>
            </a:r>
            <a:r>
              <a:rPr sz="2000" b="0" dirty="0" err="1">
                <a:solidFill>
                  <a:srgbClr val="333333"/>
                </a:solidFill>
              </a:rPr>
              <a:t>communautaire</a:t>
            </a:r>
            <a:r>
              <a:rPr sz="2000" b="0" dirty="0">
                <a:solidFill>
                  <a:srgbClr val="333333"/>
                </a:solidFill>
              </a:rPr>
              <a:t> : </a:t>
            </a:r>
            <a:r>
              <a:rPr sz="2000" b="0" dirty="0" err="1">
                <a:solidFill>
                  <a:srgbClr val="333333"/>
                </a:solidFill>
              </a:rPr>
              <a:t>outils</a:t>
            </a:r>
            <a:r>
              <a:rPr sz="2000" b="0" dirty="0">
                <a:solidFill>
                  <a:srgbClr val="333333"/>
                </a:solidFill>
              </a:rPr>
              <a:t> de tests pour les </a:t>
            </a:r>
            <a:r>
              <a:rPr sz="2000" b="0" dirty="0" err="1">
                <a:solidFill>
                  <a:srgbClr val="333333"/>
                </a:solidFill>
              </a:rPr>
              <a:t>editeurs</a:t>
            </a:r>
            <a:r>
              <a:rPr sz="2000" b="0" dirty="0">
                <a:solidFill>
                  <a:srgbClr val="333333"/>
                </a:solidFill>
              </a:rPr>
              <a:t> de </a:t>
            </a:r>
            <a:r>
              <a:rPr sz="2000" b="0" dirty="0" err="1">
                <a:solidFill>
                  <a:srgbClr val="333333"/>
                </a:solidFill>
              </a:rPr>
              <a:t>logiciels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r>
              <a:rPr sz="2000" b="0" dirty="0">
                <a:solidFill>
                  <a:srgbClr val="333333"/>
                </a:solidFill>
              </a:rPr>
              <a:t> et de PA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La boucle 'Trois Amigos'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Expert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r>
              <a:rPr sz="2000" b="0" dirty="0">
                <a:solidFill>
                  <a:srgbClr val="333333"/>
                </a:solidFill>
              </a:rPr>
              <a:t> + </a:t>
            </a:r>
            <a:r>
              <a:rPr sz="2000" b="0" dirty="0" err="1">
                <a:solidFill>
                  <a:srgbClr val="333333"/>
                </a:solidFill>
              </a:rPr>
              <a:t>Developpeur</a:t>
            </a:r>
            <a:r>
              <a:rPr sz="2000" b="0" dirty="0">
                <a:solidFill>
                  <a:srgbClr val="333333"/>
                </a:solidFill>
              </a:rPr>
              <a:t> + </a:t>
            </a:r>
            <a:r>
              <a:rPr sz="2000" b="0" dirty="0" err="1">
                <a:solidFill>
                  <a:srgbClr val="333333"/>
                </a:solidFill>
              </a:rPr>
              <a:t>Testeur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Gherkin </a:t>
            </a:r>
            <a:r>
              <a:rPr sz="2400" b="1" dirty="0" err="1">
                <a:solidFill>
                  <a:srgbClr val="333333"/>
                </a:solidFill>
              </a:rPr>
              <a:t>en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francais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Fonctionnalit</a:t>
            </a:r>
            <a:r>
              <a:rPr lang="fr-FR" sz="2000" b="0" dirty="0" err="1">
                <a:solidFill>
                  <a:srgbClr val="333333"/>
                </a:solidFill>
              </a:rPr>
              <a:t>é</a:t>
            </a:r>
            <a:r>
              <a:rPr sz="2000" b="0" dirty="0">
                <a:solidFill>
                  <a:srgbClr val="333333"/>
                </a:solidFill>
              </a:rPr>
              <a:t>, Scenario, </a:t>
            </a:r>
            <a:r>
              <a:rPr sz="2000" b="0" dirty="0" err="1">
                <a:solidFill>
                  <a:srgbClr val="333333"/>
                </a:solidFill>
              </a:rPr>
              <a:t>Soit</a:t>
            </a:r>
            <a:r>
              <a:rPr sz="2000" b="0" dirty="0">
                <a:solidFill>
                  <a:srgbClr val="333333"/>
                </a:solidFill>
              </a:rPr>
              <a:t>, Quand, Alors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Cycle de vie d'un test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1. Redaction par </a:t>
            </a:r>
            <a:r>
              <a:rPr sz="2000" b="0" dirty="0" err="1">
                <a:solidFill>
                  <a:srgbClr val="333333"/>
                </a:solidFill>
              </a:rPr>
              <a:t>l'expert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r>
              <a:rPr sz="2000" b="0" dirty="0">
                <a:solidFill>
                  <a:srgbClr val="333333"/>
                </a:solidFill>
              </a:rPr>
              <a:t> (.feature)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2. Implementation par le </a:t>
            </a:r>
            <a:r>
              <a:rPr sz="2000" b="0" dirty="0" err="1">
                <a:solidFill>
                  <a:srgbClr val="333333"/>
                </a:solidFill>
              </a:rPr>
              <a:t>developpeur</a:t>
            </a:r>
            <a:r>
              <a:rPr sz="2000" b="0" dirty="0">
                <a:solidFill>
                  <a:srgbClr val="333333"/>
                </a:solidFill>
              </a:rPr>
              <a:t> (step definitions)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3. Execution </a:t>
            </a:r>
            <a:r>
              <a:rPr sz="2000" b="0" dirty="0" err="1">
                <a:solidFill>
                  <a:srgbClr val="333333"/>
                </a:solidFill>
              </a:rPr>
              <a:t>automatique</a:t>
            </a:r>
            <a:r>
              <a:rPr sz="2000" b="0" dirty="0">
                <a:solidFill>
                  <a:srgbClr val="333333"/>
                </a:solidFill>
              </a:rPr>
              <a:t> (</a:t>
            </a:r>
            <a:r>
              <a:rPr sz="2000" b="0" dirty="0" err="1">
                <a:solidFill>
                  <a:srgbClr val="333333"/>
                </a:solidFill>
              </a:rPr>
              <a:t>pytest-bdd</a:t>
            </a:r>
            <a:r>
              <a:rPr sz="2000" b="0" dirty="0">
                <a:solidFill>
                  <a:srgbClr val="333333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33333"/>
                </a:solidFill>
              </a:rPr>
              <a:t>Lien feature -&gt; steps -&gt; systeme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Fichiers</a:t>
            </a:r>
            <a:r>
              <a:rPr sz="2400" b="1" dirty="0">
                <a:solidFill>
                  <a:srgbClr val="333333"/>
                </a:solidFill>
              </a:rPr>
              <a:t> .feature dans docs/</a:t>
            </a:r>
            <a:r>
              <a:rPr sz="2400" b="1" dirty="0" err="1">
                <a:solidFill>
                  <a:srgbClr val="333333"/>
                </a:solidFill>
              </a:rPr>
              <a:t>briques</a:t>
            </a:r>
            <a:r>
              <a:rPr sz="2400" b="1" dirty="0">
                <a:solidFill>
                  <a:srgbClr val="333333"/>
                </a:solidFill>
              </a:rPr>
              <a:t>/&lt;NN-nom&gt;/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Rediges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en</a:t>
            </a:r>
            <a:r>
              <a:rPr sz="2000" b="0" dirty="0">
                <a:solidFill>
                  <a:srgbClr val="333333"/>
                </a:solidFill>
              </a:rPr>
              <a:t> Gherkin </a:t>
            </a:r>
            <a:r>
              <a:rPr sz="2000" b="0" dirty="0" err="1">
                <a:solidFill>
                  <a:srgbClr val="333333"/>
                </a:solidFill>
              </a:rPr>
              <a:t>francais</a:t>
            </a:r>
            <a:r>
              <a:rPr sz="2000" b="0" dirty="0">
                <a:solidFill>
                  <a:srgbClr val="333333"/>
                </a:solidFill>
              </a:rPr>
              <a:t> par les experts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Code des steps dans packages/</a:t>
            </a:r>
            <a:r>
              <a:rPr sz="2400" b="1" dirty="0" err="1">
                <a:solidFill>
                  <a:srgbClr val="333333"/>
                </a:solidFill>
              </a:rPr>
              <a:t>pac-bdd</a:t>
            </a:r>
            <a:r>
              <a:rPr sz="2400" b="1" dirty="0">
                <a:solidFill>
                  <a:srgbClr val="333333"/>
                </a:solidFill>
              </a:rPr>
              <a:t>/</a:t>
            </a:r>
            <a:r>
              <a:rPr sz="2400" b="1" dirty="0" err="1">
                <a:solidFill>
                  <a:srgbClr val="333333"/>
                </a:solidFill>
              </a:rPr>
              <a:t>src</a:t>
            </a:r>
            <a:r>
              <a:rPr sz="2400" b="1" dirty="0">
                <a:solidFill>
                  <a:srgbClr val="333333"/>
                </a:solidFill>
              </a:rPr>
              <a:t>/</a:t>
            </a:r>
            <a:r>
              <a:rPr sz="2400" b="1" dirty="0" err="1">
                <a:solidFill>
                  <a:srgbClr val="333333"/>
                </a:solidFill>
              </a:rPr>
              <a:t>pac_bdd</a:t>
            </a:r>
            <a:r>
              <a:rPr sz="2400" b="1" dirty="0">
                <a:solidFill>
                  <a:srgbClr val="333333"/>
                </a:solidFill>
              </a:rPr>
              <a:t>/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api.py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peppol.py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service.py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esb.py</a:t>
            </a:r>
            <a:r>
              <a:rPr sz="2000" b="0" dirty="0">
                <a:solidFill>
                  <a:srgbClr val="333333"/>
                </a:solidFill>
              </a:rPr>
              <a:t>...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Le </a:t>
            </a:r>
            <a:r>
              <a:rPr sz="2400" b="1" dirty="0" err="1">
                <a:solidFill>
                  <a:srgbClr val="333333"/>
                </a:solidFill>
              </a:rPr>
              <a:t>moteur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pytest-bdd</a:t>
            </a:r>
            <a:r>
              <a:rPr sz="2400" b="1" dirty="0">
                <a:solidFill>
                  <a:srgbClr val="333333"/>
                </a:solidFill>
              </a:rPr>
              <a:t> fait le lien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Lit </a:t>
            </a:r>
            <a:r>
              <a:rPr sz="2000" b="0" dirty="0" err="1">
                <a:solidFill>
                  <a:srgbClr val="333333"/>
                </a:solidFill>
              </a:rPr>
              <a:t>une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etape</a:t>
            </a:r>
            <a:r>
              <a:rPr sz="2000" b="0" dirty="0">
                <a:solidFill>
                  <a:srgbClr val="333333"/>
                </a:solidFill>
              </a:rPr>
              <a:t> Gherkin (ex: Quand </a:t>
            </a:r>
            <a:r>
              <a:rPr sz="2000" b="0" dirty="0" err="1">
                <a:solidFill>
                  <a:srgbClr val="333333"/>
                </a:solidFill>
              </a:rPr>
              <a:t>j'appele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l'API</a:t>
            </a:r>
            <a:r>
              <a:rPr sz="2000" b="0" dirty="0">
                <a:solidFill>
                  <a:srgbClr val="333333"/>
                </a:solidFill>
              </a:rPr>
              <a:t> GET /</a:t>
            </a:r>
            <a:r>
              <a:rPr sz="2000" b="0" dirty="0" err="1">
                <a:solidFill>
                  <a:srgbClr val="333333"/>
                </a:solidFill>
              </a:rPr>
              <a:t>healthcheck</a:t>
            </a:r>
            <a:r>
              <a:rPr sz="2000" b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Cherche</a:t>
            </a:r>
            <a:r>
              <a:rPr sz="2000" b="0" dirty="0">
                <a:solidFill>
                  <a:srgbClr val="333333"/>
                </a:solidFill>
              </a:rPr>
              <a:t> le step definition </a:t>
            </a:r>
            <a:r>
              <a:rPr sz="2000" b="0" dirty="0" err="1">
                <a:solidFill>
                  <a:srgbClr val="333333"/>
                </a:solidFill>
              </a:rPr>
              <a:t>correspondant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Execute la </a:t>
            </a:r>
            <a:r>
              <a:rPr sz="2000" b="0" dirty="0" err="1">
                <a:solidFill>
                  <a:srgbClr val="333333"/>
                </a:solidFill>
              </a:rPr>
              <a:t>fonction</a:t>
            </a:r>
            <a:r>
              <a:rPr sz="2000" b="0" dirty="0">
                <a:solidFill>
                  <a:srgbClr val="333333"/>
                </a:solidFill>
              </a:rPr>
              <a:t> Python </a:t>
            </a:r>
            <a:r>
              <a:rPr sz="2000" b="0" dirty="0" err="1">
                <a:solidFill>
                  <a:srgbClr val="333333"/>
                </a:solidFill>
              </a:rPr>
              <a:t>associee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Rapports : report/</a:t>
            </a:r>
            <a:r>
              <a:rPr sz="2400" b="1" dirty="0" err="1">
                <a:solidFill>
                  <a:srgbClr val="333333"/>
                </a:solidFill>
              </a:rPr>
              <a:t>pac-bdd</a:t>
            </a:r>
            <a:r>
              <a:rPr sz="2400" b="1" dirty="0">
                <a:solidFill>
                  <a:srgbClr val="333333"/>
                </a:solidFill>
              </a:rPr>
              <a:t>/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Ressources</a:t>
            </a:r>
            <a:r>
              <a:rPr sz="2400" b="1" dirty="0">
                <a:solidFill>
                  <a:srgbClr val="333333"/>
                </a:solidFill>
              </a:rPr>
              <a:t> : docs/</a:t>
            </a:r>
            <a:r>
              <a:rPr sz="2400" b="1" dirty="0" err="1">
                <a:solidFill>
                  <a:srgbClr val="333333"/>
                </a:solidFill>
              </a:rPr>
              <a:t>developpement</a:t>
            </a:r>
            <a:r>
              <a:rPr sz="2400" b="1" dirty="0">
                <a:solidFill>
                  <a:srgbClr val="333333"/>
                </a:solidFill>
              </a:rPr>
              <a:t>/</a:t>
            </a:r>
            <a:r>
              <a:rPr sz="2400" b="1" dirty="0" err="1">
                <a:solidFill>
                  <a:srgbClr val="333333"/>
                </a:solidFill>
              </a:rPr>
              <a:t>BDD_README.md</a:t>
            </a:r>
            <a:endParaRPr sz="24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57C00"/>
                </a:solidFill>
              </a:rPr>
              <a:t>[METIER]  </a:t>
            </a:r>
            <a:r>
              <a:rPr sz="3600" b="1">
                <a:solidFill>
                  <a:srgbClr val="333333"/>
                </a:solidFill>
              </a:rPr>
              <a:t>Rediger un scenario BDD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6 - Guide pour l'expert metier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F57C00"/>
                </a:solidFill>
              </a:rPr>
              <a:t>[METIER]  </a:t>
            </a:r>
            <a:r>
              <a:rPr sz="2600" b="1">
                <a:solidFill>
                  <a:srgbClr val="333333"/>
                </a:solidFill>
              </a:rPr>
              <a:t>Structure d'un fichier .feature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Entete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obligatoire</a:t>
            </a:r>
            <a:r>
              <a:rPr sz="2400" b="1" dirty="0">
                <a:solidFill>
                  <a:srgbClr val="333333"/>
                </a:solidFill>
              </a:rPr>
              <a:t> : # language: </a:t>
            </a:r>
            <a:r>
              <a:rPr sz="2400" b="1" dirty="0" err="1">
                <a:solidFill>
                  <a:srgbClr val="333333"/>
                </a:solidFill>
              </a:rPr>
              <a:t>fr</a:t>
            </a: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Fonctionnalite</a:t>
            </a:r>
            <a:r>
              <a:rPr sz="2400" b="1" dirty="0">
                <a:solidFill>
                  <a:srgbClr val="333333"/>
                </a:solidFill>
              </a:rPr>
              <a:t>: </a:t>
            </a:r>
            <a:r>
              <a:rPr sz="2400" b="1" dirty="0" err="1">
                <a:solidFill>
                  <a:srgbClr val="333333"/>
                </a:solidFill>
              </a:rPr>
              <a:t>titre</a:t>
            </a:r>
            <a:r>
              <a:rPr sz="2400" b="1" dirty="0">
                <a:solidFill>
                  <a:srgbClr val="333333"/>
                </a:solidFill>
              </a:rPr>
              <a:t> unique + description libre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Peut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referencer</a:t>
            </a:r>
            <a:r>
              <a:rPr sz="2000" b="0" dirty="0">
                <a:solidFill>
                  <a:srgbClr val="333333"/>
                </a:solidFill>
              </a:rPr>
              <a:t> la </a:t>
            </a:r>
            <a:r>
              <a:rPr sz="2000" b="0" dirty="0" err="1">
                <a:solidFill>
                  <a:srgbClr val="333333"/>
                </a:solidFill>
              </a:rPr>
              <a:t>norme</a:t>
            </a:r>
            <a:r>
              <a:rPr sz="2000" b="0" dirty="0">
                <a:solidFill>
                  <a:srgbClr val="333333"/>
                </a:solidFill>
              </a:rPr>
              <a:t> (ex: Section 4.4 de XP_Z12-013.pdf)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Contexte</a:t>
            </a:r>
            <a:r>
              <a:rPr sz="2400" b="1" dirty="0">
                <a:solidFill>
                  <a:srgbClr val="333333"/>
                </a:solidFill>
              </a:rPr>
              <a:t>: </a:t>
            </a:r>
            <a:r>
              <a:rPr sz="2400" b="1" dirty="0" err="1">
                <a:solidFill>
                  <a:srgbClr val="333333"/>
                </a:solidFill>
              </a:rPr>
              <a:t>etapes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executees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avant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chaque</a:t>
            </a:r>
            <a:r>
              <a:rPr sz="2400" b="1" dirty="0">
                <a:solidFill>
                  <a:srgbClr val="333333"/>
                </a:solidFill>
              </a:rPr>
              <a:t> scenario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Soit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une</a:t>
            </a:r>
            <a:r>
              <a:rPr sz="2000" b="0" dirty="0">
                <a:solidFill>
                  <a:srgbClr val="333333"/>
                </a:solidFill>
              </a:rPr>
              <a:t> pa </a:t>
            </a:r>
            <a:r>
              <a:rPr sz="2000" b="0" dirty="0" err="1">
                <a:solidFill>
                  <a:srgbClr val="333333"/>
                </a:solidFill>
              </a:rPr>
              <a:t>communautaire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Scenario: un </a:t>
            </a:r>
            <a:r>
              <a:rPr sz="2400" b="1" dirty="0" err="1">
                <a:solidFill>
                  <a:srgbClr val="333333"/>
                </a:solidFill>
              </a:rPr>
              <a:t>cas</a:t>
            </a:r>
            <a:r>
              <a:rPr sz="2400" b="1" dirty="0">
                <a:solidFill>
                  <a:srgbClr val="333333"/>
                </a:solidFill>
              </a:rPr>
              <a:t> de test </a:t>
            </a:r>
            <a:r>
              <a:rPr sz="2400" b="1" dirty="0" err="1">
                <a:solidFill>
                  <a:srgbClr val="333333"/>
                </a:solidFill>
              </a:rPr>
              <a:t>concret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Soit</a:t>
            </a:r>
            <a:r>
              <a:rPr sz="2000" b="0" dirty="0">
                <a:solidFill>
                  <a:srgbClr val="333333"/>
                </a:solidFill>
              </a:rPr>
              <a:t> / </a:t>
            </a:r>
            <a:r>
              <a:rPr sz="2000" b="0" dirty="0" err="1">
                <a:solidFill>
                  <a:srgbClr val="333333"/>
                </a:solidFill>
              </a:rPr>
              <a:t>Etant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donne</a:t>
            </a:r>
            <a:r>
              <a:rPr sz="2000" b="0" dirty="0">
                <a:solidFill>
                  <a:srgbClr val="333333"/>
                </a:solidFill>
              </a:rPr>
              <a:t> : pre-condition (Given)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Quand : action </a:t>
            </a:r>
            <a:r>
              <a:rPr sz="2000" b="0" dirty="0" err="1">
                <a:solidFill>
                  <a:srgbClr val="333333"/>
                </a:solidFill>
              </a:rPr>
              <a:t>effectuee</a:t>
            </a:r>
            <a:r>
              <a:rPr sz="2000" b="0" dirty="0">
                <a:solidFill>
                  <a:srgbClr val="333333"/>
                </a:solidFill>
              </a:rPr>
              <a:t> (When)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Alors : </a:t>
            </a:r>
            <a:r>
              <a:rPr sz="2000" b="0" dirty="0" err="1">
                <a:solidFill>
                  <a:srgbClr val="333333"/>
                </a:solidFill>
              </a:rPr>
              <a:t>resultat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attendu</a:t>
            </a:r>
            <a:r>
              <a:rPr sz="2000" b="0" dirty="0">
                <a:solidFill>
                  <a:srgbClr val="333333"/>
                </a:solidFill>
              </a:rPr>
              <a:t> (Then)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Et / Mais : continuation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Conventions du </a:t>
            </a:r>
            <a:r>
              <a:rPr sz="2400" b="1" dirty="0" err="1">
                <a:solidFill>
                  <a:srgbClr val="333333"/>
                </a:solidFill>
              </a:rPr>
              <a:t>projet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Variables entre guillemets : "</a:t>
            </a:r>
            <a:r>
              <a:rPr sz="2000" b="0" dirty="0" err="1">
                <a:solidFill>
                  <a:srgbClr val="333333"/>
                </a:solidFill>
              </a:rPr>
              <a:t>valeur</a:t>
            </a:r>
            <a:r>
              <a:rPr sz="2000" b="0" dirty="0">
                <a:solidFill>
                  <a:srgbClr val="333333"/>
                </a:solidFill>
              </a:rPr>
              <a:t>"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Constantes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prefixees</a:t>
            </a:r>
            <a:r>
              <a:rPr sz="2000" b="0" dirty="0">
                <a:solidFill>
                  <a:srgbClr val="333333"/>
                </a:solidFill>
              </a:rPr>
              <a:t> : #pa1, #accepted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F57C00"/>
                </a:solidFill>
              </a:rPr>
              <a:t>[METIER]  </a:t>
            </a:r>
            <a:r>
              <a:rPr sz="2600" b="1">
                <a:solidFill>
                  <a:srgbClr val="333333"/>
                </a:solidFill>
              </a:rPr>
              <a:t>Bonnes pratiques et 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Declaratif</a:t>
            </a:r>
            <a:r>
              <a:rPr sz="2400" b="1" dirty="0">
                <a:solidFill>
                  <a:srgbClr val="333333"/>
                </a:solidFill>
              </a:rPr>
              <a:t>, pas </a:t>
            </a:r>
            <a:r>
              <a:rPr sz="2400" b="1" dirty="0" err="1">
                <a:solidFill>
                  <a:srgbClr val="333333"/>
                </a:solidFill>
              </a:rPr>
              <a:t>imperatif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Bien : Quand Bob se </a:t>
            </a:r>
            <a:r>
              <a:rPr sz="2000" b="0" dirty="0" err="1">
                <a:solidFill>
                  <a:srgbClr val="333333"/>
                </a:solidFill>
              </a:rPr>
              <a:t>connecte</a:t>
            </a:r>
            <a:r>
              <a:rPr sz="2000" b="0" dirty="0">
                <a:solidFill>
                  <a:srgbClr val="333333"/>
                </a:solidFill>
              </a:rPr>
              <a:t> avec des </a:t>
            </a:r>
            <a:r>
              <a:rPr sz="2000" b="0" dirty="0" err="1">
                <a:solidFill>
                  <a:srgbClr val="333333"/>
                </a:solidFill>
              </a:rPr>
              <a:t>identifiants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valides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Eviter</a:t>
            </a:r>
            <a:r>
              <a:rPr sz="2000" b="0" dirty="0">
                <a:solidFill>
                  <a:srgbClr val="333333"/>
                </a:solidFill>
              </a:rPr>
              <a:t> : Quand je </a:t>
            </a:r>
            <a:r>
              <a:rPr sz="2000" b="0" dirty="0" err="1">
                <a:solidFill>
                  <a:srgbClr val="333333"/>
                </a:solidFill>
              </a:rPr>
              <a:t>saisis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bob@test.com</a:t>
            </a:r>
            <a:r>
              <a:rPr sz="2000" b="0" dirty="0">
                <a:solidFill>
                  <a:srgbClr val="333333"/>
                </a:solidFill>
              </a:rPr>
              <a:t> dans le champ email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Un scenario = un </a:t>
            </a:r>
            <a:r>
              <a:rPr sz="2400" b="1" dirty="0" err="1">
                <a:solidFill>
                  <a:srgbClr val="333333"/>
                </a:solidFill>
              </a:rPr>
              <a:t>comportement</a:t>
            </a:r>
            <a:r>
              <a:rPr sz="2400" b="1" dirty="0">
                <a:solidFill>
                  <a:srgbClr val="333333"/>
                </a:solidFill>
              </a:rPr>
              <a:t> (3-5 </a:t>
            </a:r>
            <a:r>
              <a:rPr sz="2400" b="1" dirty="0" err="1">
                <a:solidFill>
                  <a:srgbClr val="333333"/>
                </a:solidFill>
              </a:rPr>
              <a:t>etapes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Utiliser</a:t>
            </a:r>
            <a:r>
              <a:rPr sz="2400" b="1" dirty="0">
                <a:solidFill>
                  <a:srgbClr val="333333"/>
                </a:solidFill>
              </a:rPr>
              <a:t> des </a:t>
            </a:r>
            <a:r>
              <a:rPr sz="2400" b="1" dirty="0" err="1">
                <a:solidFill>
                  <a:srgbClr val="333333"/>
                </a:solidFill>
              </a:rPr>
              <a:t>valeurs</a:t>
            </a:r>
            <a:r>
              <a:rPr sz="2400" b="1" dirty="0">
                <a:solidFill>
                  <a:srgbClr val="333333"/>
                </a:solidFill>
              </a:rPr>
              <a:t> concretes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Bien : Alors </a:t>
            </a:r>
            <a:r>
              <a:rPr sz="2000" b="0" dirty="0" err="1">
                <a:solidFill>
                  <a:srgbClr val="333333"/>
                </a:solidFill>
              </a:rPr>
              <a:t>l'identification</a:t>
            </a:r>
            <a:r>
              <a:rPr sz="2000" b="0" dirty="0">
                <a:solidFill>
                  <a:srgbClr val="333333"/>
                </a:solidFill>
              </a:rPr>
              <a:t> par SIRET </a:t>
            </a:r>
            <a:r>
              <a:rPr sz="2000" b="0" dirty="0" err="1">
                <a:solidFill>
                  <a:srgbClr val="333333"/>
                </a:solidFill>
              </a:rPr>
              <a:t>porte</a:t>
            </a:r>
            <a:r>
              <a:rPr sz="2000" b="0" dirty="0">
                <a:solidFill>
                  <a:srgbClr val="333333"/>
                </a:solidFill>
              </a:rPr>
              <a:t> le code "0002"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Eviter</a:t>
            </a:r>
            <a:r>
              <a:rPr sz="2000" b="0" dirty="0">
                <a:solidFill>
                  <a:srgbClr val="333333"/>
                </a:solidFill>
              </a:rPr>
              <a:t> : Alors </a:t>
            </a:r>
            <a:r>
              <a:rPr sz="2000" b="0" dirty="0" err="1">
                <a:solidFill>
                  <a:srgbClr val="333333"/>
                </a:solidFill>
              </a:rPr>
              <a:t>l'identification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est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correcte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Anti-patterns a </a:t>
            </a:r>
            <a:r>
              <a:rPr sz="2400" b="1" dirty="0" err="1">
                <a:solidFill>
                  <a:srgbClr val="333333"/>
                </a:solidFill>
              </a:rPr>
              <a:t>eviter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Details non </a:t>
            </a:r>
            <a:r>
              <a:rPr sz="2000" b="0" dirty="0" err="1">
                <a:solidFill>
                  <a:srgbClr val="333333"/>
                </a:solidFill>
              </a:rPr>
              <a:t>essentiels</a:t>
            </a:r>
            <a:r>
              <a:rPr sz="2000" b="0" dirty="0">
                <a:solidFill>
                  <a:srgbClr val="333333"/>
                </a:solidFill>
              </a:rPr>
              <a:t> (</a:t>
            </a:r>
            <a:r>
              <a:rPr sz="2000" b="0" dirty="0" err="1">
                <a:solidFill>
                  <a:srgbClr val="333333"/>
                </a:solidFill>
              </a:rPr>
              <a:t>adresses</a:t>
            </a:r>
            <a:r>
              <a:rPr sz="2000" b="0" dirty="0">
                <a:solidFill>
                  <a:srgbClr val="333333"/>
                </a:solidFill>
              </a:rPr>
              <a:t>, CB...)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Logique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conditionnelle</a:t>
            </a:r>
            <a:r>
              <a:rPr sz="2000" b="0" dirty="0">
                <a:solidFill>
                  <a:srgbClr val="333333"/>
                </a:solidFill>
              </a:rPr>
              <a:t> (</a:t>
            </a:r>
            <a:r>
              <a:rPr sz="2000" b="0" dirty="0" err="1">
                <a:solidFill>
                  <a:srgbClr val="333333"/>
                </a:solidFill>
              </a:rPr>
              <a:t>si</a:t>
            </a:r>
            <a:r>
              <a:rPr sz="2000" b="0" dirty="0">
                <a:solidFill>
                  <a:srgbClr val="333333"/>
                </a:solidFill>
              </a:rPr>
              <a:t>... </a:t>
            </a:r>
            <a:r>
              <a:rPr sz="2000" b="0" dirty="0" err="1">
                <a:solidFill>
                  <a:srgbClr val="333333"/>
                </a:solidFill>
              </a:rPr>
              <a:t>alors</a:t>
            </a:r>
            <a:r>
              <a:rPr sz="2000" b="0" dirty="0">
                <a:solidFill>
                  <a:srgbClr val="333333"/>
                </a:solidFill>
              </a:rPr>
              <a:t>...) -&gt; 2 scenarios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Fonctionnalites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avancees</a:t>
            </a:r>
            <a:r>
              <a:rPr sz="2400" b="1" dirty="0">
                <a:solidFill>
                  <a:srgbClr val="333333"/>
                </a:solidFill>
              </a:rPr>
              <a:t> : Plan du Scenario, tableaux, Doc Strings, tags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F57C00"/>
                </a:solidFill>
              </a:rPr>
              <a:t>[METIER]  </a:t>
            </a:r>
            <a:r>
              <a:rPr sz="2600" b="1">
                <a:solidFill>
                  <a:srgbClr val="333333"/>
                </a:solidFill>
              </a:rPr>
              <a:t>Exemples concrets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Healthcheck</a:t>
            </a:r>
            <a:r>
              <a:rPr sz="2400" b="1" dirty="0">
                <a:solidFill>
                  <a:srgbClr val="333333"/>
                </a:solidFill>
              </a:rPr>
              <a:t> simple (01-api-gateway/</a:t>
            </a:r>
            <a:r>
              <a:rPr sz="2400" b="1" dirty="0" err="1">
                <a:solidFill>
                  <a:srgbClr val="333333"/>
                </a:solidFill>
              </a:rPr>
              <a:t>healthcheck.feature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Contexte</a:t>
            </a:r>
            <a:r>
              <a:rPr sz="2000" b="0" dirty="0">
                <a:solidFill>
                  <a:srgbClr val="333333"/>
                </a:solidFill>
              </a:rPr>
              <a:t> + 2 scenarios courts, reference </a:t>
            </a:r>
            <a:r>
              <a:rPr sz="2000" b="0" dirty="0" err="1">
                <a:solidFill>
                  <a:srgbClr val="333333"/>
                </a:solidFill>
              </a:rPr>
              <a:t>norme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Calculs</a:t>
            </a:r>
            <a:r>
              <a:rPr sz="2400" b="1" dirty="0">
                <a:solidFill>
                  <a:srgbClr val="333333"/>
                </a:solidFill>
              </a:rPr>
              <a:t> PEPPOL (07-routage/</a:t>
            </a:r>
            <a:r>
              <a:rPr sz="2400" b="1" dirty="0" err="1">
                <a:solidFill>
                  <a:srgbClr val="333333"/>
                </a:solidFill>
              </a:rPr>
              <a:t>peppol.feature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Plusieurs</a:t>
            </a:r>
            <a:r>
              <a:rPr sz="2000" b="0" dirty="0">
                <a:solidFill>
                  <a:srgbClr val="333333"/>
                </a:solidFill>
              </a:rPr>
              <a:t> scenarios avec </a:t>
            </a:r>
            <a:r>
              <a:rPr sz="2000" b="0" dirty="0" err="1">
                <a:solidFill>
                  <a:srgbClr val="333333"/>
                </a:solidFill>
              </a:rPr>
              <a:t>valeurs</a:t>
            </a:r>
            <a:r>
              <a:rPr sz="2000" b="0" dirty="0">
                <a:solidFill>
                  <a:srgbClr val="333333"/>
                </a:solidFill>
              </a:rPr>
              <a:t> concretes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Communication inter-PA (07-routage/</a:t>
            </a:r>
            <a:r>
              <a:rPr sz="2400" b="1" dirty="0" err="1">
                <a:solidFill>
                  <a:srgbClr val="333333"/>
                </a:solidFill>
              </a:rPr>
              <a:t>pa_multiple.feature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References #pa1, #e1, #f1 - test bout </a:t>
            </a:r>
            <a:r>
              <a:rPr sz="2000" b="0" dirty="0" err="1">
                <a:solidFill>
                  <a:srgbClr val="333333"/>
                </a:solidFill>
              </a:rPr>
              <a:t>en</a:t>
            </a:r>
            <a:r>
              <a:rPr sz="2000" b="0" dirty="0">
                <a:solidFill>
                  <a:srgbClr val="333333"/>
                </a:solidFill>
              </a:rPr>
              <a:t> bout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Cycle de vie facture (09-gestion-cycle-vie/</a:t>
            </a:r>
            <a:r>
              <a:rPr sz="2400" b="1" dirty="0" err="1">
                <a:solidFill>
                  <a:srgbClr val="333333"/>
                </a:solidFill>
              </a:rPr>
              <a:t>facture.feature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Workflow </a:t>
            </a:r>
            <a:r>
              <a:rPr sz="2000" b="0" dirty="0" err="1">
                <a:solidFill>
                  <a:srgbClr val="333333"/>
                </a:solidFill>
              </a:rPr>
              <a:t>asynchrone</a:t>
            </a:r>
            <a:r>
              <a:rPr sz="2000" b="0" dirty="0">
                <a:solidFill>
                  <a:srgbClr val="333333"/>
                </a:solidFill>
              </a:rPr>
              <a:t> : depot </a:t>
            </a:r>
            <a:r>
              <a:rPr sz="2000" b="0" dirty="0" err="1">
                <a:solidFill>
                  <a:srgbClr val="333333"/>
                </a:solidFill>
              </a:rPr>
              <a:t>puis</a:t>
            </a:r>
            <a:r>
              <a:rPr sz="2000" b="0" dirty="0">
                <a:solidFill>
                  <a:srgbClr val="333333"/>
                </a:solidFill>
              </a:rPr>
              <a:t> interrogation</a:t>
            </a: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Exercice</a:t>
            </a:r>
            <a:r>
              <a:rPr sz="2400" b="1" dirty="0">
                <a:solidFill>
                  <a:srgbClr val="333333"/>
                </a:solidFill>
              </a:rPr>
              <a:t> : </a:t>
            </a:r>
            <a:r>
              <a:rPr sz="2400" b="1" dirty="0" err="1">
                <a:solidFill>
                  <a:srgbClr val="333333"/>
                </a:solidFill>
              </a:rPr>
              <a:t>ecrire</a:t>
            </a:r>
            <a:r>
              <a:rPr sz="2400" b="1" dirty="0">
                <a:solidFill>
                  <a:srgbClr val="333333"/>
                </a:solidFill>
              </a:rPr>
              <a:t> un scenario pour la </a:t>
            </a:r>
            <a:r>
              <a:rPr sz="2400" b="1" dirty="0" err="1">
                <a:solidFill>
                  <a:srgbClr val="333333"/>
                </a:solidFill>
              </a:rPr>
              <a:t>brique</a:t>
            </a:r>
            <a:r>
              <a:rPr sz="2400" b="1" dirty="0">
                <a:solidFill>
                  <a:srgbClr val="333333"/>
                </a:solidFill>
              </a:rPr>
              <a:t> 05, 06 </a:t>
            </a:r>
            <a:r>
              <a:rPr sz="2400" b="1" dirty="0" err="1">
                <a:solidFill>
                  <a:srgbClr val="333333"/>
                </a:solidFill>
              </a:rPr>
              <a:t>ou</a:t>
            </a:r>
            <a:r>
              <a:rPr sz="2400" b="1" dirty="0">
                <a:solidFill>
                  <a:srgbClr val="333333"/>
                </a:solidFill>
              </a:rPr>
              <a:t> 08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Ressources</a:t>
            </a:r>
            <a:r>
              <a:rPr sz="2400" b="1" dirty="0">
                <a:solidFill>
                  <a:srgbClr val="333333"/>
                </a:solidFill>
              </a:rPr>
              <a:t> : docs/</a:t>
            </a:r>
            <a:r>
              <a:rPr sz="2400" b="1" dirty="0" err="1">
                <a:solidFill>
                  <a:srgbClr val="333333"/>
                </a:solidFill>
              </a:rPr>
              <a:t>developpement</a:t>
            </a:r>
            <a:r>
              <a:rPr sz="2400" b="1" dirty="0">
                <a:solidFill>
                  <a:srgbClr val="333333"/>
                </a:solidFill>
              </a:rPr>
              <a:t>/</a:t>
            </a:r>
            <a:r>
              <a:rPr sz="2400" b="1" dirty="0" err="1">
                <a:solidFill>
                  <a:srgbClr val="333333"/>
                </a:solidFill>
              </a:rPr>
              <a:t>BDD_Guide_Expert_Metier.md</a:t>
            </a:r>
            <a:endParaRPr sz="24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976D2"/>
                </a:solidFill>
              </a:rPr>
              <a:t>[DEV]  </a:t>
            </a:r>
            <a:r>
              <a:rPr sz="3600" b="1">
                <a:solidFill>
                  <a:srgbClr val="333333"/>
                </a:solidFill>
              </a:rPr>
              <a:t>Installation de l'environnement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7 - Mettre en place son poste de developpement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1976D2"/>
                </a:solidFill>
              </a:rPr>
              <a:t>[DEV]  </a:t>
            </a:r>
            <a:r>
              <a:rPr sz="2600" b="1">
                <a:solidFill>
                  <a:srgbClr val="333333"/>
                </a:solidFill>
              </a:rPr>
              <a:t>Docker vs Linux natif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sz="2400" b="1" dirty="0">
                <a:solidFill>
                  <a:srgbClr val="333333"/>
                </a:solidFill>
              </a:rPr>
              <a:t>Avec Docker (</a:t>
            </a:r>
            <a:r>
              <a:rPr sz="2400" b="1" dirty="0" err="1">
                <a:solidFill>
                  <a:srgbClr val="333333"/>
                </a:solidFill>
              </a:rPr>
              <a:t>recommande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Prerequis</a:t>
            </a:r>
            <a:r>
              <a:rPr sz="2000" b="0" dirty="0">
                <a:solidFill>
                  <a:srgbClr val="333333"/>
                </a:solidFill>
              </a:rPr>
              <a:t> : Docker / </a:t>
            </a:r>
            <a:r>
              <a:rPr sz="2000" b="0" dirty="0" err="1">
                <a:solidFill>
                  <a:srgbClr val="333333"/>
                </a:solidFill>
              </a:rPr>
              <a:t>Podman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cd docker &amp;&amp; docker compose up -d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10 services + test-</a:t>
            </a:r>
            <a:r>
              <a:rPr sz="2000" b="0" dirty="0" err="1">
                <a:solidFill>
                  <a:srgbClr val="333333"/>
                </a:solidFill>
              </a:rPr>
              <a:t>bdd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en</a:t>
            </a:r>
            <a:r>
              <a:rPr sz="2000" b="0" dirty="0">
                <a:solidFill>
                  <a:srgbClr val="333333"/>
                </a:solidFill>
              </a:rPr>
              <a:t> un seul compose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Verification : http://localhost:8000/docs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Cible</a:t>
            </a:r>
            <a:r>
              <a:rPr sz="2000" b="0" dirty="0">
                <a:solidFill>
                  <a:srgbClr val="333333"/>
                </a:solidFill>
              </a:rPr>
              <a:t> : </a:t>
            </a:r>
            <a:r>
              <a:rPr sz="2000" b="0" dirty="0" err="1">
                <a:solidFill>
                  <a:srgbClr val="333333"/>
                </a:solidFill>
              </a:rPr>
              <a:t>branche</a:t>
            </a:r>
            <a:r>
              <a:rPr sz="2000" b="0" dirty="0">
                <a:solidFill>
                  <a:srgbClr val="333333"/>
                </a:solidFill>
              </a:rPr>
              <a:t> dev_docker_v2</a:t>
            </a: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Configuration S3 (stockage factures)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Inclus</a:t>
            </a:r>
            <a:r>
              <a:rPr sz="2000" b="0" dirty="0">
                <a:solidFill>
                  <a:srgbClr val="333333"/>
                </a:solidFill>
              </a:rPr>
              <a:t> dans le docker-compose (</a:t>
            </a:r>
            <a:r>
              <a:rPr sz="2000" b="0" dirty="0" err="1">
                <a:solidFill>
                  <a:srgbClr val="333333"/>
                </a:solidFill>
              </a:rPr>
              <a:t>SeaweedFS</a:t>
            </a:r>
            <a:r>
              <a:rPr sz="2000" b="0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Port S3 : 8333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sz="2400" b="1">
                <a:solidFill>
                  <a:srgbClr val="333333"/>
                </a:solidFill>
              </a:rPr>
              <a:t>Installation locale Linux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Python 3.13+, uv (pas pip !)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curl -LsSf https://astral.sh/uv/install.sh | sh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uv sync dans chaque package</a:t>
            </a:r>
          </a:p>
          <a:p>
            <a:pPr>
              <a:spcBef>
                <a:spcPts val="400"/>
              </a:spcBef>
            </a:pPr>
            <a:endParaRPr sz="2000" b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33333"/>
                </a:solidFill>
              </a:rPr>
              <a:t>NATS Server (broker de messages)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Telecharger et installer nats-server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Optionnel : nats-cli pour le debug</a:t>
            </a:r>
          </a:p>
          <a:p>
            <a:pPr>
              <a:spcBef>
                <a:spcPts val="400"/>
              </a:spcBef>
            </a:pPr>
            <a:endParaRPr sz="2000" b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33333"/>
                </a:solidFill>
              </a:rPr>
              <a:t>Lancement sequentiel des services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1. nats-server -V -js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2. uv run fastapi dev ... (API Gateway)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3. uv run faststream run ... (services)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1976D2"/>
                </a:solidFill>
              </a:rPr>
              <a:t>[DEV]  </a:t>
            </a:r>
            <a:r>
              <a:rPr sz="2600" b="1">
                <a:solidFill>
                  <a:srgbClr val="333333"/>
                </a:solidFill>
              </a:rPr>
              <a:t>Verification de l'installation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>
                <a:solidFill>
                  <a:srgbClr val="333333"/>
                </a:solidFill>
              </a:rPr>
              <a:t>Lancer les tests BDD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cd packages/</a:t>
            </a:r>
            <a:r>
              <a:rPr sz="2000" b="0" dirty="0" err="1">
                <a:solidFill>
                  <a:srgbClr val="333333"/>
                </a:solidFill>
              </a:rPr>
              <a:t>pac-bdd</a:t>
            </a:r>
            <a:r>
              <a:rPr sz="2000" b="0" dirty="0">
                <a:solidFill>
                  <a:srgbClr val="333333"/>
                </a:solidFill>
              </a:rPr>
              <a:t> &amp;&amp; </a:t>
            </a:r>
            <a:r>
              <a:rPr sz="2000" b="0" dirty="0" err="1">
                <a:solidFill>
                  <a:srgbClr val="333333"/>
                </a:solidFill>
              </a:rPr>
              <a:t>uv</a:t>
            </a:r>
            <a:r>
              <a:rPr sz="2000" b="0" dirty="0">
                <a:solidFill>
                  <a:srgbClr val="333333"/>
                </a:solidFill>
              </a:rPr>
              <a:t> run </a:t>
            </a:r>
            <a:r>
              <a:rPr sz="2000" b="0" dirty="0" err="1">
                <a:solidFill>
                  <a:srgbClr val="333333"/>
                </a:solidFill>
              </a:rPr>
              <a:t>pytest</a:t>
            </a:r>
            <a:r>
              <a:rPr sz="2000" b="0" dirty="0">
                <a:solidFill>
                  <a:srgbClr val="333333"/>
                </a:solidFill>
              </a:rPr>
              <a:t> -v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Lancer </a:t>
            </a:r>
            <a:r>
              <a:rPr sz="2400" b="1" dirty="0" err="1">
                <a:solidFill>
                  <a:srgbClr val="333333"/>
                </a:solidFill>
              </a:rPr>
              <a:t>tous</a:t>
            </a:r>
            <a:r>
              <a:rPr sz="2400" b="1" dirty="0">
                <a:solidFill>
                  <a:srgbClr val="333333"/>
                </a:solidFill>
              </a:rPr>
              <a:t> les tests avec rapport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./script/test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Verifier </a:t>
            </a:r>
            <a:r>
              <a:rPr sz="2400" b="1" dirty="0" err="1">
                <a:solidFill>
                  <a:srgbClr val="333333"/>
                </a:solidFill>
              </a:rPr>
              <a:t>l'API</a:t>
            </a:r>
            <a:r>
              <a:rPr sz="2400" b="1" dirty="0">
                <a:solidFill>
                  <a:srgbClr val="333333"/>
                </a:solidFill>
              </a:rPr>
              <a:t> Gateway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http://localhost:8000/docs (interface Swagger </a:t>
            </a:r>
            <a:r>
              <a:rPr sz="2000" b="0" dirty="0" err="1">
                <a:solidFill>
                  <a:srgbClr val="333333"/>
                </a:solidFill>
              </a:rPr>
              <a:t>FastAPI</a:t>
            </a:r>
            <a:r>
              <a:rPr sz="2000" b="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Ressources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docs/</a:t>
            </a:r>
            <a:r>
              <a:rPr sz="2000" b="0" dirty="0" err="1">
                <a:solidFill>
                  <a:srgbClr val="333333"/>
                </a:solidFill>
              </a:rPr>
              <a:t>developpement</a:t>
            </a:r>
            <a:r>
              <a:rPr sz="2000" b="0" dirty="0">
                <a:solidFill>
                  <a:srgbClr val="333333"/>
                </a:solidFill>
              </a:rPr>
              <a:t>/</a:t>
            </a:r>
            <a:r>
              <a:rPr sz="2000" b="0" dirty="0" err="1">
                <a:solidFill>
                  <a:srgbClr val="333333"/>
                </a:solidFill>
              </a:rPr>
              <a:t>Installation_Docker.md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docs/</a:t>
            </a:r>
            <a:r>
              <a:rPr sz="2000" b="0" dirty="0" err="1">
                <a:solidFill>
                  <a:srgbClr val="333333"/>
                </a:solidFill>
              </a:rPr>
              <a:t>developpement</a:t>
            </a:r>
            <a:r>
              <a:rPr sz="2000" b="0" dirty="0">
                <a:solidFill>
                  <a:srgbClr val="333333"/>
                </a:solidFill>
              </a:rPr>
              <a:t>/</a:t>
            </a:r>
            <a:r>
              <a:rPr sz="2000" b="0" dirty="0" err="1">
                <a:solidFill>
                  <a:srgbClr val="333333"/>
                </a:solidFill>
              </a:rPr>
              <a:t>Installation_Linux.md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docs/</a:t>
            </a:r>
            <a:r>
              <a:rPr sz="2000" b="0" dirty="0" err="1">
                <a:solidFill>
                  <a:srgbClr val="333333"/>
                </a:solidFill>
              </a:rPr>
              <a:t>developpement</a:t>
            </a:r>
            <a:r>
              <a:rPr sz="2000" b="0" dirty="0">
                <a:solidFill>
                  <a:srgbClr val="333333"/>
                </a:solidFill>
              </a:rPr>
              <a:t>/</a:t>
            </a:r>
            <a:r>
              <a:rPr sz="2000" b="0" dirty="0" err="1">
                <a:solidFill>
                  <a:srgbClr val="333333"/>
                </a:solidFill>
              </a:rPr>
              <a:t>Configuration.md</a:t>
            </a:r>
            <a:endParaRPr sz="2000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976D2"/>
                </a:solidFill>
              </a:rPr>
              <a:t>[DEV]  </a:t>
            </a:r>
            <a:r>
              <a:rPr sz="3600" b="1">
                <a:solidFill>
                  <a:srgbClr val="333333"/>
                </a:solidFill>
              </a:rPr>
              <a:t>Le code : packages et 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8 - Comprendre l'implementation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1976D2"/>
                </a:solidFill>
              </a:rPr>
              <a:t>[DEV]  </a:t>
            </a:r>
            <a:r>
              <a:rPr sz="2600" b="1">
                <a:solidFill>
                  <a:srgbClr val="333333"/>
                </a:solidFill>
              </a:rPr>
              <a:t>packages/pac0 -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sz="2400" b="1" dirty="0">
                <a:solidFill>
                  <a:srgbClr val="333333"/>
                </a:solidFill>
              </a:rPr>
              <a:t>Implementation de reference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1 service </a:t>
            </a:r>
            <a:r>
              <a:rPr sz="2000" b="0" dirty="0" err="1">
                <a:solidFill>
                  <a:srgbClr val="333333"/>
                </a:solidFill>
              </a:rPr>
              <a:t>FastAPI</a:t>
            </a:r>
            <a:r>
              <a:rPr sz="2000" b="0" dirty="0">
                <a:solidFill>
                  <a:srgbClr val="333333"/>
                </a:solidFill>
              </a:rPr>
              <a:t> : 01-api-gateway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8 services </a:t>
            </a:r>
            <a:r>
              <a:rPr sz="2000" b="0" dirty="0" err="1">
                <a:solidFill>
                  <a:srgbClr val="333333"/>
                </a:solidFill>
              </a:rPr>
              <a:t>FastStream</a:t>
            </a:r>
            <a:r>
              <a:rPr sz="2000" b="0" dirty="0">
                <a:solidFill>
                  <a:srgbClr val="333333"/>
                </a:solidFill>
              </a:rPr>
              <a:t> : 03 a 09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Communication via NATS (</a:t>
            </a:r>
            <a:r>
              <a:rPr sz="2000" b="0" dirty="0" err="1">
                <a:solidFill>
                  <a:srgbClr val="333333"/>
                </a:solidFill>
              </a:rPr>
              <a:t>JetStream</a:t>
            </a:r>
            <a:r>
              <a:rPr sz="2000" b="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Structure d'un service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src</a:t>
            </a:r>
            <a:r>
              <a:rPr sz="2000" b="0" dirty="0">
                <a:solidFill>
                  <a:srgbClr val="333333"/>
                </a:solidFill>
              </a:rPr>
              <a:t>/pac0/service/&lt;nom&gt;/</a:t>
            </a:r>
            <a:r>
              <a:rPr sz="2000" b="0" dirty="0" err="1">
                <a:solidFill>
                  <a:srgbClr val="333333"/>
                </a:solidFill>
              </a:rPr>
              <a:t>main.py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Fixtures de test </a:t>
            </a:r>
            <a:r>
              <a:rPr sz="2400" b="1" dirty="0" err="1">
                <a:solidFill>
                  <a:srgbClr val="333333"/>
                </a:solidFill>
              </a:rPr>
              <a:t>partagees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src</a:t>
            </a:r>
            <a:r>
              <a:rPr sz="2000" b="0" dirty="0">
                <a:solidFill>
                  <a:srgbClr val="333333"/>
                </a:solidFill>
              </a:rPr>
              <a:t>/pac0/shared/test/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WorldContext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PacServiceContext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NatsServiceContext</a:t>
            </a:r>
            <a:endParaRPr sz="2000" b="0" dirty="0">
              <a:solidFill>
                <a:srgbClr val="333333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sz="2400" b="1">
                <a:solidFill>
                  <a:srgbClr val="333333"/>
                </a:solidFill>
              </a:rPr>
              <a:t>packages/pac-bdd - Tests BDD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Point d'entree : test_scenario.py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Charge tous les .feature du projet</a:t>
            </a:r>
          </a:p>
          <a:p>
            <a:pPr>
              <a:spcBef>
                <a:spcPts val="400"/>
              </a:spcBef>
            </a:pPr>
            <a:endParaRPr sz="2000" b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33333"/>
                </a:solidFill>
              </a:rPr>
              <a:t>Step definitions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src/pac_bdd/api.py : appels REST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src/pac_bdd/peppol.py : routage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src/pac_bdd/service.py : services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src/pac_bdd/esb.py : bus de messages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steps.py : import central</a:t>
            </a:r>
          </a:p>
          <a:p>
            <a:pPr>
              <a:spcBef>
                <a:spcPts val="400"/>
              </a:spcBef>
            </a:pPr>
            <a:endParaRPr sz="2000" b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33333"/>
                </a:solidFill>
              </a:rPr>
              <a:t>packages/pac0-cli - CLI</a:t>
            </a:r>
          </a:p>
          <a:p>
            <a:pPr lvl="1">
              <a:spcBef>
                <a:spcPts val="400"/>
              </a:spcBef>
            </a:pPr>
            <a:r>
              <a:rPr sz="2000" b="0">
                <a:solidFill>
                  <a:srgbClr val="333333"/>
                </a:solidFill>
              </a:rPr>
              <a:t>uvx pac0-cli@latest run &lt;N&gt;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1976D2"/>
                </a:solidFill>
              </a:rPr>
              <a:t>[DEV]  </a:t>
            </a:r>
            <a:r>
              <a:rPr sz="2600" b="1">
                <a:solidFill>
                  <a:srgbClr val="333333"/>
                </a:solidFill>
              </a:rPr>
              <a:t>Conventions du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>
                <a:solidFill>
                  <a:srgbClr val="333333"/>
                </a:solidFill>
              </a:rPr>
              <a:t>Python 3.13+ avec async/await </a:t>
            </a:r>
            <a:r>
              <a:rPr sz="2400" b="1" dirty="0" err="1">
                <a:solidFill>
                  <a:srgbClr val="333333"/>
                </a:solidFill>
              </a:rPr>
              <a:t>partout</a:t>
            </a: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Package manager : </a:t>
            </a:r>
            <a:r>
              <a:rPr sz="2400" b="1" dirty="0" err="1">
                <a:solidFill>
                  <a:srgbClr val="333333"/>
                </a:solidFill>
              </a:rPr>
              <a:t>uv</a:t>
            </a:r>
            <a:r>
              <a:rPr sz="2400" b="1" dirty="0">
                <a:solidFill>
                  <a:srgbClr val="333333"/>
                </a:solidFill>
              </a:rPr>
              <a:t> (jamais pip)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uv</a:t>
            </a:r>
            <a:r>
              <a:rPr sz="2000" b="0" dirty="0">
                <a:solidFill>
                  <a:srgbClr val="333333"/>
                </a:solidFill>
              </a:rPr>
              <a:t> sync pour installer, </a:t>
            </a:r>
            <a:r>
              <a:rPr sz="2000" b="0" dirty="0" err="1">
                <a:solidFill>
                  <a:srgbClr val="333333"/>
                </a:solidFill>
              </a:rPr>
              <a:t>uv</a:t>
            </a:r>
            <a:r>
              <a:rPr sz="2000" b="0" dirty="0">
                <a:solidFill>
                  <a:srgbClr val="333333"/>
                </a:solidFill>
              </a:rPr>
              <a:t> run pour executer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pytest-asyncio</a:t>
            </a:r>
            <a:r>
              <a:rPr sz="2400" b="1" dirty="0">
                <a:solidFill>
                  <a:srgbClr val="333333"/>
                </a:solidFill>
              </a:rPr>
              <a:t> avec </a:t>
            </a:r>
            <a:r>
              <a:rPr sz="2400" b="1" dirty="0" err="1">
                <a:solidFill>
                  <a:srgbClr val="333333"/>
                </a:solidFill>
              </a:rPr>
              <a:t>asyncio_mode</a:t>
            </a:r>
            <a:r>
              <a:rPr sz="2400" b="1" dirty="0">
                <a:solidFill>
                  <a:srgbClr val="333333"/>
                </a:solidFill>
              </a:rPr>
              <a:t> = "auto"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Licence</a:t>
            </a:r>
            <a:r>
              <a:rPr sz="2400" b="1" dirty="0">
                <a:solidFill>
                  <a:srgbClr val="333333"/>
                </a:solidFill>
              </a:rPr>
              <a:t> GPL-3.0-or-later avec headers SPDX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Chaque</a:t>
            </a:r>
            <a:r>
              <a:rPr sz="2400" b="1" dirty="0">
                <a:solidFill>
                  <a:srgbClr val="333333"/>
                </a:solidFill>
              </a:rPr>
              <a:t> nouveau module de steps doit </a:t>
            </a:r>
            <a:r>
              <a:rPr sz="2400" b="1" dirty="0" err="1">
                <a:solidFill>
                  <a:srgbClr val="333333"/>
                </a:solidFill>
              </a:rPr>
              <a:t>etre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importe</a:t>
            </a:r>
            <a:r>
              <a:rPr sz="2400" b="1" dirty="0">
                <a:solidFill>
                  <a:srgbClr val="333333"/>
                </a:solidFill>
              </a:rPr>
              <a:t> dans </a:t>
            </a:r>
            <a:r>
              <a:rPr sz="2400" b="1" dirty="0" err="1">
                <a:solidFill>
                  <a:srgbClr val="333333"/>
                </a:solidFill>
              </a:rPr>
              <a:t>steps.py</a:t>
            </a: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Ressources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packages/pac0/</a:t>
            </a:r>
            <a:r>
              <a:rPr sz="2000" b="0" dirty="0" err="1">
                <a:solidFill>
                  <a:srgbClr val="333333"/>
                </a:solidFill>
              </a:rPr>
              <a:t>README.md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packages/</a:t>
            </a:r>
            <a:r>
              <a:rPr sz="2000" b="0" dirty="0" err="1">
                <a:solidFill>
                  <a:srgbClr val="333333"/>
                </a:solidFill>
              </a:rPr>
              <a:t>pac-bdd</a:t>
            </a:r>
            <a:r>
              <a:rPr sz="2000" b="0" dirty="0">
                <a:solidFill>
                  <a:srgbClr val="333333"/>
                </a:solidFill>
              </a:rPr>
              <a:t>/</a:t>
            </a:r>
            <a:r>
              <a:rPr sz="2000" b="0" dirty="0" err="1">
                <a:solidFill>
                  <a:srgbClr val="333333"/>
                </a:solidFill>
              </a:rPr>
              <a:t>README.md</a:t>
            </a:r>
            <a:endParaRPr sz="2000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976D2"/>
                </a:solidFill>
              </a:rPr>
              <a:t>[DEV]  </a:t>
            </a:r>
            <a:r>
              <a:rPr sz="3600" b="1">
                <a:solidFill>
                  <a:srgbClr val="333333"/>
                </a:solidFill>
              </a:rPr>
              <a:t>Implementer un test BDD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9 - Coder les step definitions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1976D2"/>
                </a:solidFill>
              </a:rPr>
              <a:t>[DEV]  </a:t>
            </a:r>
            <a:r>
              <a:rPr sz="2600" b="1">
                <a:solidFill>
                  <a:srgbClr val="333333"/>
                </a:solidFill>
              </a:rPr>
              <a:t>Flux : .feature -&gt; step -&gt; systeme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>
                <a:solidFill>
                  <a:srgbClr val="333333"/>
                </a:solidFill>
              </a:rPr>
              <a:t>1. Identifier </a:t>
            </a:r>
            <a:r>
              <a:rPr sz="2400" b="1" dirty="0" err="1">
                <a:solidFill>
                  <a:srgbClr val="333333"/>
                </a:solidFill>
              </a:rPr>
              <a:t>l'etape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manquante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StepDefNotFound</a:t>
            </a:r>
            <a:r>
              <a:rPr sz="2000" b="0" dirty="0">
                <a:solidFill>
                  <a:srgbClr val="333333"/>
                </a:solidFill>
              </a:rPr>
              <a:t>: "je </a:t>
            </a:r>
            <a:r>
              <a:rPr sz="2000" b="0" dirty="0" err="1">
                <a:solidFill>
                  <a:srgbClr val="333333"/>
                </a:solidFill>
              </a:rPr>
              <a:t>verifie</a:t>
            </a:r>
            <a:r>
              <a:rPr sz="2000" b="0" dirty="0">
                <a:solidFill>
                  <a:srgbClr val="333333"/>
                </a:solidFill>
              </a:rPr>
              <a:t> le format UBL"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2. </a:t>
            </a:r>
            <a:r>
              <a:rPr sz="2400" b="1" dirty="0" err="1">
                <a:solidFill>
                  <a:srgbClr val="333333"/>
                </a:solidFill>
              </a:rPr>
              <a:t>Choisir</a:t>
            </a:r>
            <a:r>
              <a:rPr sz="2400" b="1" dirty="0">
                <a:solidFill>
                  <a:srgbClr val="333333"/>
                </a:solidFill>
              </a:rPr>
              <a:t> le bon module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api.py</a:t>
            </a:r>
            <a:r>
              <a:rPr sz="2000" b="0" dirty="0">
                <a:solidFill>
                  <a:srgbClr val="333333"/>
                </a:solidFill>
              </a:rPr>
              <a:t> (REST), </a:t>
            </a:r>
            <a:r>
              <a:rPr sz="2000" b="0" dirty="0" err="1">
                <a:solidFill>
                  <a:srgbClr val="333333"/>
                </a:solidFill>
              </a:rPr>
              <a:t>peppol.py</a:t>
            </a:r>
            <a:r>
              <a:rPr sz="2000" b="0" dirty="0">
                <a:solidFill>
                  <a:srgbClr val="333333"/>
                </a:solidFill>
              </a:rPr>
              <a:t> (</a:t>
            </a:r>
            <a:r>
              <a:rPr sz="2000" b="0" dirty="0" err="1">
                <a:solidFill>
                  <a:srgbClr val="333333"/>
                </a:solidFill>
              </a:rPr>
              <a:t>routage</a:t>
            </a:r>
            <a:r>
              <a:rPr sz="2000" b="0" dirty="0">
                <a:solidFill>
                  <a:srgbClr val="333333"/>
                </a:solidFill>
              </a:rPr>
              <a:t>), </a:t>
            </a:r>
            <a:r>
              <a:rPr sz="2000" b="0" dirty="0" err="1">
                <a:solidFill>
                  <a:srgbClr val="333333"/>
                </a:solidFill>
              </a:rPr>
              <a:t>service.py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esb.py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3. </a:t>
            </a:r>
            <a:r>
              <a:rPr sz="2400" b="1" dirty="0" err="1">
                <a:solidFill>
                  <a:srgbClr val="333333"/>
                </a:solidFill>
              </a:rPr>
              <a:t>Ecrire</a:t>
            </a:r>
            <a:r>
              <a:rPr sz="2400" b="1" dirty="0">
                <a:solidFill>
                  <a:srgbClr val="333333"/>
                </a:solidFill>
              </a:rPr>
              <a:t> le step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@when(</a:t>
            </a:r>
            <a:r>
              <a:rPr sz="2000" b="0" dirty="0" err="1">
                <a:solidFill>
                  <a:srgbClr val="333333"/>
                </a:solidFill>
              </a:rPr>
              <a:t>parsers.parse</a:t>
            </a:r>
            <a:r>
              <a:rPr sz="2000" b="0" dirty="0">
                <a:solidFill>
                  <a:srgbClr val="333333"/>
                </a:solidFill>
              </a:rPr>
              <a:t>('</a:t>
            </a:r>
            <a:r>
              <a:rPr sz="2000" b="0" dirty="0" err="1">
                <a:solidFill>
                  <a:srgbClr val="333333"/>
                </a:solidFill>
              </a:rPr>
              <a:t>j'appele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l'API</a:t>
            </a:r>
            <a:r>
              <a:rPr sz="2000" b="0" dirty="0">
                <a:solidFill>
                  <a:srgbClr val="333333"/>
                </a:solidFill>
              </a:rPr>
              <a:t> {verb} {path}'))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parsers.parse</a:t>
            </a:r>
            <a:r>
              <a:rPr sz="2000" b="0" dirty="0">
                <a:solidFill>
                  <a:srgbClr val="333333"/>
                </a:solidFill>
              </a:rPr>
              <a:t> pour les patterns simples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parsers.re</a:t>
            </a:r>
            <a:r>
              <a:rPr sz="2000" b="0" dirty="0">
                <a:solidFill>
                  <a:srgbClr val="333333"/>
                </a:solidFill>
              </a:rPr>
              <a:t> pour les regex complexes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4. </a:t>
            </a:r>
            <a:r>
              <a:rPr sz="2400" b="1" dirty="0" err="1">
                <a:solidFill>
                  <a:srgbClr val="333333"/>
                </a:solidFill>
              </a:rPr>
              <a:t>Gerer</a:t>
            </a:r>
            <a:r>
              <a:rPr sz="2400" b="1" dirty="0">
                <a:solidFill>
                  <a:srgbClr val="333333"/>
                </a:solidFill>
              </a:rPr>
              <a:t> Data Tables et Doc Strings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datatable</a:t>
            </a:r>
            <a:r>
              <a:rPr sz="2000" b="0" dirty="0">
                <a:solidFill>
                  <a:srgbClr val="333333"/>
                </a:solidFill>
              </a:rPr>
              <a:t> : </a:t>
            </a:r>
            <a:r>
              <a:rPr sz="2000" b="0" dirty="0" err="1">
                <a:solidFill>
                  <a:srgbClr val="333333"/>
                </a:solidFill>
              </a:rPr>
              <a:t>liste</a:t>
            </a:r>
            <a:r>
              <a:rPr sz="2000" b="0" dirty="0">
                <a:solidFill>
                  <a:srgbClr val="333333"/>
                </a:solidFill>
              </a:rPr>
              <a:t> de </a:t>
            </a:r>
            <a:r>
              <a:rPr sz="2000" b="0" dirty="0" err="1">
                <a:solidFill>
                  <a:srgbClr val="333333"/>
                </a:solidFill>
              </a:rPr>
              <a:t>dictionnaires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docstring : </a:t>
            </a:r>
            <a:r>
              <a:rPr sz="2000" b="0" dirty="0" err="1">
                <a:solidFill>
                  <a:srgbClr val="333333"/>
                </a:solidFill>
              </a:rPr>
              <a:t>texte</a:t>
            </a:r>
            <a:r>
              <a:rPr sz="2000" b="0" dirty="0">
                <a:solidFill>
                  <a:srgbClr val="333333"/>
                </a:solidFill>
              </a:rPr>
              <a:t> brut du bloc """..."""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1976D2"/>
                </a:solidFill>
              </a:rPr>
              <a:t>[DEV]  </a:t>
            </a:r>
            <a:r>
              <a:rPr sz="2600" b="1">
                <a:solidFill>
                  <a:srgbClr val="333333"/>
                </a:solidFill>
              </a:rPr>
              <a:t>Fixtures et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WorldContext</a:t>
            </a:r>
            <a:r>
              <a:rPr sz="2400" b="1" dirty="0">
                <a:solidFill>
                  <a:srgbClr val="333333"/>
                </a:solidFill>
              </a:rPr>
              <a:t> : </a:t>
            </a:r>
            <a:r>
              <a:rPr sz="2400" b="1" dirty="0" err="1">
                <a:solidFill>
                  <a:srgbClr val="333333"/>
                </a:solidFill>
              </a:rPr>
              <a:t>environnement</a:t>
            </a:r>
            <a:r>
              <a:rPr sz="2400" b="1" dirty="0">
                <a:solidFill>
                  <a:srgbClr val="333333"/>
                </a:solidFill>
              </a:rPr>
              <a:t> multi-PA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world1.pa1.api_gateway.get_client() pour les </a:t>
            </a:r>
            <a:r>
              <a:rPr sz="2000" b="0" dirty="0" err="1">
                <a:solidFill>
                  <a:srgbClr val="333333"/>
                </a:solidFill>
              </a:rPr>
              <a:t>appels</a:t>
            </a:r>
            <a:r>
              <a:rPr sz="2000" b="0" dirty="0">
                <a:solidFill>
                  <a:srgbClr val="333333"/>
                </a:solidFill>
              </a:rPr>
              <a:t> API</a:t>
            </a: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Contexte</a:t>
            </a:r>
            <a:r>
              <a:rPr sz="2400" b="1" dirty="0">
                <a:solidFill>
                  <a:srgbClr val="333333"/>
                </a:solidFill>
              </a:rPr>
              <a:t> local </a:t>
            </a:r>
            <a:r>
              <a:rPr sz="2400" b="1" dirty="0" err="1">
                <a:solidFill>
                  <a:srgbClr val="333333"/>
                </a:solidFill>
              </a:rPr>
              <a:t>Pydantic</a:t>
            </a:r>
            <a:r>
              <a:rPr sz="2400" b="1" dirty="0">
                <a:solidFill>
                  <a:srgbClr val="333333"/>
                </a:solidFill>
              </a:rPr>
              <a:t> (</a:t>
            </a:r>
            <a:r>
              <a:rPr sz="2400" b="1" dirty="0" err="1">
                <a:solidFill>
                  <a:srgbClr val="333333"/>
                </a:solidFill>
              </a:rPr>
              <a:t>LocalTestCtx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Partage de </a:t>
            </a:r>
            <a:r>
              <a:rPr sz="2000" b="0" dirty="0" err="1">
                <a:solidFill>
                  <a:srgbClr val="333333"/>
                </a:solidFill>
              </a:rPr>
              <a:t>donnees</a:t>
            </a:r>
            <a:r>
              <a:rPr sz="2000" b="0" dirty="0">
                <a:solidFill>
                  <a:srgbClr val="333333"/>
                </a:solidFill>
              </a:rPr>
              <a:t> entre steps d'un scenario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Pattern async -&gt; sync : @</a:t>
            </a:r>
            <a:r>
              <a:rPr sz="2400" b="1" dirty="0" err="1">
                <a:solidFill>
                  <a:srgbClr val="333333"/>
                </a:solidFill>
              </a:rPr>
              <a:t>async_to_sync</a:t>
            </a: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Execution des tests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uv</a:t>
            </a:r>
            <a:r>
              <a:rPr sz="2000" b="0" dirty="0">
                <a:solidFill>
                  <a:srgbClr val="333333"/>
                </a:solidFill>
              </a:rPr>
              <a:t> run </a:t>
            </a:r>
            <a:r>
              <a:rPr sz="2000" b="0" dirty="0" err="1">
                <a:solidFill>
                  <a:srgbClr val="333333"/>
                </a:solidFill>
              </a:rPr>
              <a:t>pytest</a:t>
            </a:r>
            <a:r>
              <a:rPr sz="2000" b="0" dirty="0">
                <a:solidFill>
                  <a:srgbClr val="333333"/>
                </a:solidFill>
              </a:rPr>
              <a:t> (</a:t>
            </a:r>
            <a:r>
              <a:rPr sz="2000" b="0" dirty="0" err="1">
                <a:solidFill>
                  <a:srgbClr val="333333"/>
                </a:solidFill>
              </a:rPr>
              <a:t>tous</a:t>
            </a:r>
            <a:r>
              <a:rPr sz="2000" b="0" dirty="0">
                <a:solidFill>
                  <a:srgbClr val="333333"/>
                </a:solidFill>
              </a:rPr>
              <a:t> les tests)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uv</a:t>
            </a:r>
            <a:r>
              <a:rPr sz="2000" b="0" dirty="0">
                <a:solidFill>
                  <a:srgbClr val="333333"/>
                </a:solidFill>
              </a:rPr>
              <a:t> run </a:t>
            </a:r>
            <a:r>
              <a:rPr sz="2000" b="0" dirty="0" err="1">
                <a:solidFill>
                  <a:srgbClr val="333333"/>
                </a:solidFill>
              </a:rPr>
              <a:t>pytest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test_scenario.py</a:t>
            </a:r>
            <a:r>
              <a:rPr sz="2000" b="0" dirty="0">
                <a:solidFill>
                  <a:srgbClr val="333333"/>
                </a:solidFill>
              </a:rPr>
              <a:t>::</a:t>
            </a:r>
            <a:r>
              <a:rPr sz="2000" b="0" dirty="0" err="1">
                <a:solidFill>
                  <a:srgbClr val="333333"/>
                </a:solidFill>
              </a:rPr>
              <a:t>test_xxx</a:t>
            </a:r>
            <a:r>
              <a:rPr sz="2000" b="0" dirty="0">
                <a:solidFill>
                  <a:srgbClr val="333333"/>
                </a:solidFill>
              </a:rPr>
              <a:t> -v (un seul)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-v -s --log-cli-level=DEBUG (mode debug)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--collect-only (</a:t>
            </a:r>
            <a:r>
              <a:rPr sz="2000" b="0" dirty="0" err="1">
                <a:solidFill>
                  <a:srgbClr val="333333"/>
                </a:solidFill>
              </a:rPr>
              <a:t>collecter</a:t>
            </a:r>
            <a:r>
              <a:rPr sz="2000" b="0" dirty="0">
                <a:solidFill>
                  <a:srgbClr val="333333"/>
                </a:solidFill>
              </a:rPr>
              <a:t> sans executer)</a:t>
            </a: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 err="1">
                <a:solidFill>
                  <a:srgbClr val="333333"/>
                </a:solidFill>
              </a:rPr>
              <a:t>Ressources</a:t>
            </a:r>
            <a:r>
              <a:rPr sz="2400" b="1" dirty="0">
                <a:solidFill>
                  <a:srgbClr val="333333"/>
                </a:solidFill>
              </a:rPr>
              <a:t> : docs/</a:t>
            </a:r>
            <a:r>
              <a:rPr sz="2400" b="1" dirty="0" err="1">
                <a:solidFill>
                  <a:srgbClr val="333333"/>
                </a:solidFill>
              </a:rPr>
              <a:t>developpement</a:t>
            </a:r>
            <a:r>
              <a:rPr sz="2400" b="1" dirty="0">
                <a:solidFill>
                  <a:srgbClr val="333333"/>
                </a:solidFill>
              </a:rPr>
              <a:t>/</a:t>
            </a:r>
            <a:r>
              <a:rPr sz="2400" b="1" dirty="0" err="1">
                <a:solidFill>
                  <a:srgbClr val="333333"/>
                </a:solidFill>
              </a:rPr>
              <a:t>BDD_Guide_Developpeur.md</a:t>
            </a:r>
            <a:endParaRPr sz="24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388E3C"/>
                </a:solidFill>
              </a:rPr>
              <a:t>[TOUS]  </a:t>
            </a:r>
            <a:r>
              <a:rPr sz="3600" b="1">
                <a:solidFill>
                  <a:srgbClr val="333333"/>
                </a:solidFill>
              </a:rPr>
              <a:t>Rapports de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10 - Verifier que ca marche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33333"/>
                </a:solidFill>
              </a:rPr>
              <a:t>Lancer et lire les rapports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b="1" dirty="0">
                <a:solidFill>
                  <a:srgbClr val="333333"/>
                </a:solidFill>
              </a:rPr>
              <a:t>Lancer </a:t>
            </a:r>
            <a:r>
              <a:rPr sz="2400" b="1" dirty="0" err="1">
                <a:solidFill>
                  <a:srgbClr val="333333"/>
                </a:solidFill>
              </a:rPr>
              <a:t>tous</a:t>
            </a:r>
            <a:r>
              <a:rPr sz="2400" b="1" dirty="0">
                <a:solidFill>
                  <a:srgbClr val="333333"/>
                </a:solidFill>
              </a:rPr>
              <a:t> les tests : ./script/test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Lancer un package : cd packages/</a:t>
            </a:r>
            <a:r>
              <a:rPr sz="2400" b="1" dirty="0" err="1">
                <a:solidFill>
                  <a:srgbClr val="333333"/>
                </a:solidFill>
              </a:rPr>
              <a:t>pac-bdd</a:t>
            </a:r>
            <a:r>
              <a:rPr sz="2400" b="1" dirty="0">
                <a:solidFill>
                  <a:srgbClr val="333333"/>
                </a:solidFill>
              </a:rPr>
              <a:t> &amp;&amp; </a:t>
            </a:r>
            <a:r>
              <a:rPr sz="2400" b="1" dirty="0" err="1">
                <a:solidFill>
                  <a:srgbClr val="333333"/>
                </a:solidFill>
              </a:rPr>
              <a:t>uv</a:t>
            </a:r>
            <a:r>
              <a:rPr sz="2400" b="1" dirty="0">
                <a:solidFill>
                  <a:srgbClr val="333333"/>
                </a:solidFill>
              </a:rPr>
              <a:t> run </a:t>
            </a:r>
            <a:r>
              <a:rPr sz="2400" b="1" dirty="0" err="1">
                <a:solidFill>
                  <a:srgbClr val="333333"/>
                </a:solidFill>
              </a:rPr>
              <a:t>pytest</a:t>
            </a: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2400" b="1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Rapports </a:t>
            </a:r>
            <a:r>
              <a:rPr sz="2400" b="1" dirty="0" err="1">
                <a:solidFill>
                  <a:srgbClr val="333333"/>
                </a:solidFill>
              </a:rPr>
              <a:t>generes</a:t>
            </a:r>
            <a:r>
              <a:rPr sz="2400" b="1" dirty="0">
                <a:solidFill>
                  <a:srgbClr val="333333"/>
                </a:solidFill>
              </a:rPr>
              <a:t> dans /report/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report/pac0/ : tests </a:t>
            </a:r>
            <a:r>
              <a:rPr sz="2000" b="0" dirty="0" err="1">
                <a:solidFill>
                  <a:srgbClr val="333333"/>
                </a:solidFill>
              </a:rPr>
              <a:t>unitaires</a:t>
            </a:r>
            <a:r>
              <a:rPr sz="2000" b="0" dirty="0">
                <a:solidFill>
                  <a:srgbClr val="333333"/>
                </a:solidFill>
              </a:rPr>
              <a:t> de </a:t>
            </a:r>
            <a:r>
              <a:rPr sz="2000" b="0" dirty="0" err="1">
                <a:solidFill>
                  <a:srgbClr val="333333"/>
                </a:solidFill>
              </a:rPr>
              <a:t>l'implementation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report/</a:t>
            </a:r>
            <a:r>
              <a:rPr sz="2000" b="0" dirty="0" err="1">
                <a:solidFill>
                  <a:srgbClr val="333333"/>
                </a:solidFill>
              </a:rPr>
              <a:t>pac-bdd</a:t>
            </a:r>
            <a:r>
              <a:rPr sz="2000" b="0" dirty="0">
                <a:solidFill>
                  <a:srgbClr val="333333"/>
                </a:solidFill>
              </a:rPr>
              <a:t>/ : tests BDD (scenarios Gherkin)</a:t>
            </a: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3 formats de rapport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HTML : </a:t>
            </a:r>
            <a:r>
              <a:rPr sz="2000" b="0" dirty="0" err="1">
                <a:solidFill>
                  <a:srgbClr val="333333"/>
                </a:solidFill>
              </a:rPr>
              <a:t>visuel</a:t>
            </a:r>
            <a:r>
              <a:rPr sz="2000" b="0" dirty="0">
                <a:solidFill>
                  <a:srgbClr val="333333"/>
                </a:solidFill>
              </a:rPr>
              <a:t>, navigable dans un </a:t>
            </a:r>
            <a:r>
              <a:rPr sz="2000" b="0" dirty="0" err="1">
                <a:solidFill>
                  <a:srgbClr val="333333"/>
                </a:solidFill>
              </a:rPr>
              <a:t>navigateur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Markdown : </a:t>
            </a:r>
            <a:r>
              <a:rPr sz="2000" b="0" dirty="0" err="1">
                <a:solidFill>
                  <a:srgbClr val="333333"/>
                </a:solidFill>
              </a:rPr>
              <a:t>lisible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en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texte</a:t>
            </a:r>
            <a:r>
              <a:rPr sz="2000" b="0" dirty="0">
                <a:solidFill>
                  <a:srgbClr val="333333"/>
                </a:solidFill>
              </a:rPr>
              <a:t> brut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XML JUnit : pour </a:t>
            </a:r>
            <a:r>
              <a:rPr sz="2000" b="0" dirty="0" err="1">
                <a:solidFill>
                  <a:srgbClr val="333333"/>
                </a:solidFill>
              </a:rPr>
              <a:t>l'integration</a:t>
            </a:r>
            <a:r>
              <a:rPr sz="2000" b="0" dirty="0">
                <a:solidFill>
                  <a:srgbClr val="333333"/>
                </a:solidFill>
              </a:rPr>
              <a:t> continue</a:t>
            </a: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Interpreter un </a:t>
            </a:r>
            <a:r>
              <a:rPr sz="2400" b="1" dirty="0" err="1">
                <a:solidFill>
                  <a:srgbClr val="333333"/>
                </a:solidFill>
              </a:rPr>
              <a:t>echec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StepDefNotFound</a:t>
            </a:r>
            <a:r>
              <a:rPr sz="2000" b="0" dirty="0">
                <a:solidFill>
                  <a:srgbClr val="333333"/>
                </a:solidFill>
              </a:rPr>
              <a:t> : step </a:t>
            </a:r>
            <a:r>
              <a:rPr sz="2000" b="0" dirty="0" err="1">
                <a:solidFill>
                  <a:srgbClr val="333333"/>
                </a:solidFill>
              </a:rPr>
              <a:t>manquant</a:t>
            </a:r>
            <a:r>
              <a:rPr sz="2000" b="0" dirty="0">
                <a:solidFill>
                  <a:srgbClr val="333333"/>
                </a:solidFill>
              </a:rPr>
              <a:t> (a implementer)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AssertionError</a:t>
            </a:r>
            <a:r>
              <a:rPr sz="2000" b="0" dirty="0">
                <a:solidFill>
                  <a:srgbClr val="333333"/>
                </a:solidFill>
              </a:rPr>
              <a:t> : bug dans le code </a:t>
            </a:r>
            <a:r>
              <a:rPr sz="2000" b="0" dirty="0" err="1">
                <a:solidFill>
                  <a:srgbClr val="333333"/>
                </a:solidFill>
              </a:rPr>
              <a:t>ou</a:t>
            </a:r>
            <a:r>
              <a:rPr sz="2000" b="0" dirty="0">
                <a:solidFill>
                  <a:srgbClr val="333333"/>
                </a:solidFill>
              </a:rPr>
              <a:t> le scenario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388E3C"/>
                </a:solidFill>
              </a:rPr>
              <a:t>[TOUS]  </a:t>
            </a:r>
            <a:r>
              <a:rPr sz="3600" b="1">
                <a:solidFill>
                  <a:srgbClr val="333333"/>
                </a:solidFill>
              </a:rPr>
              <a:t>Contribuer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11 - Workflow et bonnes pratiques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33333"/>
                </a:solidFill>
              </a:rPr>
              <a:t>Cycle de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>
                <a:solidFill>
                  <a:srgbClr val="333333"/>
                </a:solidFill>
              </a:rPr>
              <a:t>1. </a:t>
            </a:r>
            <a:r>
              <a:rPr sz="2400" b="1" dirty="0" err="1">
                <a:solidFill>
                  <a:srgbClr val="333333"/>
                </a:solidFill>
              </a:rPr>
              <a:t>Acces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Forgejo</a:t>
            </a:r>
            <a:r>
              <a:rPr sz="2400" b="1" dirty="0">
                <a:solidFill>
                  <a:srgbClr val="333333"/>
                </a:solidFill>
              </a:rPr>
              <a:t> : </a:t>
            </a:r>
            <a:r>
              <a:rPr sz="2400" b="1" dirty="0" err="1">
                <a:solidFill>
                  <a:srgbClr val="333333"/>
                </a:solidFill>
              </a:rPr>
              <a:t>demande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d'invitation</a:t>
            </a:r>
            <a:r>
              <a:rPr sz="2400" b="1" dirty="0">
                <a:solidFill>
                  <a:srgbClr val="333333"/>
                </a:solidFill>
              </a:rPr>
              <a:t> via le forum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https://</a:t>
            </a:r>
            <a:r>
              <a:rPr sz="2000" b="0" dirty="0" err="1">
                <a:solidFill>
                  <a:srgbClr val="333333"/>
                </a:solidFill>
              </a:rPr>
              <a:t>forum.pdplibre.org</a:t>
            </a:r>
            <a:r>
              <a:rPr sz="2000" b="0" dirty="0">
                <a:solidFill>
                  <a:srgbClr val="333333"/>
                </a:solidFill>
              </a:rPr>
              <a:t>/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2. Fork + clone du </a:t>
            </a:r>
            <a:r>
              <a:rPr sz="2400" b="1" dirty="0" err="1">
                <a:solidFill>
                  <a:srgbClr val="333333"/>
                </a:solidFill>
              </a:rPr>
              <a:t>projet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depuis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Forgejo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git clone https://</a:t>
            </a:r>
            <a:r>
              <a:rPr sz="2000" b="0" dirty="0" err="1">
                <a:solidFill>
                  <a:srgbClr val="333333"/>
                </a:solidFill>
              </a:rPr>
              <a:t>git.pdplibre.org</a:t>
            </a:r>
            <a:r>
              <a:rPr sz="2000" b="0" dirty="0">
                <a:solidFill>
                  <a:srgbClr val="333333"/>
                </a:solidFill>
              </a:rPr>
              <a:t>/</a:t>
            </a:r>
            <a:r>
              <a:rPr sz="2000" b="0" dirty="0" err="1">
                <a:solidFill>
                  <a:srgbClr val="333333"/>
                </a:solidFill>
              </a:rPr>
              <a:t>Construction_PA</a:t>
            </a:r>
            <a:r>
              <a:rPr sz="2000" b="0" dirty="0">
                <a:solidFill>
                  <a:srgbClr val="333333"/>
                </a:solidFill>
              </a:rPr>
              <a:t>/</a:t>
            </a:r>
            <a:r>
              <a:rPr sz="2000" b="0" dirty="0" err="1">
                <a:solidFill>
                  <a:srgbClr val="333333"/>
                </a:solidFill>
              </a:rPr>
              <a:t>PA_Communautaire.git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3. Creer </a:t>
            </a:r>
            <a:r>
              <a:rPr sz="2400" b="1" dirty="0" err="1">
                <a:solidFill>
                  <a:srgbClr val="333333"/>
                </a:solidFill>
              </a:rPr>
              <a:t>une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branche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thematique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feature/ma-</a:t>
            </a:r>
            <a:r>
              <a:rPr sz="2000" b="0" dirty="0" err="1">
                <a:solidFill>
                  <a:srgbClr val="333333"/>
                </a:solidFill>
              </a:rPr>
              <a:t>fonctionnalite</a:t>
            </a:r>
            <a:r>
              <a:rPr sz="2000" b="0" dirty="0">
                <a:solidFill>
                  <a:srgbClr val="333333"/>
                </a:solidFill>
              </a:rPr>
              <a:t>, fix/</a:t>
            </a:r>
            <a:r>
              <a:rPr sz="2000" b="0" dirty="0" err="1">
                <a:solidFill>
                  <a:srgbClr val="333333"/>
                </a:solidFill>
              </a:rPr>
              <a:t>mon-correctif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4. Verifier les tests </a:t>
            </a:r>
            <a:r>
              <a:rPr sz="2400" b="1" dirty="0" err="1">
                <a:solidFill>
                  <a:srgbClr val="333333"/>
                </a:solidFill>
              </a:rPr>
              <a:t>avant</a:t>
            </a:r>
            <a:r>
              <a:rPr sz="2400" b="1" dirty="0">
                <a:solidFill>
                  <a:srgbClr val="333333"/>
                </a:solidFill>
              </a:rPr>
              <a:t> de </a:t>
            </a:r>
            <a:r>
              <a:rPr sz="2400" b="1" dirty="0" err="1">
                <a:solidFill>
                  <a:srgbClr val="333333"/>
                </a:solidFill>
              </a:rPr>
              <a:t>commiter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cd packages/</a:t>
            </a:r>
            <a:r>
              <a:rPr sz="2000" b="0" dirty="0" err="1">
                <a:solidFill>
                  <a:srgbClr val="333333"/>
                </a:solidFill>
              </a:rPr>
              <a:t>pac-bdd</a:t>
            </a:r>
            <a:r>
              <a:rPr sz="2000" b="0" dirty="0">
                <a:solidFill>
                  <a:srgbClr val="333333"/>
                </a:solidFill>
              </a:rPr>
              <a:t> &amp;&amp; </a:t>
            </a:r>
            <a:r>
              <a:rPr sz="2000" b="0" dirty="0" err="1">
                <a:solidFill>
                  <a:srgbClr val="333333"/>
                </a:solidFill>
              </a:rPr>
              <a:t>uv</a:t>
            </a:r>
            <a:r>
              <a:rPr sz="2000" b="0" dirty="0">
                <a:solidFill>
                  <a:srgbClr val="333333"/>
                </a:solidFill>
              </a:rPr>
              <a:t> run </a:t>
            </a:r>
            <a:r>
              <a:rPr sz="2000" b="0" dirty="0" err="1">
                <a:solidFill>
                  <a:srgbClr val="333333"/>
                </a:solidFill>
              </a:rPr>
              <a:t>pytest</a:t>
            </a:r>
            <a:r>
              <a:rPr sz="2000" b="0" dirty="0">
                <a:solidFill>
                  <a:srgbClr val="333333"/>
                </a:solidFill>
              </a:rPr>
              <a:t> -v</a:t>
            </a: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5. </a:t>
            </a:r>
            <a:r>
              <a:rPr sz="2400" b="1" dirty="0" err="1">
                <a:solidFill>
                  <a:srgbClr val="333333"/>
                </a:solidFill>
              </a:rPr>
              <a:t>Ouvrir</a:t>
            </a:r>
            <a:r>
              <a:rPr sz="2400" b="1" dirty="0">
                <a:solidFill>
                  <a:srgbClr val="333333"/>
                </a:solidFill>
              </a:rPr>
              <a:t> </a:t>
            </a:r>
            <a:r>
              <a:rPr sz="2400" b="1" dirty="0" err="1">
                <a:solidFill>
                  <a:srgbClr val="333333"/>
                </a:solidFill>
              </a:rPr>
              <a:t>une</a:t>
            </a:r>
            <a:r>
              <a:rPr sz="2400" b="1" dirty="0">
                <a:solidFill>
                  <a:srgbClr val="333333"/>
                </a:solidFill>
              </a:rPr>
              <a:t> Pull Request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Toujours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en</a:t>
            </a:r>
            <a:r>
              <a:rPr sz="2000" b="0" dirty="0">
                <a:solidFill>
                  <a:srgbClr val="333333"/>
                </a:solidFill>
              </a:rPr>
              <a:t> lien avec </a:t>
            </a:r>
            <a:r>
              <a:rPr sz="2000" b="0" dirty="0" err="1">
                <a:solidFill>
                  <a:srgbClr val="333333"/>
                </a:solidFill>
              </a:rPr>
              <a:t>une</a:t>
            </a:r>
            <a:r>
              <a:rPr sz="2000" b="0" dirty="0">
                <a:solidFill>
                  <a:srgbClr val="333333"/>
                </a:solidFill>
              </a:rPr>
              <a:t> Issue</a:t>
            </a:r>
          </a:p>
          <a:p>
            <a:pPr lvl="1">
              <a:spcBef>
                <a:spcPts val="400"/>
              </a:spcBef>
            </a:pPr>
            <a:r>
              <a:rPr sz="2000" b="0" dirty="0" err="1">
                <a:solidFill>
                  <a:srgbClr val="333333"/>
                </a:solidFill>
              </a:rPr>
              <a:t>Prefixe</a:t>
            </a:r>
            <a:r>
              <a:rPr sz="2000" b="0" dirty="0">
                <a:solidFill>
                  <a:srgbClr val="333333"/>
                </a:solidFill>
              </a:rPr>
              <a:t> WIP tant que le travail </a:t>
            </a:r>
            <a:r>
              <a:rPr sz="2000" b="0" dirty="0" err="1">
                <a:solidFill>
                  <a:srgbClr val="333333"/>
                </a:solidFill>
              </a:rPr>
              <a:t>est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en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cours</a:t>
            </a: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6. </a:t>
            </a:r>
            <a:r>
              <a:rPr sz="2400" b="1" dirty="0" err="1">
                <a:solidFill>
                  <a:srgbClr val="333333"/>
                </a:solidFill>
              </a:rPr>
              <a:t>Licence</a:t>
            </a:r>
            <a:r>
              <a:rPr sz="2400" b="1" dirty="0">
                <a:solidFill>
                  <a:srgbClr val="333333"/>
                </a:solidFill>
              </a:rPr>
              <a:t> GPL-3.0-or-later, headers SPDX </a:t>
            </a:r>
            <a:r>
              <a:rPr sz="2400" b="1" dirty="0" err="1">
                <a:solidFill>
                  <a:srgbClr val="333333"/>
                </a:solidFill>
              </a:rPr>
              <a:t>obligatoires</a:t>
            </a:r>
            <a:endParaRPr sz="24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57C00"/>
                </a:solidFill>
              </a:rPr>
              <a:t>[METIER]  </a:t>
            </a:r>
            <a:r>
              <a:rPr sz="3600" b="1">
                <a:solidFill>
                  <a:srgbClr val="333333"/>
                </a:solidFill>
              </a:rPr>
              <a:t>Focus par brique : ecrire les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Bloc 12 - Couvrir le perimetre fonctionnel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>
                <a:solidFill>
                  <a:srgbClr val="F57C00"/>
                </a:solidFill>
              </a:rPr>
              <a:t>[METIER]  </a:t>
            </a:r>
            <a:r>
              <a:rPr sz="2600" b="1">
                <a:solidFill>
                  <a:srgbClr val="333333"/>
                </a:solidFill>
              </a:rPr>
              <a:t>Couverture actuelle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Briques</a:t>
            </a:r>
            <a:r>
              <a:rPr sz="2400" b="1" dirty="0">
                <a:solidFill>
                  <a:srgbClr val="333333"/>
                </a:solidFill>
              </a:rPr>
              <a:t> avec .feature </a:t>
            </a:r>
            <a:r>
              <a:rPr sz="2400" b="1" dirty="0" err="1">
                <a:solidFill>
                  <a:srgbClr val="333333"/>
                </a:solidFill>
              </a:rPr>
              <a:t>existants</a:t>
            </a:r>
            <a:r>
              <a:rPr lang="fr-FR" sz="2400" b="1" dirty="0">
                <a:solidFill>
                  <a:srgbClr val="333333"/>
                </a:solidFill>
              </a:rPr>
              <a:t> mais incomplet</a:t>
            </a:r>
            <a:endParaRPr sz="2400" b="1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01-API Gateway : </a:t>
            </a:r>
            <a:r>
              <a:rPr sz="2000" b="0" dirty="0" err="1">
                <a:solidFill>
                  <a:srgbClr val="333333"/>
                </a:solidFill>
              </a:rPr>
              <a:t>healthcheck</a:t>
            </a:r>
            <a:r>
              <a:rPr sz="2000" b="0" dirty="0">
                <a:solidFill>
                  <a:srgbClr val="333333"/>
                </a:solidFill>
              </a:rPr>
              <a:t>, service, sha256, </a:t>
            </a:r>
            <a:r>
              <a:rPr sz="2000" b="0" dirty="0" err="1">
                <a:solidFill>
                  <a:srgbClr val="333333"/>
                </a:solidFill>
              </a:rPr>
              <a:t>trackingId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02-ESB Central : </a:t>
            </a:r>
            <a:r>
              <a:rPr sz="2000" b="0" dirty="0" err="1">
                <a:solidFill>
                  <a:srgbClr val="333333"/>
                </a:solidFill>
              </a:rPr>
              <a:t>healthcheck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esb</a:t>
            </a:r>
            <a:r>
              <a:rPr sz="2000" b="0" dirty="0">
                <a:solidFill>
                  <a:srgbClr val="333333"/>
                </a:solidFill>
              </a:rPr>
              <a:t>, service, lifecycle, world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03-Controle Formats : format, service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04-Validation </a:t>
            </a:r>
            <a:r>
              <a:rPr sz="2000" b="0" dirty="0" err="1">
                <a:solidFill>
                  <a:srgbClr val="333333"/>
                </a:solidFill>
              </a:rPr>
              <a:t>Metier</a:t>
            </a:r>
            <a:r>
              <a:rPr sz="2000" b="0" dirty="0">
                <a:solidFill>
                  <a:srgbClr val="333333"/>
                </a:solidFill>
              </a:rPr>
              <a:t> : compliance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07-Routage : </a:t>
            </a:r>
            <a:r>
              <a:rPr sz="2000" b="0" dirty="0" err="1">
                <a:solidFill>
                  <a:srgbClr val="333333"/>
                </a:solidFill>
              </a:rPr>
              <a:t>peppol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pa_multiple</a:t>
            </a:r>
            <a:r>
              <a:rPr sz="2000" b="0" dirty="0">
                <a:solidFill>
                  <a:srgbClr val="333333"/>
                </a:solidFill>
              </a:rPr>
              <a:t>, </a:t>
            </a:r>
            <a:r>
              <a:rPr sz="2000" b="0" dirty="0" err="1">
                <a:solidFill>
                  <a:srgbClr val="333333"/>
                </a:solidFill>
              </a:rPr>
              <a:t>peppol_live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09-Gestion Cycle Vie : facture, workflow, demo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sz="2400" b="1" dirty="0" err="1">
                <a:solidFill>
                  <a:srgbClr val="333333"/>
                </a:solidFill>
              </a:rPr>
              <a:t>Briques</a:t>
            </a:r>
            <a:r>
              <a:rPr sz="2400" b="1" dirty="0">
                <a:solidFill>
                  <a:srgbClr val="333333"/>
                </a:solidFill>
              </a:rPr>
              <a:t> a </a:t>
            </a:r>
            <a:r>
              <a:rPr sz="2400" b="1" dirty="0" err="1">
                <a:solidFill>
                  <a:srgbClr val="333333"/>
                </a:solidFill>
              </a:rPr>
              <a:t>couvrir</a:t>
            </a:r>
            <a:r>
              <a:rPr sz="2400" b="1" dirty="0">
                <a:solidFill>
                  <a:srgbClr val="333333"/>
                </a:solidFill>
              </a:rPr>
              <a:t> (</a:t>
            </a:r>
            <a:r>
              <a:rPr sz="2400" b="1" dirty="0" err="1">
                <a:solidFill>
                  <a:srgbClr val="333333"/>
                </a:solidFill>
              </a:rPr>
              <a:t>prioritaires</a:t>
            </a:r>
            <a:r>
              <a:rPr sz="2400" b="1" dirty="0">
                <a:solidFill>
                  <a:srgbClr val="333333"/>
                </a:solidFill>
              </a:rPr>
              <a:t>)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05-Conversion Formats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06-Annuaire Local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08-Transmission </a:t>
            </a:r>
            <a:r>
              <a:rPr sz="2000" b="0" dirty="0" err="1">
                <a:solidFill>
                  <a:srgbClr val="333333"/>
                </a:solidFill>
              </a:rPr>
              <a:t>Fiscale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10-Stockage</a:t>
            </a:r>
          </a:p>
          <a:p>
            <a:pPr>
              <a:spcBef>
                <a:spcPts val="400"/>
              </a:spcBef>
            </a:pPr>
            <a:endParaRPr sz="2000" b="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2400" b="1" dirty="0">
                <a:solidFill>
                  <a:srgbClr val="333333"/>
                </a:solidFill>
              </a:rPr>
              <a:t>Methode</a:t>
            </a: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1. Lire le README de la </a:t>
            </a:r>
            <a:r>
              <a:rPr sz="2000" b="0" dirty="0" err="1">
                <a:solidFill>
                  <a:srgbClr val="333333"/>
                </a:solidFill>
              </a:rPr>
              <a:t>brique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2. Identifier la section de </a:t>
            </a:r>
            <a:r>
              <a:rPr sz="2000" b="0" dirty="0" err="1">
                <a:solidFill>
                  <a:srgbClr val="333333"/>
                </a:solidFill>
              </a:rPr>
              <a:t>norme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3. Lister les </a:t>
            </a:r>
            <a:r>
              <a:rPr sz="2000" b="0" dirty="0" err="1">
                <a:solidFill>
                  <a:srgbClr val="333333"/>
                </a:solidFill>
              </a:rPr>
              <a:t>comportements</a:t>
            </a:r>
            <a:r>
              <a:rPr sz="2000" b="0" dirty="0">
                <a:solidFill>
                  <a:srgbClr val="333333"/>
                </a:solidFill>
              </a:rPr>
              <a:t> </a:t>
            </a:r>
            <a:r>
              <a:rPr sz="2000" b="0" dirty="0" err="1">
                <a:solidFill>
                  <a:srgbClr val="333333"/>
                </a:solidFill>
              </a:rPr>
              <a:t>attendus</a:t>
            </a:r>
            <a:endParaRPr sz="2000" b="0" dirty="0">
              <a:solidFill>
                <a:srgbClr val="333333"/>
              </a:solidFill>
            </a:endParaRPr>
          </a:p>
          <a:p>
            <a:pPr lvl="1">
              <a:spcBef>
                <a:spcPts val="400"/>
              </a:spcBef>
            </a:pPr>
            <a:r>
              <a:rPr sz="2000" b="0" dirty="0">
                <a:solidFill>
                  <a:srgbClr val="333333"/>
                </a:solidFill>
              </a:rPr>
              <a:t>4. Rediger les scenarios .feature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 err="1">
                <a:solidFill>
                  <a:srgbClr val="333333"/>
                </a:solidFill>
              </a:rPr>
              <a:t>Synthese</a:t>
            </a:r>
            <a:endParaRPr sz="3600" b="1" dirty="0">
              <a:solidFill>
                <a:srgbClr val="333333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Recap des parcours et ressources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3333"/>
                </a:solidFill>
              </a:rPr>
              <a:t>Recapitulatif des parcours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Bloc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DEV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METIER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1 - Contexte et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Pourquoi ce projet existe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2 - Architecture 10 briques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Organisation du systeme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3 - Normes de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Sur quoi on s'appuie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4 - Organisation du depot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Ou trouver quoi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5 - Strategie BDD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Comment on teste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6 - Rediger un scenario BDD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Ecrire un .feature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7 - Installation environnement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Mettre en place son poste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8 - Le code : packages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Comprendre l'implementation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9 - Implementer un test BDD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Coder les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10 - Rapports de tests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Verifier que ca marche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11 - Contribuer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976D2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Pousser ses changements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12 - Focus par brique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7C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Couvrir le perimetre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33333"/>
                </a:solidFill>
              </a:rPr>
              <a:t>Ressources et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b="1">
                <a:solidFill>
                  <a:srgbClr val="333333"/>
                </a:solidFill>
              </a:rPr>
              <a:t>Documentation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docs/developpement/Architecture.md - Architecture technique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docs/developpement/Contribuer.md - Guide de contribution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docs/developpement/BDD_Guide_Expert_Metier.md - Guide BDD metier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docs/developpement/BDD_Guide_Developpeur.md - Guide BDD dev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docs/norme/index.md - Normes de reference</a:t>
            </a:r>
          </a:p>
          <a:p>
            <a:pPr>
              <a:spcBef>
                <a:spcPts val="400"/>
              </a:spcBef>
            </a:pPr>
            <a:endParaRPr sz="1300" b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333333"/>
                </a:solidFill>
              </a:rPr>
              <a:t>Communaute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Forum : https://forum.pdplibre.org/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Forgejo : https://git.pdplibre.org/Construction_PA/PA_Communautaire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GitHub : https://github.com/PDP-Libre/PA_Communautaire</a:t>
            </a:r>
          </a:p>
          <a:p>
            <a:pPr lvl="1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Visio bimensuelle : https://visio.octopuce.fr/b/phi-bgv-jnr-laa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CD5E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19200"/>
            <a:ext cx="1219200" cy="1219200"/>
          </a:xfrm>
          <a:prstGeom prst="rect">
            <a:avLst/>
          </a:prstGeom>
          <a:solidFill>
            <a:srgbClr val="39799A"/>
          </a:solidFill>
        </p:spPr>
      </p:pic>
      <p:sp>
        <p:nvSpPr>
          <p:cNvPr id="4" name="Text 1"/>
          <p:cNvSpPr/>
          <p:nvPr/>
        </p:nvSpPr>
        <p:spPr>
          <a:xfrm>
            <a:off x="609600" y="2560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333" b="1" dirty="0">
                <a:solidFill>
                  <a:srgbClr val="4848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5333" dirty="0">
              <a:solidFill>
                <a:srgbClr val="484848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4267200" y="4693920"/>
            <a:ext cx="36576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4998720"/>
            <a:ext cx="97536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67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pdplibre.org</a:t>
            </a:r>
            <a:endParaRPr lang="en-US" sz="1867" dirty="0"/>
          </a:p>
          <a:p>
            <a:pPr algn="ctr">
              <a:lnSpc>
                <a:spcPct val="150000"/>
              </a:lnSpc>
            </a:pPr>
            <a:r>
              <a:rPr lang="en-US" sz="1867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contact@pdplibre.org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52A4A"/>
          </a:solidFill>
          <a:ln/>
        </p:spPr>
      </p:sp>
      <p:sp>
        <p:nvSpPr>
          <p:cNvPr id="9" name="Text 6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7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à but non lucratif — pdplibre.org</a:t>
            </a:r>
            <a:endParaRPr lang="en-US" sz="14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DP Libre">
      <a:dk1>
        <a:srgbClr val="1B1F3B"/>
      </a:dk1>
      <a:lt1>
        <a:srgbClr val="FFFFFF"/>
      </a:lt1>
      <a:dk2>
        <a:srgbClr val="252A4A"/>
      </a:dk2>
      <a:lt2>
        <a:srgbClr val="F0F4F8"/>
      </a:lt2>
      <a:accent1>
        <a:srgbClr val="00C9A7"/>
      </a:accent1>
      <a:accent2>
        <a:srgbClr val="00A88A"/>
      </a:accent2>
      <a:accent3>
        <a:srgbClr val="2E345A"/>
      </a:accent3>
      <a:accent4>
        <a:srgbClr val="B0BEC5"/>
      </a:accent4>
      <a:accent5>
        <a:srgbClr val="7E8A9A"/>
      </a:accent5>
      <a:accent6>
        <a:srgbClr val="2D3748"/>
      </a:accent6>
      <a:hlink>
        <a:srgbClr val="00C9A7"/>
      </a:hlink>
      <a:folHlink>
        <a:srgbClr val="00A88A"/>
      </a:folHlink>
    </a:clrScheme>
    <a:fontScheme name="PDP Libr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2720</Words>
  <Application>Microsoft Macintosh PowerPoint</Application>
  <PresentationFormat>Grand écran</PresentationFormat>
  <Paragraphs>428</Paragraphs>
  <Slides>41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Arial</vt:lpstr>
      <vt:lpstr>Calibri</vt:lpstr>
      <vt:lpstr>Trebuchet MS</vt:lpstr>
      <vt:lpstr>Thème Office</vt:lpstr>
      <vt:lpstr>Onboarding contributeur</vt:lpstr>
      <vt:lpstr>Parcours d'onboarding</vt:lpstr>
      <vt:lpstr>[TOUS]  Contexte et vision du projet</vt:lpstr>
      <vt:lpstr>[TOUS]  La reforme facturation electronique</vt:lpstr>
      <vt:lpstr>Vision PA Communautaire</vt:lpstr>
      <vt:lpstr>Parcours d'une facture (vue simplifiee)</vt:lpstr>
      <vt:lpstr>[TOUS]  Architecture fonctionnelle</vt:lpstr>
      <vt:lpstr>Vue d'ensemble de l'architecture</vt:lpstr>
      <vt:lpstr>[TOUS]  Les 10 briques</vt:lpstr>
      <vt:lpstr>Flux type d'une facture</vt:lpstr>
      <vt:lpstr>[TOUS]  Les normes de reference</vt:lpstr>
      <vt:lpstr>3 normes AFNOR</vt:lpstr>
      <vt:lpstr>Autres references</vt:lpstr>
      <vt:lpstr>[TOUS]  Organisation du depot</vt:lpstr>
      <vt:lpstr>[TOUS]  Structure du monorepo</vt:lpstr>
      <vt:lpstr>[TOUS]  Strategie BDD</vt:lpstr>
      <vt:lpstr>Le BDD : un langage commun</vt:lpstr>
      <vt:lpstr>Lien feature -&gt; steps -&gt; systeme</vt:lpstr>
      <vt:lpstr>[METIER]  Rediger un scenario BDD</vt:lpstr>
      <vt:lpstr>[METIER]  Structure d'un fichier .feature</vt:lpstr>
      <vt:lpstr>[METIER]  Bonnes pratiques et anti-patterns</vt:lpstr>
      <vt:lpstr>[METIER]  Exemples concrets du projet</vt:lpstr>
      <vt:lpstr>[DEV]  Installation de l'environnement</vt:lpstr>
      <vt:lpstr>[DEV]  Docker vs Linux natif</vt:lpstr>
      <vt:lpstr>[DEV]  Verification de l'installation</vt:lpstr>
      <vt:lpstr>[DEV]  Le code : packages et services</vt:lpstr>
      <vt:lpstr>[DEV]  packages/pac0 - Implementation</vt:lpstr>
      <vt:lpstr>[DEV]  Conventions du code</vt:lpstr>
      <vt:lpstr>[DEV]  Implementer un test BDD</vt:lpstr>
      <vt:lpstr>[DEV]  Flux : .feature -&gt; step -&gt; systeme</vt:lpstr>
      <vt:lpstr>[DEV]  Fixtures et execution</vt:lpstr>
      <vt:lpstr>[TOUS]  Rapports de tests</vt:lpstr>
      <vt:lpstr>Lancer et lire les rapports</vt:lpstr>
      <vt:lpstr>[TOUS]  Contribuer</vt:lpstr>
      <vt:lpstr>Cycle de contribution</vt:lpstr>
      <vt:lpstr>[METIER]  Focus par brique : ecrire les tests</vt:lpstr>
      <vt:lpstr>[METIER]  Couverture actuelle</vt:lpstr>
      <vt:lpstr>Synthese</vt:lpstr>
      <vt:lpstr>Recapitulatif des parcours</vt:lpstr>
      <vt:lpstr>Ressources et contacts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Delebarre-Debay</dc:creator>
  <cp:lastModifiedBy>Bruno Delebarre-Debay</cp:lastModifiedBy>
  <cp:revision>3</cp:revision>
  <dcterms:created xsi:type="dcterms:W3CDTF">2026-02-12T14:26:19Z</dcterms:created>
  <dcterms:modified xsi:type="dcterms:W3CDTF">2026-02-12T17:07:48Z</dcterms:modified>
</cp:coreProperties>
</file>