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43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notesSlides/_rels/notesSlide43.xml.rels" ContentType="application/vnd.openxmlformats-package.relationships+xml"/>
  <Override PartName="/ppt/notesSlides/notesSlide4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  <p:sldId id="292" r:id="rId51"/>
    <p:sldId id="293" r:id="rId52"/>
    <p:sldId id="294" r:id="rId53"/>
    <p:sldId id="295" r:id="rId54"/>
    <p:sldId id="296" r:id="rId55"/>
    <p:sldId id="297" r:id="rId56"/>
    <p:sldId id="298" r:id="rId5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presProps" Target="presProps.xml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CD76DA0-802A-EE43-99D3-B217E1184717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E637EB8D-E37E-F643-8E19-79949C004037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packages/pac0 </a:t>
          </a:r>
          <a:endParaRPr lang="fr-FR" dirty="0"/>
        </a:p>
      </dgm:t>
    </dgm:pt>
    <dgm:pt modelId="{F1459906-3439-5043-AA39-BC16C4CD90AA}" type="parTrans" cxnId="{33C30E72-0933-584A-92B7-FB0A73A3AA1F}">
      <dgm:prSet/>
      <dgm:spPr/>
      <dgm:t>
        <a:bodyPr/>
        <a:lstStyle/>
        <a:p>
          <a:endParaRPr lang="fr-FR"/>
        </a:p>
      </dgm:t>
    </dgm:pt>
    <dgm:pt modelId="{B741E642-2157-4843-A947-6B3700F215DD}" type="sibTrans" cxnId="{33C30E72-0933-584A-92B7-FB0A73A3AA1F}">
      <dgm:prSet/>
      <dgm:spPr/>
      <dgm:t>
        <a:bodyPr/>
        <a:lstStyle/>
        <a:p>
          <a:endParaRPr lang="fr-FR"/>
        </a:p>
      </dgm:t>
    </dgm:pt>
    <dgm:pt modelId="{D3A72773-1594-4741-8CD5-F656A504E3C3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Implémentation de référence</a:t>
          </a:r>
          <a:endParaRPr lang="fr-FR" dirty="0"/>
        </a:p>
      </dgm:t>
    </dgm:pt>
    <dgm:pt modelId="{604E6820-9716-E441-8C5E-BCA23ADE8138}" type="parTrans" cxnId="{9B5F7813-751A-E742-B9EA-1B7E2B4BFD05}">
      <dgm:prSet/>
      <dgm:spPr/>
      <dgm:t>
        <a:bodyPr/>
        <a:lstStyle/>
        <a:p>
          <a:endParaRPr lang="fr-FR"/>
        </a:p>
      </dgm:t>
    </dgm:pt>
    <dgm:pt modelId="{2D7AB2D5-7268-CE4B-8A5F-AD6C96CE1065}" type="sibTrans" cxnId="{9B5F7813-751A-E742-B9EA-1B7E2B4BFD05}">
      <dgm:prSet/>
      <dgm:spPr/>
      <dgm:t>
        <a:bodyPr/>
        <a:lstStyle/>
        <a:p>
          <a:endParaRPr lang="fr-FR"/>
        </a:p>
      </dgm:t>
    </dgm:pt>
    <dgm:pt modelId="{C95F9121-7836-EB4E-BAFB-F80203311E33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packages/</a:t>
          </a:r>
          <a:r>
            <a:rPr lang="fr-FR" b="1" noProof="0" dirty="0" err="1">
              <a:solidFill>
                <a:srgbClr val="333333"/>
              </a:solidFill>
            </a:rPr>
            <a:t>pac-bdd</a:t>
          </a:r>
          <a:r>
            <a:rPr lang="fr-FR" b="1" noProof="0" dirty="0">
              <a:solidFill>
                <a:srgbClr val="333333"/>
              </a:solidFill>
            </a:rPr>
            <a:t> </a:t>
          </a:r>
          <a:endParaRPr lang="fr-FR" dirty="0"/>
        </a:p>
      </dgm:t>
    </dgm:pt>
    <dgm:pt modelId="{3FEE0C1E-255E-B243-8BBB-FEAEC02EAD98}" type="parTrans" cxnId="{67A3BD83-49B8-914B-AC01-A992AB193D4B}">
      <dgm:prSet/>
      <dgm:spPr/>
      <dgm:t>
        <a:bodyPr/>
        <a:lstStyle/>
        <a:p>
          <a:endParaRPr lang="fr-FR"/>
        </a:p>
      </dgm:t>
    </dgm:pt>
    <dgm:pt modelId="{33292BF6-BBA4-2341-975C-5AB209244C08}" type="sibTrans" cxnId="{67A3BD83-49B8-914B-AC01-A992AB193D4B}">
      <dgm:prSet/>
      <dgm:spPr/>
      <dgm:t>
        <a:bodyPr/>
        <a:lstStyle/>
        <a:p>
          <a:endParaRPr lang="fr-FR"/>
        </a:p>
      </dgm:t>
    </dgm:pt>
    <dgm:pt modelId="{36FCCCF9-9DFC-E14C-8C2B-221528520239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Tests BDD</a:t>
          </a:r>
          <a:endParaRPr lang="fr-FR" dirty="0"/>
        </a:p>
      </dgm:t>
    </dgm:pt>
    <dgm:pt modelId="{A4335B81-B4CA-DC4B-82C7-07E3A9A8D2A2}" type="parTrans" cxnId="{04406D0A-70BE-8542-A3E7-A6499F6126E6}">
      <dgm:prSet/>
      <dgm:spPr/>
      <dgm:t>
        <a:bodyPr/>
        <a:lstStyle/>
        <a:p>
          <a:endParaRPr lang="fr-FR"/>
        </a:p>
      </dgm:t>
    </dgm:pt>
    <dgm:pt modelId="{EFE05F59-DA27-C04D-A33F-E1F83FAFF927}" type="sibTrans" cxnId="{04406D0A-70BE-8542-A3E7-A6499F6126E6}">
      <dgm:prSet/>
      <dgm:spPr/>
      <dgm:t>
        <a:bodyPr/>
        <a:lstStyle/>
        <a:p>
          <a:endParaRPr lang="fr-FR"/>
        </a:p>
      </dgm:t>
    </dgm:pt>
    <dgm:pt modelId="{82C155B4-E5ED-814A-85A6-535E5CC65137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packages/pac0-cli</a:t>
          </a:r>
          <a:endParaRPr lang="fr-FR" dirty="0"/>
        </a:p>
      </dgm:t>
    </dgm:pt>
    <dgm:pt modelId="{EE32C08E-08E4-B048-AC11-BC41F54C1EB1}" type="parTrans" cxnId="{FB2AA9C5-251C-854D-BA77-AABF40824749}">
      <dgm:prSet/>
      <dgm:spPr/>
      <dgm:t>
        <a:bodyPr/>
        <a:lstStyle/>
        <a:p>
          <a:endParaRPr lang="fr-FR"/>
        </a:p>
      </dgm:t>
    </dgm:pt>
    <dgm:pt modelId="{0589E78B-A3A7-204A-ACC9-FBC284EC5291}" type="sibTrans" cxnId="{FB2AA9C5-251C-854D-BA77-AABF40824749}">
      <dgm:prSet/>
      <dgm:spPr/>
      <dgm:t>
        <a:bodyPr/>
        <a:lstStyle/>
        <a:p>
          <a:endParaRPr lang="fr-FR"/>
        </a:p>
      </dgm:t>
    </dgm:pt>
    <dgm:pt modelId="{8E00836B-7B05-6E4A-BCF4-DE27C0954D5B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1 service FastAPI : 01-api-gateway</a:t>
          </a:r>
          <a:endParaRPr lang="fr-FR" b="0" noProof="0" dirty="0">
            <a:solidFill>
              <a:srgbClr val="333333"/>
            </a:solidFill>
          </a:endParaRPr>
        </a:p>
      </dgm:t>
    </dgm:pt>
    <dgm:pt modelId="{DAD0694D-40B4-B844-BC3E-EBA6489D24C9}" type="parTrans" cxnId="{292B837D-D96E-FA4C-8E69-11CB3DE8C396}">
      <dgm:prSet/>
      <dgm:spPr/>
      <dgm:t>
        <a:bodyPr/>
        <a:lstStyle/>
        <a:p>
          <a:endParaRPr lang="fr-FR"/>
        </a:p>
      </dgm:t>
    </dgm:pt>
    <dgm:pt modelId="{49A3C63B-4B60-EA4B-B04E-98993B7D2098}" type="sibTrans" cxnId="{292B837D-D96E-FA4C-8E69-11CB3DE8C396}">
      <dgm:prSet/>
      <dgm:spPr/>
      <dgm:t>
        <a:bodyPr/>
        <a:lstStyle/>
        <a:p>
          <a:endParaRPr lang="fr-FR"/>
        </a:p>
      </dgm:t>
    </dgm:pt>
    <dgm:pt modelId="{42BB8436-830E-7443-8671-BE328C4E226B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8 services FastStream : 03 a 09</a:t>
          </a:r>
          <a:endParaRPr lang="fr-FR" b="0" noProof="0" dirty="0">
            <a:solidFill>
              <a:srgbClr val="333333"/>
            </a:solidFill>
          </a:endParaRPr>
        </a:p>
      </dgm:t>
    </dgm:pt>
    <dgm:pt modelId="{B772655B-55C5-754A-8130-F2F7DEDB63B3}" type="parTrans" cxnId="{730B06AB-BC7E-6540-B318-80A0E8965F0C}">
      <dgm:prSet/>
      <dgm:spPr/>
      <dgm:t>
        <a:bodyPr/>
        <a:lstStyle/>
        <a:p>
          <a:endParaRPr lang="fr-FR"/>
        </a:p>
      </dgm:t>
    </dgm:pt>
    <dgm:pt modelId="{B61007A2-5145-D645-BA52-934FC087AF61}" type="sibTrans" cxnId="{730B06AB-BC7E-6540-B318-80A0E8965F0C}">
      <dgm:prSet/>
      <dgm:spPr/>
      <dgm:t>
        <a:bodyPr/>
        <a:lstStyle/>
        <a:p>
          <a:endParaRPr lang="fr-FR"/>
        </a:p>
      </dgm:t>
    </dgm:pt>
    <dgm:pt modelId="{537F248A-37EC-264D-9D56-01E275CA54B2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Communication via NATS (JetStream)</a:t>
          </a:r>
          <a:endParaRPr lang="fr-FR" b="0" noProof="0" dirty="0">
            <a:solidFill>
              <a:srgbClr val="333333"/>
            </a:solidFill>
          </a:endParaRPr>
        </a:p>
      </dgm:t>
    </dgm:pt>
    <dgm:pt modelId="{CBEF9B7D-93A0-A74F-BCC3-DFEBA61A5E3E}" type="parTrans" cxnId="{90FD04BE-3FB2-C44D-9DFE-9131F6B4EF1E}">
      <dgm:prSet/>
      <dgm:spPr/>
      <dgm:t>
        <a:bodyPr/>
        <a:lstStyle/>
        <a:p>
          <a:endParaRPr lang="fr-FR"/>
        </a:p>
      </dgm:t>
    </dgm:pt>
    <dgm:pt modelId="{54AA2F2B-6A26-F240-AFDD-B4FBE503D64D}" type="sibTrans" cxnId="{90FD04BE-3FB2-C44D-9DFE-9131F6B4EF1E}">
      <dgm:prSet/>
      <dgm:spPr/>
      <dgm:t>
        <a:bodyPr/>
        <a:lstStyle/>
        <a:p>
          <a:endParaRPr lang="fr-FR"/>
        </a:p>
      </dgm:t>
    </dgm:pt>
    <dgm:pt modelId="{FA2D7E95-86A3-874A-9EF5-4470DE89E10A}">
      <dgm:prSet/>
      <dgm:spPr/>
      <dgm:t>
        <a:bodyPr/>
        <a:lstStyle/>
        <a:p>
          <a:endParaRPr lang="fr-FR" b="0" noProof="0" dirty="0">
            <a:solidFill>
              <a:srgbClr val="333333"/>
            </a:solidFill>
          </a:endParaRPr>
        </a:p>
      </dgm:t>
    </dgm:pt>
    <dgm:pt modelId="{91437E3F-0B9F-7D4A-9332-E41EE9B607DC}" type="parTrans" cxnId="{B7BB5962-A250-A949-A536-D6BC177E9281}">
      <dgm:prSet/>
      <dgm:spPr/>
      <dgm:t>
        <a:bodyPr/>
        <a:lstStyle/>
        <a:p>
          <a:endParaRPr lang="fr-FR"/>
        </a:p>
      </dgm:t>
    </dgm:pt>
    <dgm:pt modelId="{E8CB5361-3AC7-8943-A0F2-87BBEB919FAD}" type="sibTrans" cxnId="{B7BB5962-A250-A949-A536-D6BC177E9281}">
      <dgm:prSet/>
      <dgm:spPr/>
      <dgm:t>
        <a:bodyPr/>
        <a:lstStyle/>
        <a:p>
          <a:endParaRPr lang="fr-FR"/>
        </a:p>
      </dgm:t>
    </dgm:pt>
    <dgm:pt modelId="{C16B2844-DEFD-3C47-91D0-7F738A7B2450}">
      <dgm:prSet/>
      <dgm:spPr/>
      <dgm:t>
        <a:bodyPr/>
        <a:lstStyle/>
        <a:p>
          <a:r>
            <a:rPr lang="fr-FR" b="1" noProof="0">
              <a:solidFill>
                <a:srgbClr val="333333"/>
              </a:solidFill>
            </a:rPr>
            <a:t>Structure d'un service</a:t>
          </a:r>
          <a:endParaRPr lang="fr-FR" b="1" noProof="0" dirty="0">
            <a:solidFill>
              <a:srgbClr val="333333"/>
            </a:solidFill>
          </a:endParaRPr>
        </a:p>
      </dgm:t>
    </dgm:pt>
    <dgm:pt modelId="{7BB0CDD8-BA6F-5F4A-A1C5-E8959C36F6B8}" type="parTrans" cxnId="{3E2BB84C-C262-F54F-BF1C-9BCEA353255F}">
      <dgm:prSet/>
      <dgm:spPr/>
      <dgm:t>
        <a:bodyPr/>
        <a:lstStyle/>
        <a:p>
          <a:endParaRPr lang="fr-FR"/>
        </a:p>
      </dgm:t>
    </dgm:pt>
    <dgm:pt modelId="{CE632B66-6D36-4C42-B6EF-15705A0BE739}" type="sibTrans" cxnId="{3E2BB84C-C262-F54F-BF1C-9BCEA353255F}">
      <dgm:prSet/>
      <dgm:spPr/>
      <dgm:t>
        <a:bodyPr/>
        <a:lstStyle/>
        <a:p>
          <a:endParaRPr lang="fr-FR"/>
        </a:p>
      </dgm:t>
    </dgm:pt>
    <dgm:pt modelId="{E5AF79CA-B82B-2743-B477-C1F64D607A1A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src/pac0/service/&lt;nom&gt;/main.py</a:t>
          </a:r>
          <a:endParaRPr lang="fr-FR" b="0" noProof="0" dirty="0">
            <a:solidFill>
              <a:srgbClr val="333333"/>
            </a:solidFill>
          </a:endParaRPr>
        </a:p>
      </dgm:t>
    </dgm:pt>
    <dgm:pt modelId="{D1A36FBA-3CAA-F24E-A3E8-A6480C61033B}" type="parTrans" cxnId="{FABC1D2D-6F4D-3B4E-AA19-ABAADCD536E1}">
      <dgm:prSet/>
      <dgm:spPr/>
      <dgm:t>
        <a:bodyPr/>
        <a:lstStyle/>
        <a:p>
          <a:endParaRPr lang="fr-FR"/>
        </a:p>
      </dgm:t>
    </dgm:pt>
    <dgm:pt modelId="{8E5DA9CF-E36C-1447-AF85-5830AE724377}" type="sibTrans" cxnId="{FABC1D2D-6F4D-3B4E-AA19-ABAADCD536E1}">
      <dgm:prSet/>
      <dgm:spPr/>
      <dgm:t>
        <a:bodyPr/>
        <a:lstStyle/>
        <a:p>
          <a:endParaRPr lang="fr-FR"/>
        </a:p>
      </dgm:t>
    </dgm:pt>
    <dgm:pt modelId="{C7476E2B-5222-2146-8FA6-5C67E9CCCDB2}">
      <dgm:prSet/>
      <dgm:spPr/>
      <dgm:t>
        <a:bodyPr/>
        <a:lstStyle/>
        <a:p>
          <a:endParaRPr lang="fr-FR" b="0" noProof="0" dirty="0">
            <a:solidFill>
              <a:srgbClr val="333333"/>
            </a:solidFill>
          </a:endParaRPr>
        </a:p>
      </dgm:t>
    </dgm:pt>
    <dgm:pt modelId="{9124D8F8-0433-1545-852A-65BC2DD4011C}" type="parTrans" cxnId="{8A1F9540-519E-5B42-A739-60B2F11E3665}">
      <dgm:prSet/>
      <dgm:spPr/>
      <dgm:t>
        <a:bodyPr/>
        <a:lstStyle/>
        <a:p>
          <a:endParaRPr lang="fr-FR"/>
        </a:p>
      </dgm:t>
    </dgm:pt>
    <dgm:pt modelId="{E9D1BE08-1F44-9D4E-841A-36567F807B39}" type="sibTrans" cxnId="{8A1F9540-519E-5B42-A739-60B2F11E3665}">
      <dgm:prSet/>
      <dgm:spPr/>
      <dgm:t>
        <a:bodyPr/>
        <a:lstStyle/>
        <a:p>
          <a:endParaRPr lang="fr-FR"/>
        </a:p>
      </dgm:t>
    </dgm:pt>
    <dgm:pt modelId="{CF6741C3-ECCD-BD4E-900B-531877EDA99C}">
      <dgm:prSet/>
      <dgm:spPr/>
      <dgm:t>
        <a:bodyPr/>
        <a:lstStyle/>
        <a:p>
          <a:r>
            <a:rPr lang="fr-FR" b="1" noProof="0">
              <a:solidFill>
                <a:srgbClr val="333333"/>
              </a:solidFill>
            </a:rPr>
            <a:t>Fixtures de test partagees</a:t>
          </a:r>
          <a:endParaRPr lang="fr-FR" b="1" noProof="0" dirty="0">
            <a:solidFill>
              <a:srgbClr val="333333"/>
            </a:solidFill>
          </a:endParaRPr>
        </a:p>
      </dgm:t>
    </dgm:pt>
    <dgm:pt modelId="{1F6EB29C-103B-7640-BA06-AEA9052BFD94}" type="parTrans" cxnId="{1593B19D-94E8-794D-905B-7F4B6BB1D6E3}">
      <dgm:prSet/>
      <dgm:spPr/>
      <dgm:t>
        <a:bodyPr/>
        <a:lstStyle/>
        <a:p>
          <a:endParaRPr lang="fr-FR"/>
        </a:p>
      </dgm:t>
    </dgm:pt>
    <dgm:pt modelId="{6F7EA13F-27D7-6043-A0F4-E11A86F6D28F}" type="sibTrans" cxnId="{1593B19D-94E8-794D-905B-7F4B6BB1D6E3}">
      <dgm:prSet/>
      <dgm:spPr/>
      <dgm:t>
        <a:bodyPr/>
        <a:lstStyle/>
        <a:p>
          <a:endParaRPr lang="fr-FR"/>
        </a:p>
      </dgm:t>
    </dgm:pt>
    <dgm:pt modelId="{AC0E3113-597F-1747-8CD3-386822A37625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src/pac0/shared/test/</a:t>
          </a:r>
          <a:endParaRPr lang="fr-FR" b="0" noProof="0" dirty="0">
            <a:solidFill>
              <a:srgbClr val="333333"/>
            </a:solidFill>
          </a:endParaRPr>
        </a:p>
      </dgm:t>
    </dgm:pt>
    <dgm:pt modelId="{AA3BD577-7D79-7F45-AB7B-15717962077E}" type="parTrans" cxnId="{4311F0F6-1A28-3F46-9FCC-47D6BCEDFC97}">
      <dgm:prSet/>
      <dgm:spPr/>
      <dgm:t>
        <a:bodyPr/>
        <a:lstStyle/>
        <a:p>
          <a:endParaRPr lang="fr-FR"/>
        </a:p>
      </dgm:t>
    </dgm:pt>
    <dgm:pt modelId="{B0130299-2EED-2940-A759-9E5AA922BA17}" type="sibTrans" cxnId="{4311F0F6-1A28-3F46-9FCC-47D6BCEDFC97}">
      <dgm:prSet/>
      <dgm:spPr/>
      <dgm:t>
        <a:bodyPr/>
        <a:lstStyle/>
        <a:p>
          <a:endParaRPr lang="fr-FR"/>
        </a:p>
      </dgm:t>
    </dgm:pt>
    <dgm:pt modelId="{7059F6AC-1DE3-C047-A889-31C050D37867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WorldContext, PacServiceContext</a:t>
          </a:r>
          <a:endParaRPr lang="fr-FR" b="0" noProof="0" dirty="0">
            <a:solidFill>
              <a:srgbClr val="333333"/>
            </a:solidFill>
          </a:endParaRPr>
        </a:p>
      </dgm:t>
    </dgm:pt>
    <dgm:pt modelId="{BF8F71FE-515A-574D-B5CF-0E3F07D6CECA}" type="parTrans" cxnId="{AAAECEFA-0665-E64E-8974-1B4895F039B8}">
      <dgm:prSet/>
      <dgm:spPr/>
      <dgm:t>
        <a:bodyPr/>
        <a:lstStyle/>
        <a:p>
          <a:endParaRPr lang="fr-FR"/>
        </a:p>
      </dgm:t>
    </dgm:pt>
    <dgm:pt modelId="{EC3812A1-6EF7-4644-9135-A94D87691688}" type="sibTrans" cxnId="{AAAECEFA-0665-E64E-8974-1B4895F039B8}">
      <dgm:prSet/>
      <dgm:spPr/>
      <dgm:t>
        <a:bodyPr/>
        <a:lstStyle/>
        <a:p>
          <a:endParaRPr lang="fr-FR"/>
        </a:p>
      </dgm:t>
    </dgm:pt>
    <dgm:pt modelId="{204B4C1F-60CF-FC42-AE70-014A7F6D73E4}">
      <dgm:prSet/>
      <dgm:spPr/>
      <dgm:t>
        <a:bodyPr/>
        <a:lstStyle/>
        <a:p>
          <a:r>
            <a:rPr lang="fr-FR" b="0" noProof="0" dirty="0" err="1">
              <a:solidFill>
                <a:srgbClr val="333333"/>
              </a:solidFill>
            </a:rPr>
            <a:t>NatsServiceContext</a:t>
          </a:r>
          <a:endParaRPr lang="fr-FR" b="0" noProof="0" dirty="0">
            <a:solidFill>
              <a:srgbClr val="333333"/>
            </a:solidFill>
          </a:endParaRPr>
        </a:p>
      </dgm:t>
    </dgm:pt>
    <dgm:pt modelId="{BF6073C3-BC3B-184D-A3E5-60413F508AB2}" type="parTrans" cxnId="{B7A439C7-4AFC-BF49-BC43-C7C0FBFB5E28}">
      <dgm:prSet/>
      <dgm:spPr/>
      <dgm:t>
        <a:bodyPr/>
        <a:lstStyle/>
        <a:p>
          <a:endParaRPr lang="fr-FR"/>
        </a:p>
      </dgm:t>
    </dgm:pt>
    <dgm:pt modelId="{1E146928-93A9-6942-86E9-519648C2093E}" type="sibTrans" cxnId="{B7A439C7-4AFC-BF49-BC43-C7C0FBFB5E28}">
      <dgm:prSet/>
      <dgm:spPr/>
      <dgm:t>
        <a:bodyPr/>
        <a:lstStyle/>
        <a:p>
          <a:endParaRPr lang="fr-FR"/>
        </a:p>
      </dgm:t>
    </dgm:pt>
    <dgm:pt modelId="{50529789-6BFA-2644-B3EB-B93E62FF8DAE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Point d'entree : test_scenario.py</a:t>
          </a:r>
          <a:endParaRPr lang="fr-FR" b="0" noProof="0" dirty="0">
            <a:solidFill>
              <a:srgbClr val="333333"/>
            </a:solidFill>
          </a:endParaRPr>
        </a:p>
      </dgm:t>
    </dgm:pt>
    <dgm:pt modelId="{7D342F99-8965-8B4F-BD8E-DF5086D03850}" type="parTrans" cxnId="{FEB9CC0B-F14B-2445-82BA-2566F63D5FD3}">
      <dgm:prSet/>
      <dgm:spPr/>
      <dgm:t>
        <a:bodyPr/>
        <a:lstStyle/>
        <a:p>
          <a:endParaRPr lang="fr-FR"/>
        </a:p>
      </dgm:t>
    </dgm:pt>
    <dgm:pt modelId="{C4C26D01-3A7E-0543-B16A-1C84EF933F55}" type="sibTrans" cxnId="{FEB9CC0B-F14B-2445-82BA-2566F63D5FD3}">
      <dgm:prSet/>
      <dgm:spPr/>
      <dgm:t>
        <a:bodyPr/>
        <a:lstStyle/>
        <a:p>
          <a:endParaRPr lang="fr-FR"/>
        </a:p>
      </dgm:t>
    </dgm:pt>
    <dgm:pt modelId="{DB164036-09E3-E94F-94DD-29A900BCB706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Charge tous les .feature du projet</a:t>
          </a:r>
          <a:endParaRPr lang="fr-FR" b="0" noProof="0" dirty="0">
            <a:solidFill>
              <a:srgbClr val="333333"/>
            </a:solidFill>
          </a:endParaRPr>
        </a:p>
      </dgm:t>
    </dgm:pt>
    <dgm:pt modelId="{4849DF9D-20C6-0E41-918E-60A3B64C51BE}" type="parTrans" cxnId="{C40F83E1-25FB-854D-A479-C27AB4049027}">
      <dgm:prSet/>
      <dgm:spPr/>
      <dgm:t>
        <a:bodyPr/>
        <a:lstStyle/>
        <a:p>
          <a:endParaRPr lang="fr-FR"/>
        </a:p>
      </dgm:t>
    </dgm:pt>
    <dgm:pt modelId="{C88D3256-B4A5-D444-A644-94F13A4D74CF}" type="sibTrans" cxnId="{C40F83E1-25FB-854D-A479-C27AB4049027}">
      <dgm:prSet/>
      <dgm:spPr/>
      <dgm:t>
        <a:bodyPr/>
        <a:lstStyle/>
        <a:p>
          <a:endParaRPr lang="fr-FR"/>
        </a:p>
      </dgm:t>
    </dgm:pt>
    <dgm:pt modelId="{A9325D94-80A5-3F40-84A3-6DB2AC6B8E31}">
      <dgm:prSet/>
      <dgm:spPr/>
      <dgm:t>
        <a:bodyPr/>
        <a:lstStyle/>
        <a:p>
          <a:endParaRPr lang="fr-FR" b="0" noProof="0" dirty="0">
            <a:solidFill>
              <a:srgbClr val="333333"/>
            </a:solidFill>
          </a:endParaRPr>
        </a:p>
      </dgm:t>
    </dgm:pt>
    <dgm:pt modelId="{CA6A21D5-CEBF-4D41-BF95-F92A72DEAC37}" type="parTrans" cxnId="{4CB9C58F-E2B5-BC47-997C-3D5AE856D469}">
      <dgm:prSet/>
      <dgm:spPr/>
      <dgm:t>
        <a:bodyPr/>
        <a:lstStyle/>
        <a:p>
          <a:endParaRPr lang="fr-FR"/>
        </a:p>
      </dgm:t>
    </dgm:pt>
    <dgm:pt modelId="{76079E29-1F25-AB4F-A44D-B7EA10DE0A44}" type="sibTrans" cxnId="{4CB9C58F-E2B5-BC47-997C-3D5AE856D469}">
      <dgm:prSet/>
      <dgm:spPr/>
      <dgm:t>
        <a:bodyPr/>
        <a:lstStyle/>
        <a:p>
          <a:endParaRPr lang="fr-FR"/>
        </a:p>
      </dgm:t>
    </dgm:pt>
    <dgm:pt modelId="{FCAE7B93-812F-9646-BCCC-7F06D779381E}">
      <dgm:prSet/>
      <dgm:spPr/>
      <dgm:t>
        <a:bodyPr/>
        <a:lstStyle/>
        <a:p>
          <a:r>
            <a:rPr lang="fr-FR" b="1" noProof="0">
              <a:solidFill>
                <a:srgbClr val="333333"/>
              </a:solidFill>
            </a:rPr>
            <a:t>Step definitions</a:t>
          </a:r>
          <a:endParaRPr lang="fr-FR" b="1" noProof="0" dirty="0">
            <a:solidFill>
              <a:srgbClr val="333333"/>
            </a:solidFill>
          </a:endParaRPr>
        </a:p>
      </dgm:t>
    </dgm:pt>
    <dgm:pt modelId="{F483B0DB-2217-FE4F-84BE-CC4850EA67BB}" type="parTrans" cxnId="{74BDB4A4-F4F5-7D44-9437-983DDBA19659}">
      <dgm:prSet/>
      <dgm:spPr/>
      <dgm:t>
        <a:bodyPr/>
        <a:lstStyle/>
        <a:p>
          <a:endParaRPr lang="fr-FR"/>
        </a:p>
      </dgm:t>
    </dgm:pt>
    <dgm:pt modelId="{4A70D587-558B-E84B-87E5-748F066DC3A3}" type="sibTrans" cxnId="{74BDB4A4-F4F5-7D44-9437-983DDBA19659}">
      <dgm:prSet/>
      <dgm:spPr/>
      <dgm:t>
        <a:bodyPr/>
        <a:lstStyle/>
        <a:p>
          <a:endParaRPr lang="fr-FR"/>
        </a:p>
      </dgm:t>
    </dgm:pt>
    <dgm:pt modelId="{40B71309-C497-B64E-9851-DE884A810A5D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src/pac_bdd/api.py : appels REST</a:t>
          </a:r>
          <a:endParaRPr lang="fr-FR" b="0" noProof="0" dirty="0">
            <a:solidFill>
              <a:srgbClr val="333333"/>
            </a:solidFill>
          </a:endParaRPr>
        </a:p>
      </dgm:t>
    </dgm:pt>
    <dgm:pt modelId="{9D687499-187D-404D-BC27-ED1A677796D9}" type="parTrans" cxnId="{0E8BE369-3D72-A04D-B1E7-0D43D254B1CA}">
      <dgm:prSet/>
      <dgm:spPr/>
      <dgm:t>
        <a:bodyPr/>
        <a:lstStyle/>
        <a:p>
          <a:endParaRPr lang="fr-FR"/>
        </a:p>
      </dgm:t>
    </dgm:pt>
    <dgm:pt modelId="{C5F476B7-EC6F-8243-9DAF-775FF07B849A}" type="sibTrans" cxnId="{0E8BE369-3D72-A04D-B1E7-0D43D254B1CA}">
      <dgm:prSet/>
      <dgm:spPr/>
      <dgm:t>
        <a:bodyPr/>
        <a:lstStyle/>
        <a:p>
          <a:endParaRPr lang="fr-FR"/>
        </a:p>
      </dgm:t>
    </dgm:pt>
    <dgm:pt modelId="{E4DEDA2C-DD44-DB45-ABA4-6B3C0D3DA02D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src/pac_bdd/peppol.py : routage</a:t>
          </a:r>
          <a:endParaRPr lang="fr-FR" b="0" noProof="0" dirty="0">
            <a:solidFill>
              <a:srgbClr val="333333"/>
            </a:solidFill>
          </a:endParaRPr>
        </a:p>
      </dgm:t>
    </dgm:pt>
    <dgm:pt modelId="{DD5ED29C-9323-A143-8566-DA41C7F7D45D}" type="parTrans" cxnId="{31A0FB4C-764D-CB40-A40A-78966A035AE4}">
      <dgm:prSet/>
      <dgm:spPr/>
      <dgm:t>
        <a:bodyPr/>
        <a:lstStyle/>
        <a:p>
          <a:endParaRPr lang="fr-FR"/>
        </a:p>
      </dgm:t>
    </dgm:pt>
    <dgm:pt modelId="{DDA530AD-F8F6-A94B-94EB-4800F0338245}" type="sibTrans" cxnId="{31A0FB4C-764D-CB40-A40A-78966A035AE4}">
      <dgm:prSet/>
      <dgm:spPr/>
      <dgm:t>
        <a:bodyPr/>
        <a:lstStyle/>
        <a:p>
          <a:endParaRPr lang="fr-FR"/>
        </a:p>
      </dgm:t>
    </dgm:pt>
    <dgm:pt modelId="{C713B7BB-DB1F-6C42-91AD-A0F6AD04C989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src/pac_bdd/service.py : services</a:t>
          </a:r>
          <a:endParaRPr lang="fr-FR" b="0" noProof="0" dirty="0">
            <a:solidFill>
              <a:srgbClr val="333333"/>
            </a:solidFill>
          </a:endParaRPr>
        </a:p>
      </dgm:t>
    </dgm:pt>
    <dgm:pt modelId="{8DACF831-3984-CD49-A0BC-B455F2449663}" type="parTrans" cxnId="{ED37A9E2-10F8-9F4D-9121-6AB8DFF1A46C}">
      <dgm:prSet/>
      <dgm:spPr/>
      <dgm:t>
        <a:bodyPr/>
        <a:lstStyle/>
        <a:p>
          <a:endParaRPr lang="fr-FR"/>
        </a:p>
      </dgm:t>
    </dgm:pt>
    <dgm:pt modelId="{815DE90E-5E5E-C84B-B575-AFE58CB12A34}" type="sibTrans" cxnId="{ED37A9E2-10F8-9F4D-9121-6AB8DFF1A46C}">
      <dgm:prSet/>
      <dgm:spPr/>
      <dgm:t>
        <a:bodyPr/>
        <a:lstStyle/>
        <a:p>
          <a:endParaRPr lang="fr-FR"/>
        </a:p>
      </dgm:t>
    </dgm:pt>
    <dgm:pt modelId="{B7E96974-7F20-D14F-8670-297A1AE58525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src/pac_bdd/esb.py : bus de messages</a:t>
          </a:r>
          <a:endParaRPr lang="fr-FR" b="0" noProof="0" dirty="0">
            <a:solidFill>
              <a:srgbClr val="333333"/>
            </a:solidFill>
          </a:endParaRPr>
        </a:p>
      </dgm:t>
    </dgm:pt>
    <dgm:pt modelId="{D639C840-71B4-3740-8C2A-C6F55102683F}" type="parTrans" cxnId="{B399026B-0FE9-6C45-99CC-90E5C1EDCEB9}">
      <dgm:prSet/>
      <dgm:spPr/>
      <dgm:t>
        <a:bodyPr/>
        <a:lstStyle/>
        <a:p>
          <a:endParaRPr lang="fr-FR"/>
        </a:p>
      </dgm:t>
    </dgm:pt>
    <dgm:pt modelId="{ED1DBC68-7A44-9444-BABF-F25CACC4047D}" type="sibTrans" cxnId="{B399026B-0FE9-6C45-99CC-90E5C1EDCEB9}">
      <dgm:prSet/>
      <dgm:spPr/>
      <dgm:t>
        <a:bodyPr/>
        <a:lstStyle/>
        <a:p>
          <a:endParaRPr lang="fr-FR"/>
        </a:p>
      </dgm:t>
    </dgm:pt>
    <dgm:pt modelId="{C70C71F6-BF13-7143-9DA3-5C41BFE61F97}">
      <dgm:prSet/>
      <dgm:spPr/>
      <dgm:t>
        <a:bodyPr/>
        <a:lstStyle/>
        <a:p>
          <a:r>
            <a:rPr lang="fr-FR" b="0" noProof="0" dirty="0" err="1">
              <a:solidFill>
                <a:srgbClr val="333333"/>
              </a:solidFill>
            </a:rPr>
            <a:t>steps.py</a:t>
          </a:r>
          <a:r>
            <a:rPr lang="fr-FR" b="0" noProof="0" dirty="0">
              <a:solidFill>
                <a:srgbClr val="333333"/>
              </a:solidFill>
            </a:rPr>
            <a:t> : import central</a:t>
          </a:r>
        </a:p>
      </dgm:t>
    </dgm:pt>
    <dgm:pt modelId="{A90635AE-D489-074B-97D9-578FB7AD020E}" type="parTrans" cxnId="{42F1C638-6559-0142-B549-FD25BD999D2D}">
      <dgm:prSet/>
      <dgm:spPr/>
      <dgm:t>
        <a:bodyPr/>
        <a:lstStyle/>
        <a:p>
          <a:endParaRPr lang="fr-FR"/>
        </a:p>
      </dgm:t>
    </dgm:pt>
    <dgm:pt modelId="{988CBDEC-5090-FE4B-9039-F090B05B0045}" type="sibTrans" cxnId="{42F1C638-6559-0142-B549-FD25BD999D2D}">
      <dgm:prSet/>
      <dgm:spPr/>
      <dgm:t>
        <a:bodyPr/>
        <a:lstStyle/>
        <a:p>
          <a:endParaRPr lang="fr-FR"/>
        </a:p>
      </dgm:t>
    </dgm:pt>
    <dgm:pt modelId="{DB84401D-C17A-F24A-BB23-E4E5E3FD588A}">
      <dgm:prSet phldrT="[Texte]"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uvx pac0-cli@latest run &lt;N&gt;</a:t>
          </a:r>
          <a:endParaRPr lang="fr-FR" dirty="0"/>
        </a:p>
      </dgm:t>
    </dgm:pt>
    <dgm:pt modelId="{EBEDB9A3-D8C7-5440-AC22-20ED938C3B20}" type="parTrans" cxnId="{4F853D87-0719-BB48-852B-B24038238EE1}">
      <dgm:prSet/>
      <dgm:spPr/>
      <dgm:t>
        <a:bodyPr/>
        <a:lstStyle/>
        <a:p>
          <a:endParaRPr lang="fr-FR"/>
        </a:p>
      </dgm:t>
    </dgm:pt>
    <dgm:pt modelId="{4C72BCD3-9740-0A4B-9B13-4EF7D2319FCA}" type="sibTrans" cxnId="{4F853D87-0719-BB48-852B-B24038238EE1}">
      <dgm:prSet/>
      <dgm:spPr/>
      <dgm:t>
        <a:bodyPr/>
        <a:lstStyle/>
        <a:p>
          <a:endParaRPr lang="fr-FR"/>
        </a:p>
      </dgm:t>
    </dgm:pt>
    <dgm:pt modelId="{5D0A2296-80A2-134E-934B-BD79472DDE1A}" type="pres">
      <dgm:prSet presAssocID="{2CD76DA0-802A-EE43-99D3-B217E1184717}" presName="Name0" presStyleCnt="0">
        <dgm:presLayoutVars>
          <dgm:dir/>
          <dgm:animLvl val="lvl"/>
          <dgm:resizeHandles val="exact"/>
        </dgm:presLayoutVars>
      </dgm:prSet>
      <dgm:spPr/>
    </dgm:pt>
    <dgm:pt modelId="{AB2BEA6A-7F47-C74A-A15F-E90E10E4DA6D}" type="pres">
      <dgm:prSet presAssocID="{E637EB8D-E37E-F643-8E19-79949C004037}" presName="composite" presStyleCnt="0"/>
      <dgm:spPr/>
    </dgm:pt>
    <dgm:pt modelId="{383CA967-D8CB-8848-BE7D-586401571967}" type="pres">
      <dgm:prSet presAssocID="{E637EB8D-E37E-F643-8E19-79949C004037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2ED38B7F-45F2-A24E-97FF-7685EF72238A}" type="pres">
      <dgm:prSet presAssocID="{E637EB8D-E37E-F643-8E19-79949C004037}" presName="desTx" presStyleLbl="alignAccFollowNode1" presStyleIdx="0" presStyleCnt="3">
        <dgm:presLayoutVars>
          <dgm:bulletEnabled val="1"/>
        </dgm:presLayoutVars>
      </dgm:prSet>
      <dgm:spPr/>
    </dgm:pt>
    <dgm:pt modelId="{96A44A49-DAEA-6642-A2BF-BBB1B8051464}" type="pres">
      <dgm:prSet presAssocID="{B741E642-2157-4843-A947-6B3700F215DD}" presName="space" presStyleCnt="0"/>
      <dgm:spPr/>
    </dgm:pt>
    <dgm:pt modelId="{885D26F7-F58D-5448-8DD1-F9EFCD84489A}" type="pres">
      <dgm:prSet presAssocID="{C95F9121-7836-EB4E-BAFB-F80203311E33}" presName="composite" presStyleCnt="0"/>
      <dgm:spPr/>
    </dgm:pt>
    <dgm:pt modelId="{066B1BCA-F84F-404B-95AC-62196A37E9AC}" type="pres">
      <dgm:prSet presAssocID="{C95F9121-7836-EB4E-BAFB-F80203311E3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78E126F3-DF19-614F-A7D3-4C72634A9362}" type="pres">
      <dgm:prSet presAssocID="{C95F9121-7836-EB4E-BAFB-F80203311E33}" presName="desTx" presStyleLbl="alignAccFollowNode1" presStyleIdx="1" presStyleCnt="3">
        <dgm:presLayoutVars>
          <dgm:bulletEnabled val="1"/>
        </dgm:presLayoutVars>
      </dgm:prSet>
      <dgm:spPr/>
    </dgm:pt>
    <dgm:pt modelId="{4118479B-6B23-BD4E-9AC6-FBB6135C6433}" type="pres">
      <dgm:prSet presAssocID="{33292BF6-BBA4-2341-975C-5AB209244C08}" presName="space" presStyleCnt="0"/>
      <dgm:spPr/>
    </dgm:pt>
    <dgm:pt modelId="{738E674B-2849-3F47-A202-A9358635885D}" type="pres">
      <dgm:prSet presAssocID="{82C155B4-E5ED-814A-85A6-535E5CC65137}" presName="composite" presStyleCnt="0"/>
      <dgm:spPr/>
    </dgm:pt>
    <dgm:pt modelId="{3BE2A35F-1F04-D745-B579-5FE8FF976D13}" type="pres">
      <dgm:prSet presAssocID="{82C155B4-E5ED-814A-85A6-535E5CC6513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31883603-1C8F-6849-B1B4-B744634910ED}" type="pres">
      <dgm:prSet presAssocID="{82C155B4-E5ED-814A-85A6-535E5CC6513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F5E9305-1A12-8C45-A641-1A60CA546887}" type="presOf" srcId="{E4DEDA2C-DD44-DB45-ABA4-6B3C0D3DA02D}" destId="{78E126F3-DF19-614F-A7D3-4C72634A9362}" srcOrd="0" destOrd="6" presId="urn:microsoft.com/office/officeart/2005/8/layout/hList1"/>
    <dgm:cxn modelId="{04406D0A-70BE-8542-A3E7-A6499F6126E6}" srcId="{C95F9121-7836-EB4E-BAFB-F80203311E33}" destId="{36FCCCF9-9DFC-E14C-8C2B-221528520239}" srcOrd="0" destOrd="0" parTransId="{A4335B81-B4CA-DC4B-82C7-07E3A9A8D2A2}" sibTransId="{EFE05F59-DA27-C04D-A33F-E1F83FAFF927}"/>
    <dgm:cxn modelId="{FEB9CC0B-F14B-2445-82BA-2566F63D5FD3}" srcId="{36FCCCF9-9DFC-E14C-8C2B-221528520239}" destId="{50529789-6BFA-2644-B3EB-B93E62FF8DAE}" srcOrd="0" destOrd="0" parTransId="{7D342F99-8965-8B4F-BD8E-DF5086D03850}" sibTransId="{C4C26D01-3A7E-0543-B16A-1C84EF933F55}"/>
    <dgm:cxn modelId="{4F04920E-4DA1-824D-BC0F-5E76DC1A1CF6}" type="presOf" srcId="{537F248A-37EC-264D-9D56-01E275CA54B2}" destId="{2ED38B7F-45F2-A24E-97FF-7685EF72238A}" srcOrd="0" destOrd="3" presId="urn:microsoft.com/office/officeart/2005/8/layout/hList1"/>
    <dgm:cxn modelId="{3357E40E-C6D6-8045-B046-D6EA90070320}" type="presOf" srcId="{B7E96974-7F20-D14F-8670-297A1AE58525}" destId="{78E126F3-DF19-614F-A7D3-4C72634A9362}" srcOrd="0" destOrd="8" presId="urn:microsoft.com/office/officeart/2005/8/layout/hList1"/>
    <dgm:cxn modelId="{34061610-2686-F046-A1A2-31D1650A1921}" type="presOf" srcId="{8E00836B-7B05-6E4A-BCF4-DE27C0954D5B}" destId="{2ED38B7F-45F2-A24E-97FF-7685EF72238A}" srcOrd="0" destOrd="1" presId="urn:microsoft.com/office/officeart/2005/8/layout/hList1"/>
    <dgm:cxn modelId="{9B5F7813-751A-E742-B9EA-1B7E2B4BFD05}" srcId="{E637EB8D-E37E-F643-8E19-79949C004037}" destId="{D3A72773-1594-4741-8CD5-F656A504E3C3}" srcOrd="0" destOrd="0" parTransId="{604E6820-9716-E441-8C5E-BCA23ADE8138}" sibTransId="{2D7AB2D5-7268-CE4B-8A5F-AD6C96CE1065}"/>
    <dgm:cxn modelId="{114C1F25-C404-5142-ADD4-3F1EA1B3B0F2}" type="presOf" srcId="{D3A72773-1594-4741-8CD5-F656A504E3C3}" destId="{2ED38B7F-45F2-A24E-97FF-7685EF72238A}" srcOrd="0" destOrd="0" presId="urn:microsoft.com/office/officeart/2005/8/layout/hList1"/>
    <dgm:cxn modelId="{F2283325-BDD6-294B-908F-42004447A80D}" type="presOf" srcId="{DB164036-09E3-E94F-94DD-29A900BCB706}" destId="{78E126F3-DF19-614F-A7D3-4C72634A9362}" srcOrd="0" destOrd="2" presId="urn:microsoft.com/office/officeart/2005/8/layout/hList1"/>
    <dgm:cxn modelId="{FABC1D2D-6F4D-3B4E-AA19-ABAADCD536E1}" srcId="{C16B2844-DEFD-3C47-91D0-7F738A7B2450}" destId="{E5AF79CA-B82B-2743-B477-C1F64D607A1A}" srcOrd="0" destOrd="0" parTransId="{D1A36FBA-3CAA-F24E-A3E8-A6480C61033B}" sibTransId="{8E5DA9CF-E36C-1447-AF85-5830AE724377}"/>
    <dgm:cxn modelId="{C6BA1A31-EE26-FA48-B5FB-809C386473B2}" type="presOf" srcId="{204B4C1F-60CF-FC42-AE70-014A7F6D73E4}" destId="{2ED38B7F-45F2-A24E-97FF-7685EF72238A}" srcOrd="0" destOrd="11" presId="urn:microsoft.com/office/officeart/2005/8/layout/hList1"/>
    <dgm:cxn modelId="{72CD9533-846B-EA44-AC90-690EFB3D9D7D}" type="presOf" srcId="{50529789-6BFA-2644-B3EB-B93E62FF8DAE}" destId="{78E126F3-DF19-614F-A7D3-4C72634A9362}" srcOrd="0" destOrd="1" presId="urn:microsoft.com/office/officeart/2005/8/layout/hList1"/>
    <dgm:cxn modelId="{42F1C638-6559-0142-B549-FD25BD999D2D}" srcId="{FCAE7B93-812F-9646-BCCC-7F06D779381E}" destId="{C70C71F6-BF13-7143-9DA3-5C41BFE61F97}" srcOrd="4" destOrd="0" parTransId="{A90635AE-D489-074B-97D9-578FB7AD020E}" sibTransId="{988CBDEC-5090-FE4B-9039-F090B05B0045}"/>
    <dgm:cxn modelId="{F547433C-D542-7742-AB29-BED41C170401}" type="presOf" srcId="{C70C71F6-BF13-7143-9DA3-5C41BFE61F97}" destId="{78E126F3-DF19-614F-A7D3-4C72634A9362}" srcOrd="0" destOrd="9" presId="urn:microsoft.com/office/officeart/2005/8/layout/hList1"/>
    <dgm:cxn modelId="{8A1F9540-519E-5B42-A739-60B2F11E3665}" srcId="{E637EB8D-E37E-F643-8E19-79949C004037}" destId="{C7476E2B-5222-2146-8FA6-5C67E9CCCDB2}" srcOrd="3" destOrd="0" parTransId="{9124D8F8-0433-1545-852A-65BC2DD4011C}" sibTransId="{E9D1BE08-1F44-9D4E-841A-36567F807B39}"/>
    <dgm:cxn modelId="{E97B8849-9FBC-5349-9245-EE9FB603268F}" type="presOf" srcId="{C95F9121-7836-EB4E-BAFB-F80203311E33}" destId="{066B1BCA-F84F-404B-95AC-62196A37E9AC}" srcOrd="0" destOrd="0" presId="urn:microsoft.com/office/officeart/2005/8/layout/hList1"/>
    <dgm:cxn modelId="{3E2BB84C-C262-F54F-BF1C-9BCEA353255F}" srcId="{E637EB8D-E37E-F643-8E19-79949C004037}" destId="{C16B2844-DEFD-3C47-91D0-7F738A7B2450}" srcOrd="2" destOrd="0" parTransId="{7BB0CDD8-BA6F-5F4A-A1C5-E8959C36F6B8}" sibTransId="{CE632B66-6D36-4C42-B6EF-15705A0BE739}"/>
    <dgm:cxn modelId="{31A0FB4C-764D-CB40-A40A-78966A035AE4}" srcId="{FCAE7B93-812F-9646-BCCC-7F06D779381E}" destId="{E4DEDA2C-DD44-DB45-ABA4-6B3C0D3DA02D}" srcOrd="1" destOrd="0" parTransId="{DD5ED29C-9323-A143-8566-DA41C7F7D45D}" sibTransId="{DDA530AD-F8F6-A94B-94EB-4800F0338245}"/>
    <dgm:cxn modelId="{B7BB5962-A250-A949-A536-D6BC177E9281}" srcId="{E637EB8D-E37E-F643-8E19-79949C004037}" destId="{FA2D7E95-86A3-874A-9EF5-4470DE89E10A}" srcOrd="1" destOrd="0" parTransId="{91437E3F-0B9F-7D4A-9332-E41EE9B607DC}" sibTransId="{E8CB5361-3AC7-8943-A0F2-87BBEB919FAD}"/>
    <dgm:cxn modelId="{CB1EC467-A810-084A-8559-DB8E491A4A25}" type="presOf" srcId="{C16B2844-DEFD-3C47-91D0-7F738A7B2450}" destId="{2ED38B7F-45F2-A24E-97FF-7685EF72238A}" srcOrd="0" destOrd="5" presId="urn:microsoft.com/office/officeart/2005/8/layout/hList1"/>
    <dgm:cxn modelId="{0E8BE369-3D72-A04D-B1E7-0D43D254B1CA}" srcId="{FCAE7B93-812F-9646-BCCC-7F06D779381E}" destId="{40B71309-C497-B64E-9851-DE884A810A5D}" srcOrd="0" destOrd="0" parTransId="{9D687499-187D-404D-BC27-ED1A677796D9}" sibTransId="{C5F476B7-EC6F-8243-9DAF-775FF07B849A}"/>
    <dgm:cxn modelId="{B399026B-0FE9-6C45-99CC-90E5C1EDCEB9}" srcId="{FCAE7B93-812F-9646-BCCC-7F06D779381E}" destId="{B7E96974-7F20-D14F-8670-297A1AE58525}" srcOrd="3" destOrd="0" parTransId="{D639C840-71B4-3740-8C2A-C6F55102683F}" sibTransId="{ED1DBC68-7A44-9444-BABF-F25CACC4047D}"/>
    <dgm:cxn modelId="{5D22356C-B14E-214D-B67D-6E35FA579208}" type="presOf" srcId="{C713B7BB-DB1F-6C42-91AD-A0F6AD04C989}" destId="{78E126F3-DF19-614F-A7D3-4C72634A9362}" srcOrd="0" destOrd="7" presId="urn:microsoft.com/office/officeart/2005/8/layout/hList1"/>
    <dgm:cxn modelId="{7348D86C-D0C4-1B4F-AE42-969960728D4D}" type="presOf" srcId="{AC0E3113-597F-1747-8CD3-386822A37625}" destId="{2ED38B7F-45F2-A24E-97FF-7685EF72238A}" srcOrd="0" destOrd="9" presId="urn:microsoft.com/office/officeart/2005/8/layout/hList1"/>
    <dgm:cxn modelId="{5BEFAD71-6FF7-574F-8B36-F75A168EA47E}" type="presOf" srcId="{C7476E2B-5222-2146-8FA6-5C67E9CCCDB2}" destId="{2ED38B7F-45F2-A24E-97FF-7685EF72238A}" srcOrd="0" destOrd="7" presId="urn:microsoft.com/office/officeart/2005/8/layout/hList1"/>
    <dgm:cxn modelId="{33C30E72-0933-584A-92B7-FB0A73A3AA1F}" srcId="{2CD76DA0-802A-EE43-99D3-B217E1184717}" destId="{E637EB8D-E37E-F643-8E19-79949C004037}" srcOrd="0" destOrd="0" parTransId="{F1459906-3439-5043-AA39-BC16C4CD90AA}" sibTransId="{B741E642-2157-4843-A947-6B3700F215DD}"/>
    <dgm:cxn modelId="{7D07C573-8533-E24B-A623-2B38F6A1717D}" type="presOf" srcId="{E637EB8D-E37E-F643-8E19-79949C004037}" destId="{383CA967-D8CB-8848-BE7D-586401571967}" srcOrd="0" destOrd="0" presId="urn:microsoft.com/office/officeart/2005/8/layout/hList1"/>
    <dgm:cxn modelId="{292B837D-D96E-FA4C-8E69-11CB3DE8C396}" srcId="{D3A72773-1594-4741-8CD5-F656A504E3C3}" destId="{8E00836B-7B05-6E4A-BCF4-DE27C0954D5B}" srcOrd="0" destOrd="0" parTransId="{DAD0694D-40B4-B844-BC3E-EBA6489D24C9}" sibTransId="{49A3C63B-4B60-EA4B-B04E-98993B7D2098}"/>
    <dgm:cxn modelId="{67A3BD83-49B8-914B-AC01-A992AB193D4B}" srcId="{2CD76DA0-802A-EE43-99D3-B217E1184717}" destId="{C95F9121-7836-EB4E-BAFB-F80203311E33}" srcOrd="1" destOrd="0" parTransId="{3FEE0C1E-255E-B243-8BBB-FEAEC02EAD98}" sibTransId="{33292BF6-BBA4-2341-975C-5AB209244C08}"/>
    <dgm:cxn modelId="{4F853D87-0719-BB48-852B-B24038238EE1}" srcId="{82C155B4-E5ED-814A-85A6-535E5CC65137}" destId="{DB84401D-C17A-F24A-BB23-E4E5E3FD588A}" srcOrd="0" destOrd="0" parTransId="{EBEDB9A3-D8C7-5440-AC22-20ED938C3B20}" sibTransId="{4C72BCD3-9740-0A4B-9B13-4EF7D2319FCA}"/>
    <dgm:cxn modelId="{4CB9C58F-E2B5-BC47-997C-3D5AE856D469}" srcId="{C95F9121-7836-EB4E-BAFB-F80203311E33}" destId="{A9325D94-80A5-3F40-84A3-6DB2AC6B8E31}" srcOrd="1" destOrd="0" parTransId="{CA6A21D5-CEBF-4D41-BF95-F92A72DEAC37}" sibTransId="{76079E29-1F25-AB4F-A44D-B7EA10DE0A44}"/>
    <dgm:cxn modelId="{C3DF2B96-18B4-E64D-A85F-5F79F0C7C2B9}" type="presOf" srcId="{FA2D7E95-86A3-874A-9EF5-4470DE89E10A}" destId="{2ED38B7F-45F2-A24E-97FF-7685EF72238A}" srcOrd="0" destOrd="4" presId="urn:microsoft.com/office/officeart/2005/8/layout/hList1"/>
    <dgm:cxn modelId="{A5EB1C97-923D-4E4D-A654-5C27B4736811}" type="presOf" srcId="{82C155B4-E5ED-814A-85A6-535E5CC65137}" destId="{3BE2A35F-1F04-D745-B579-5FE8FF976D13}" srcOrd="0" destOrd="0" presId="urn:microsoft.com/office/officeart/2005/8/layout/hList1"/>
    <dgm:cxn modelId="{E7E1CF9A-02F9-B74F-A47E-40DBDD43E55C}" type="presOf" srcId="{40B71309-C497-B64E-9851-DE884A810A5D}" destId="{78E126F3-DF19-614F-A7D3-4C72634A9362}" srcOrd="0" destOrd="5" presId="urn:microsoft.com/office/officeart/2005/8/layout/hList1"/>
    <dgm:cxn modelId="{1593B19D-94E8-794D-905B-7F4B6BB1D6E3}" srcId="{E637EB8D-E37E-F643-8E19-79949C004037}" destId="{CF6741C3-ECCD-BD4E-900B-531877EDA99C}" srcOrd="4" destOrd="0" parTransId="{1F6EB29C-103B-7640-BA06-AEA9052BFD94}" sibTransId="{6F7EA13F-27D7-6043-A0F4-E11A86F6D28F}"/>
    <dgm:cxn modelId="{74BDB4A4-F4F5-7D44-9437-983DDBA19659}" srcId="{C95F9121-7836-EB4E-BAFB-F80203311E33}" destId="{FCAE7B93-812F-9646-BCCC-7F06D779381E}" srcOrd="2" destOrd="0" parTransId="{F483B0DB-2217-FE4F-84BE-CC4850EA67BB}" sibTransId="{4A70D587-558B-E84B-87E5-748F066DC3A3}"/>
    <dgm:cxn modelId="{730B06AB-BC7E-6540-B318-80A0E8965F0C}" srcId="{D3A72773-1594-4741-8CD5-F656A504E3C3}" destId="{42BB8436-830E-7443-8671-BE328C4E226B}" srcOrd="1" destOrd="0" parTransId="{B772655B-55C5-754A-8130-F2F7DEDB63B3}" sibTransId="{B61007A2-5145-D645-BA52-934FC087AF61}"/>
    <dgm:cxn modelId="{D35102B5-D1F6-584A-96F8-5684799F897A}" type="presOf" srcId="{2CD76DA0-802A-EE43-99D3-B217E1184717}" destId="{5D0A2296-80A2-134E-934B-BD79472DDE1A}" srcOrd="0" destOrd="0" presId="urn:microsoft.com/office/officeart/2005/8/layout/hList1"/>
    <dgm:cxn modelId="{90FD04BE-3FB2-C44D-9DFE-9131F6B4EF1E}" srcId="{D3A72773-1594-4741-8CD5-F656A504E3C3}" destId="{537F248A-37EC-264D-9D56-01E275CA54B2}" srcOrd="2" destOrd="0" parTransId="{CBEF9B7D-93A0-A74F-BCC3-DFEBA61A5E3E}" sibTransId="{54AA2F2B-6A26-F240-AFDD-B4FBE503D64D}"/>
    <dgm:cxn modelId="{FB2AA9C5-251C-854D-BA77-AABF40824749}" srcId="{2CD76DA0-802A-EE43-99D3-B217E1184717}" destId="{82C155B4-E5ED-814A-85A6-535E5CC65137}" srcOrd="2" destOrd="0" parTransId="{EE32C08E-08E4-B048-AC11-BC41F54C1EB1}" sibTransId="{0589E78B-A3A7-204A-ACC9-FBC284EC5291}"/>
    <dgm:cxn modelId="{B7A439C7-4AFC-BF49-BC43-C7C0FBFB5E28}" srcId="{CF6741C3-ECCD-BD4E-900B-531877EDA99C}" destId="{204B4C1F-60CF-FC42-AE70-014A7F6D73E4}" srcOrd="2" destOrd="0" parTransId="{BF6073C3-BC3B-184D-A3E5-60413F508AB2}" sibTransId="{1E146928-93A9-6942-86E9-519648C2093E}"/>
    <dgm:cxn modelId="{608615CB-F3BF-D447-B0D7-691E11AA58CD}" type="presOf" srcId="{CF6741C3-ECCD-BD4E-900B-531877EDA99C}" destId="{2ED38B7F-45F2-A24E-97FF-7685EF72238A}" srcOrd="0" destOrd="8" presId="urn:microsoft.com/office/officeart/2005/8/layout/hList1"/>
    <dgm:cxn modelId="{A11C32CF-E678-914D-A693-D7E691C4BB4F}" type="presOf" srcId="{DB84401D-C17A-F24A-BB23-E4E5E3FD588A}" destId="{31883603-1C8F-6849-B1B4-B744634910ED}" srcOrd="0" destOrd="0" presId="urn:microsoft.com/office/officeart/2005/8/layout/hList1"/>
    <dgm:cxn modelId="{6E0C17D1-8CB4-B244-8528-258765354155}" type="presOf" srcId="{E5AF79CA-B82B-2743-B477-C1F64D607A1A}" destId="{2ED38B7F-45F2-A24E-97FF-7685EF72238A}" srcOrd="0" destOrd="6" presId="urn:microsoft.com/office/officeart/2005/8/layout/hList1"/>
    <dgm:cxn modelId="{C40F83E1-25FB-854D-A479-C27AB4049027}" srcId="{36FCCCF9-9DFC-E14C-8C2B-221528520239}" destId="{DB164036-09E3-E94F-94DD-29A900BCB706}" srcOrd="1" destOrd="0" parTransId="{4849DF9D-20C6-0E41-918E-60A3B64C51BE}" sibTransId="{C88D3256-B4A5-D444-A644-94F13A4D74CF}"/>
    <dgm:cxn modelId="{ED37A9E2-10F8-9F4D-9121-6AB8DFF1A46C}" srcId="{FCAE7B93-812F-9646-BCCC-7F06D779381E}" destId="{C713B7BB-DB1F-6C42-91AD-A0F6AD04C989}" srcOrd="2" destOrd="0" parTransId="{8DACF831-3984-CD49-A0BC-B455F2449663}" sibTransId="{815DE90E-5E5E-C84B-B575-AFE58CB12A34}"/>
    <dgm:cxn modelId="{B02633E3-EFF5-6240-A010-AA7BBFC1B658}" type="presOf" srcId="{FCAE7B93-812F-9646-BCCC-7F06D779381E}" destId="{78E126F3-DF19-614F-A7D3-4C72634A9362}" srcOrd="0" destOrd="4" presId="urn:microsoft.com/office/officeart/2005/8/layout/hList1"/>
    <dgm:cxn modelId="{7F91A9E3-6192-064D-81FD-7583D9474131}" type="presOf" srcId="{36FCCCF9-9DFC-E14C-8C2B-221528520239}" destId="{78E126F3-DF19-614F-A7D3-4C72634A9362}" srcOrd="0" destOrd="0" presId="urn:microsoft.com/office/officeart/2005/8/layout/hList1"/>
    <dgm:cxn modelId="{BBCAC0E8-B294-C84E-BBB7-A4705E01B467}" type="presOf" srcId="{7059F6AC-1DE3-C047-A889-31C050D37867}" destId="{2ED38B7F-45F2-A24E-97FF-7685EF72238A}" srcOrd="0" destOrd="10" presId="urn:microsoft.com/office/officeart/2005/8/layout/hList1"/>
    <dgm:cxn modelId="{F5FF15EF-A185-C644-98BC-09D8225F9381}" type="presOf" srcId="{A9325D94-80A5-3F40-84A3-6DB2AC6B8E31}" destId="{78E126F3-DF19-614F-A7D3-4C72634A9362}" srcOrd="0" destOrd="3" presId="urn:microsoft.com/office/officeart/2005/8/layout/hList1"/>
    <dgm:cxn modelId="{99E63FF4-D198-6142-950C-F2EC8836ABF0}" type="presOf" srcId="{42BB8436-830E-7443-8671-BE328C4E226B}" destId="{2ED38B7F-45F2-A24E-97FF-7685EF72238A}" srcOrd="0" destOrd="2" presId="urn:microsoft.com/office/officeart/2005/8/layout/hList1"/>
    <dgm:cxn modelId="{4311F0F6-1A28-3F46-9FCC-47D6BCEDFC97}" srcId="{CF6741C3-ECCD-BD4E-900B-531877EDA99C}" destId="{AC0E3113-597F-1747-8CD3-386822A37625}" srcOrd="0" destOrd="0" parTransId="{AA3BD577-7D79-7F45-AB7B-15717962077E}" sibTransId="{B0130299-2EED-2940-A759-9E5AA922BA17}"/>
    <dgm:cxn modelId="{AAAECEFA-0665-E64E-8974-1B4895F039B8}" srcId="{CF6741C3-ECCD-BD4E-900B-531877EDA99C}" destId="{7059F6AC-1DE3-C047-A889-31C050D37867}" srcOrd="1" destOrd="0" parTransId="{BF8F71FE-515A-574D-B5CF-0E3F07D6CECA}" sibTransId="{EC3812A1-6EF7-4644-9135-A94D87691688}"/>
    <dgm:cxn modelId="{28DC0253-BE5D-2344-9CE9-9C65CAC12A63}" type="presParOf" srcId="{5D0A2296-80A2-134E-934B-BD79472DDE1A}" destId="{AB2BEA6A-7F47-C74A-A15F-E90E10E4DA6D}" srcOrd="0" destOrd="0" presId="urn:microsoft.com/office/officeart/2005/8/layout/hList1"/>
    <dgm:cxn modelId="{1ACE2B54-C027-154D-BCEE-9E6BDC998AB7}" type="presParOf" srcId="{AB2BEA6A-7F47-C74A-A15F-E90E10E4DA6D}" destId="{383CA967-D8CB-8848-BE7D-586401571967}" srcOrd="0" destOrd="0" presId="urn:microsoft.com/office/officeart/2005/8/layout/hList1"/>
    <dgm:cxn modelId="{A200EF20-7003-2046-91DA-43063F933B42}" type="presParOf" srcId="{AB2BEA6A-7F47-C74A-A15F-E90E10E4DA6D}" destId="{2ED38B7F-45F2-A24E-97FF-7685EF72238A}" srcOrd="1" destOrd="0" presId="urn:microsoft.com/office/officeart/2005/8/layout/hList1"/>
    <dgm:cxn modelId="{26172C82-8DC5-FA4B-BFCA-194990BE519C}" type="presParOf" srcId="{5D0A2296-80A2-134E-934B-BD79472DDE1A}" destId="{96A44A49-DAEA-6642-A2BF-BBB1B8051464}" srcOrd="1" destOrd="0" presId="urn:microsoft.com/office/officeart/2005/8/layout/hList1"/>
    <dgm:cxn modelId="{B50319DC-848A-4646-A548-9C2E6A6F7B2F}" type="presParOf" srcId="{5D0A2296-80A2-134E-934B-BD79472DDE1A}" destId="{885D26F7-F58D-5448-8DD1-F9EFCD84489A}" srcOrd="2" destOrd="0" presId="urn:microsoft.com/office/officeart/2005/8/layout/hList1"/>
    <dgm:cxn modelId="{C3F4AB06-AB6F-6841-BD81-1D5144057276}" type="presParOf" srcId="{885D26F7-F58D-5448-8DD1-F9EFCD84489A}" destId="{066B1BCA-F84F-404B-95AC-62196A37E9AC}" srcOrd="0" destOrd="0" presId="urn:microsoft.com/office/officeart/2005/8/layout/hList1"/>
    <dgm:cxn modelId="{05B3362C-C58E-F946-B8AC-4C0600519910}" type="presParOf" srcId="{885D26F7-F58D-5448-8DD1-F9EFCD84489A}" destId="{78E126F3-DF19-614F-A7D3-4C72634A9362}" srcOrd="1" destOrd="0" presId="urn:microsoft.com/office/officeart/2005/8/layout/hList1"/>
    <dgm:cxn modelId="{3B2D7B02-63E9-0847-B8B5-FA6A8EEB4ECA}" type="presParOf" srcId="{5D0A2296-80A2-134E-934B-BD79472DDE1A}" destId="{4118479B-6B23-BD4E-9AC6-FBB6135C6433}" srcOrd="3" destOrd="0" presId="urn:microsoft.com/office/officeart/2005/8/layout/hList1"/>
    <dgm:cxn modelId="{AA0C137C-CF28-F14D-A4DE-31866CFCE998}" type="presParOf" srcId="{5D0A2296-80A2-134E-934B-BD79472DDE1A}" destId="{738E674B-2849-3F47-A202-A9358635885D}" srcOrd="4" destOrd="0" presId="urn:microsoft.com/office/officeart/2005/8/layout/hList1"/>
    <dgm:cxn modelId="{2248EC44-85CF-5A42-A9AF-FD1A41DCF157}" type="presParOf" srcId="{738E674B-2849-3F47-A202-A9358635885D}" destId="{3BE2A35F-1F04-D745-B579-5FE8FF976D13}" srcOrd="0" destOrd="0" presId="urn:microsoft.com/office/officeart/2005/8/layout/hList1"/>
    <dgm:cxn modelId="{B9C6157D-E6F5-C349-9BED-9C5B8B13FE27}" type="presParOf" srcId="{738E674B-2849-3F47-A202-A9358635885D}" destId="{31883603-1C8F-6849-B1B4-B744634910E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3CA967-D8CB-8848-BE7D-586401571967}">
      <dsp:nvSpPr>
        <dsp:cNvPr id="0" name=""/>
        <dsp:cNvSpPr/>
      </dsp:nvSpPr>
      <dsp:spPr>
        <a:xfrm>
          <a:off x="3245" y="805158"/>
          <a:ext cx="3164467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kern="1200" noProof="0" dirty="0">
              <a:solidFill>
                <a:srgbClr val="333333"/>
              </a:solidFill>
            </a:rPr>
            <a:t>packages/pac0 </a:t>
          </a:r>
          <a:endParaRPr lang="fr-FR" sz="1500" kern="1200" dirty="0"/>
        </a:p>
      </dsp:txBody>
      <dsp:txXfrm>
        <a:off x="3245" y="805158"/>
        <a:ext cx="3164467" cy="432000"/>
      </dsp:txXfrm>
    </dsp:sp>
    <dsp:sp modelId="{2ED38B7F-45F2-A24E-97FF-7685EF72238A}">
      <dsp:nvSpPr>
        <dsp:cNvPr id="0" name=""/>
        <dsp:cNvSpPr/>
      </dsp:nvSpPr>
      <dsp:spPr>
        <a:xfrm>
          <a:off x="3245" y="1237158"/>
          <a:ext cx="3164467" cy="3376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 dirty="0">
              <a:solidFill>
                <a:srgbClr val="333333"/>
              </a:solidFill>
            </a:rPr>
            <a:t>Implémentation de référence</a:t>
          </a:r>
          <a:endParaRPr lang="fr-FR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1 service FastAPI : 01-api-gateway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8 services FastStream : 03 a 09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Communication via NATS (JetStream)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>
              <a:solidFill>
                <a:srgbClr val="333333"/>
              </a:solidFill>
            </a:rPr>
            <a:t>Structure d'un service</a:t>
          </a:r>
          <a:endParaRPr lang="fr-FR" sz="1500" b="1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src/pac0/service/&lt;nom&gt;/main.py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>
              <a:solidFill>
                <a:srgbClr val="333333"/>
              </a:solidFill>
            </a:rPr>
            <a:t>Fixtures de test partagees</a:t>
          </a:r>
          <a:endParaRPr lang="fr-FR" sz="1500" b="1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src/pac0/shared/test/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WorldContext, PacServiceContext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 dirty="0" err="1">
              <a:solidFill>
                <a:srgbClr val="333333"/>
              </a:solidFill>
            </a:rPr>
            <a:t>NatsServiceContext</a:t>
          </a:r>
          <a:endParaRPr lang="fr-FR" sz="1500" b="0" kern="1200" noProof="0" dirty="0">
            <a:solidFill>
              <a:srgbClr val="333333"/>
            </a:solidFill>
          </a:endParaRPr>
        </a:p>
      </dsp:txBody>
      <dsp:txXfrm>
        <a:off x="3245" y="1237158"/>
        <a:ext cx="3164467" cy="3376350"/>
      </dsp:txXfrm>
    </dsp:sp>
    <dsp:sp modelId="{066B1BCA-F84F-404B-95AC-62196A37E9AC}">
      <dsp:nvSpPr>
        <dsp:cNvPr id="0" name=""/>
        <dsp:cNvSpPr/>
      </dsp:nvSpPr>
      <dsp:spPr>
        <a:xfrm>
          <a:off x="3610738" y="805158"/>
          <a:ext cx="3164467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kern="1200" noProof="0" dirty="0">
              <a:solidFill>
                <a:srgbClr val="333333"/>
              </a:solidFill>
            </a:rPr>
            <a:t>packages/</a:t>
          </a:r>
          <a:r>
            <a:rPr lang="fr-FR" sz="1500" b="1" kern="1200" noProof="0" dirty="0" err="1">
              <a:solidFill>
                <a:srgbClr val="333333"/>
              </a:solidFill>
            </a:rPr>
            <a:t>pac-bdd</a:t>
          </a:r>
          <a:r>
            <a:rPr lang="fr-FR" sz="1500" b="1" kern="1200" noProof="0" dirty="0">
              <a:solidFill>
                <a:srgbClr val="333333"/>
              </a:solidFill>
            </a:rPr>
            <a:t> </a:t>
          </a:r>
          <a:endParaRPr lang="fr-FR" sz="1500" kern="1200" dirty="0"/>
        </a:p>
      </dsp:txBody>
      <dsp:txXfrm>
        <a:off x="3610738" y="805158"/>
        <a:ext cx="3164467" cy="432000"/>
      </dsp:txXfrm>
    </dsp:sp>
    <dsp:sp modelId="{78E126F3-DF19-614F-A7D3-4C72634A9362}">
      <dsp:nvSpPr>
        <dsp:cNvPr id="0" name=""/>
        <dsp:cNvSpPr/>
      </dsp:nvSpPr>
      <dsp:spPr>
        <a:xfrm>
          <a:off x="3610738" y="1237158"/>
          <a:ext cx="3164467" cy="3376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 dirty="0">
              <a:solidFill>
                <a:srgbClr val="333333"/>
              </a:solidFill>
            </a:rPr>
            <a:t>Tests BDD</a:t>
          </a:r>
          <a:endParaRPr lang="fr-FR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Point d'entree : test_scenario.py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Charge tous les .feature du projet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>
              <a:solidFill>
                <a:srgbClr val="333333"/>
              </a:solidFill>
            </a:rPr>
            <a:t>Step definitions</a:t>
          </a:r>
          <a:endParaRPr lang="fr-FR" sz="1500" b="1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src/pac_bdd/api.py : appels REST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src/pac_bdd/peppol.py : routage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src/pac_bdd/service.py : services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src/pac_bdd/esb.py : bus de messages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 dirty="0" err="1">
              <a:solidFill>
                <a:srgbClr val="333333"/>
              </a:solidFill>
            </a:rPr>
            <a:t>steps.py</a:t>
          </a:r>
          <a:r>
            <a:rPr lang="fr-FR" sz="1500" b="0" kern="1200" noProof="0" dirty="0">
              <a:solidFill>
                <a:srgbClr val="333333"/>
              </a:solidFill>
            </a:rPr>
            <a:t> : import central</a:t>
          </a:r>
        </a:p>
      </dsp:txBody>
      <dsp:txXfrm>
        <a:off x="3610738" y="1237158"/>
        <a:ext cx="3164467" cy="3376350"/>
      </dsp:txXfrm>
    </dsp:sp>
    <dsp:sp modelId="{3BE2A35F-1F04-D745-B579-5FE8FF976D13}">
      <dsp:nvSpPr>
        <dsp:cNvPr id="0" name=""/>
        <dsp:cNvSpPr/>
      </dsp:nvSpPr>
      <dsp:spPr>
        <a:xfrm>
          <a:off x="7218231" y="805158"/>
          <a:ext cx="3164467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kern="1200" noProof="0" dirty="0">
              <a:solidFill>
                <a:srgbClr val="333333"/>
              </a:solidFill>
            </a:rPr>
            <a:t>packages/pac0-cli</a:t>
          </a:r>
          <a:endParaRPr lang="fr-FR" sz="1500" kern="1200" dirty="0"/>
        </a:p>
      </dsp:txBody>
      <dsp:txXfrm>
        <a:off x="7218231" y="805158"/>
        <a:ext cx="3164467" cy="432000"/>
      </dsp:txXfrm>
    </dsp:sp>
    <dsp:sp modelId="{31883603-1C8F-6849-B1B4-B744634910ED}">
      <dsp:nvSpPr>
        <dsp:cNvPr id="0" name=""/>
        <dsp:cNvSpPr/>
      </dsp:nvSpPr>
      <dsp:spPr>
        <a:xfrm>
          <a:off x="7218231" y="1237158"/>
          <a:ext cx="3164467" cy="3376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uvx pac0-cli@latest run &lt;N&gt;</a:t>
          </a:r>
          <a:endParaRPr lang="fr-FR" sz="1500" kern="1200" dirty="0"/>
        </a:p>
      </dsp:txBody>
      <dsp:txXfrm>
        <a:off x="7218231" y="1237158"/>
        <a:ext cx="3164467" cy="33763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Cliquez pour déplacer la diapo</a:t>
            </a: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43C418D-AEF3-43FA-B9D3-A95BED076606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2CAA1A-D788-49E6-9476-D6734B6B24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BF1EBE-F09D-491A-90B3-050D7E0D11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8D3A4DD-A734-470A-B962-644308E0CC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31CCF16-412E-4D2C-A2D7-C8DE67D11A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153DC75-FCBD-41CA-9AE7-627474DAF7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8996C10-01D4-4F34-9CA7-7BFD060E2B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E11FE64-2AA2-41F8-ABE1-F7A0E9573D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6C5B683-6391-4AD0-A7F9-5D4A6E5E66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ACAFC89E-79A7-4272-9876-7A22D45715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1FA41A6-E13B-4255-B71C-3622847896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1F71AB0-9435-4C32-9096-6D6CE4D43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56C3A9A-0649-4962-9016-205CFBE878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1143000"/>
            <a:ext cx="10362960" cy="228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fr-FR" sz="5400" spc="-1" strike="noStrike">
                <a:solidFill>
                  <a:srgbClr val="484848"/>
                </a:solidFill>
                <a:latin typeface="Trebuchet MS"/>
              </a:rPr>
              <a:t>Modifiez le style du titre</a:t>
            </a:r>
            <a:endParaRPr b="0" lang="fr-FR" sz="5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C3E032-0F65-4A85-8334-A467ED301FAE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5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" name="Picture 2" descr="PDP Libre"/>
          <p:cNvPicPr/>
          <p:nvPr/>
        </p:nvPicPr>
        <p:blipFill>
          <a:blip r:embed="rId2"/>
          <a:stretch/>
        </p:blipFill>
        <p:spPr>
          <a:xfrm>
            <a:off x="4913640" y="4899600"/>
            <a:ext cx="2364480" cy="103140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éditer le </a:t>
            </a: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format du plan de texte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Second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Troisième niveau de plan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 de plan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Cinquième niveau de </a:t>
            </a: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Sixième niveau de </a:t>
            </a: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Septième </a:t>
            </a: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44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9F6374-8BFE-4FCB-95BC-3F134B9C50EB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44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B91A4A-F663-466C-A019-C27FB69A7515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44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7BF4DE-D004-4CDA-A88E-A7841DD534EF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8" name="Picture 2" descr="PDP Libre"/>
          <p:cNvPicPr/>
          <p:nvPr/>
        </p:nvPicPr>
        <p:blipFill>
          <a:blip r:embed="rId2"/>
          <a:stretch/>
        </p:blipFill>
        <p:spPr>
          <a:xfrm>
            <a:off x="10426680" y="396720"/>
            <a:ext cx="1396800" cy="6091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60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Cliquez pour modifier les styles du texte du masque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AC8012-025F-48C9-AA39-9B679463F442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44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13CD52-244E-4940-B90F-6973B5F1461B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Picture 2" descr="PDP Libre"/>
          <p:cNvPicPr/>
          <p:nvPr/>
        </p:nvPicPr>
        <p:blipFill>
          <a:blip r:embed="rId2"/>
          <a:stretch/>
        </p:blipFill>
        <p:spPr>
          <a:xfrm>
            <a:off x="10477440" y="414720"/>
            <a:ext cx="1396800" cy="6091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44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94BF59-71F2-49F9-91E1-5F5244154829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3" name="Picture 2" descr="PDP Libre"/>
          <p:cNvPicPr/>
          <p:nvPr/>
        </p:nvPicPr>
        <p:blipFill>
          <a:blip r:embed="rId2"/>
          <a:stretch/>
        </p:blipFill>
        <p:spPr>
          <a:xfrm>
            <a:off x="10477440" y="414720"/>
            <a:ext cx="1396800" cy="6091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44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6B1BF6-21AA-4933-933A-998F8B0908AB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1" name="Picture 2" descr="PDP Libre"/>
          <p:cNvPicPr/>
          <p:nvPr/>
        </p:nvPicPr>
        <p:blipFill>
          <a:blip r:embed="rId2"/>
          <a:stretch/>
        </p:blipFill>
        <p:spPr>
          <a:xfrm>
            <a:off x="10477440" y="414720"/>
            <a:ext cx="1396800" cy="609120"/>
          </a:xfrm>
          <a:prstGeom prst="rect">
            <a:avLst/>
          </a:prstGeom>
          <a:ln w="0">
            <a:noFill/>
          </a:ln>
        </p:spPr>
      </p:pic>
      <p:sp>
        <p:nvSpPr>
          <p:cNvPr id="8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éditer le format du plan de texte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Second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Troisième niveau de plan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 de plan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Cinquième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Sixième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Septième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5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AA0788-AA09-4021-8734-297C03616ED0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0" name="Picture 2" descr="PDP Libre"/>
          <p:cNvPicPr/>
          <p:nvPr/>
        </p:nvPicPr>
        <p:blipFill>
          <a:blip r:embed="rId2"/>
          <a:stretch/>
        </p:blipFill>
        <p:spPr>
          <a:xfrm>
            <a:off x="10477440" y="414720"/>
            <a:ext cx="1396800" cy="609120"/>
          </a:xfrm>
          <a:prstGeom prst="rect">
            <a:avLst/>
          </a:prstGeom>
          <a:ln w="0">
            <a:noFill/>
          </a:ln>
        </p:spPr>
      </p:pic>
      <p:sp>
        <p:nvSpPr>
          <p:cNvPr id="9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Cliquez pour éditer le format du texte-titre</a:t>
            </a: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Cliquez pour éditer le format du plan de texte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Second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Troisième niveau de plan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484848"/>
                </a:solidFill>
                <a:latin typeface="Calibri"/>
              </a:rPr>
              <a:t>Quatrième niveau de plan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Cinquième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Sixième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Septième niveau de plan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5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32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800" spc="-1" strike="noStrike">
                <a:solidFill>
                  <a:srgbClr val="484848"/>
                </a:solidFill>
                <a:latin typeface="Calibri"/>
              </a:rPr>
              <a:t>Deuxième niveau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484848"/>
                </a:solidFill>
                <a:latin typeface="Calibri"/>
              </a:rPr>
              <a:t>Troisième niveau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Quatrième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84848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Cinquième niveau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16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659AAE-BE61-4A38-AC26-1463844DE147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2" name="Picture 2" descr="PDP Libre"/>
          <p:cNvPicPr/>
          <p:nvPr/>
        </p:nvPicPr>
        <p:blipFill>
          <a:blip r:embed="rId2"/>
          <a:stretch/>
        </p:blipFill>
        <p:spPr>
          <a:xfrm>
            <a:off x="10477440" y="414720"/>
            <a:ext cx="1396800" cy="6091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3f6fa"/>
            </a:gs>
            <a:gs pos="50000">
              <a:srgbClr val="ecf0f3"/>
            </a:gs>
            <a:gs pos="100000">
              <a:srgbClr val="c3c7cb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AccentBarTop"/>
          <p:cNvSpPr/>
          <p:nvPr/>
        </p:nvSpPr>
        <p:spPr>
          <a:xfrm>
            <a:off x="0" y="0"/>
            <a:ext cx="12191760" cy="5436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4" name="FooterBar"/>
          <p:cNvSpPr/>
          <p:nvPr/>
        </p:nvSpPr>
        <p:spPr>
          <a:xfrm>
            <a:off x="0" y="6251040"/>
            <a:ext cx="12191760" cy="60696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FooterText"/>
          <p:cNvSpPr/>
          <p:nvPr/>
        </p:nvSpPr>
        <p:spPr>
          <a:xfrm>
            <a:off x="457200" y="6468120"/>
            <a:ext cx="112773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5000" bIns="45000" anchor="ctr">
            <a:noAutofit/>
          </a:bodyPr>
          <a:p>
            <a:pPr algn="r" defTabSz="914400">
              <a:lnSpc>
                <a:spcPct val="100000"/>
              </a:lnSpc>
            </a:pPr>
            <a:endParaRPr b="0" lang="fr-FR" sz="1100" spc="-1" strike="noStrike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3200" spc="-1" strike="noStrike">
                <a:solidFill>
                  <a:srgbClr val="39799a"/>
                </a:solidFill>
                <a:latin typeface="Trebuchet MS"/>
              </a:rPr>
              <a:t>Modifiez le style du titre</a:t>
            </a:r>
            <a:endParaRPr b="0" lang="fr-FR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183280" y="1239480"/>
            <a:ext cx="6168600" cy="462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Cliquez pour éditer le format du plan de texte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Second niveau de plan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Troisième niveau de plan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Quatrième niveau de plan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Cinquième niveau de plan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Sixième niveau de plan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484848"/>
                </a:solidFill>
                <a:latin typeface="Calibri"/>
              </a:rPr>
              <a:t>Septième niveau de plan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484848"/>
                </a:solidFill>
                <a:latin typeface="Calibri"/>
              </a:rPr>
              <a:t>Cliquez pour modifier les styles du texte du masque</a:t>
            </a:r>
            <a:endParaRPr b="0" lang="fr-FR" sz="16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&lt;date/heure&gt;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1D5FAD-54C1-49D0-8E2F-F7D0F1E60A63}" type="slidenum"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2" name="Picture 2" descr="PDP Libre"/>
          <p:cNvPicPr/>
          <p:nvPr/>
        </p:nvPicPr>
        <p:blipFill>
          <a:blip r:embed="rId2"/>
          <a:stretch/>
        </p:blipFill>
        <p:spPr>
          <a:xfrm>
            <a:off x="10477440" y="414720"/>
            <a:ext cx="1396800" cy="6091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fnfe-mpe.org/" TargetMode="Externa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hyperlink" Target="https://git.pdplibre.org/Construction_PA/PA_Communautaire.git" TargetMode="External"/><Relationship Id="rId2" Type="http://schemas.openxmlformats.org/officeDocument/2006/relationships/hyperlink" Target="https://git.pdplibre.org/Construction_PA/PA_Communautaire.git" TargetMode="External"/><Relationship Id="rId3" Type="http://schemas.openxmlformats.org/officeDocument/2006/relationships/slideLayout" Target="../slideLayouts/slideLayout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hyperlink" Target="https://cloud.pdplibre.org/apps/bbb/b/tgryyZgYNgst5R4p?ct=YTo1OntzOjY6InNvdXJjZSI7YToyOntpOjA7czoxNDoiY2FtcGFpZ24uZXZlbnQiO2k6MTtpOjI2O31zOjU6ImVtYWlsIjtpOjEzO3M6NDoic3RhdCI7czoyMjoiNjk5MmI0Y2NiNGUyNTQ0MDc1NTc5OSI7czo0OiJsZWFkIjtzOjM6IjQ0MSI7czo3OiJjaGFubmVsIjthOjE6e3M6NToiZW1haWwiO2k6MTM7fX0%3D" TargetMode="External"/><Relationship Id="rId2" Type="http://schemas.openxmlformats.org/officeDocument/2006/relationships/slideLayout" Target="../slideLayouts/slideLayout5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4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914400" y="1143000"/>
            <a:ext cx="10362960" cy="228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fr-FR" sz="5400" spc="-1" strike="noStrike">
                <a:solidFill>
                  <a:srgbClr val="484848"/>
                </a:solidFill>
                <a:latin typeface="Trebuchet MS"/>
              </a:rPr>
              <a:t>Onboarding contributeur</a:t>
            </a:r>
            <a:endParaRPr b="0" lang="fr-FR" sz="5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ubTitle"/>
          </p:nvPr>
        </p:nvSpPr>
        <p:spPr>
          <a:xfrm>
            <a:off x="1523880" y="3543480"/>
            <a:ext cx="9143640" cy="103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666666"/>
                </a:solidFill>
                <a:latin typeface="Calibri"/>
              </a:rPr>
              <a:t>Construction PA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666666"/>
                </a:solidFill>
                <a:latin typeface="Calibri"/>
              </a:rPr>
              <a:t>Février 2026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549B02C-05DE-4315-98A3-B700DE7FC274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800" spc="-1" strike="noStrike">
                <a:solidFill>
                  <a:srgbClr val="333333"/>
                </a:solidFill>
                <a:latin typeface="Trebuchet MS"/>
              </a:rPr>
              <a:t>Parcours d'onboarding : </a:t>
            </a:r>
            <a:r>
              <a:rPr b="1" lang="fr-FR" sz="2800" spc="-1" strike="noStrike">
                <a:solidFill>
                  <a:srgbClr val="333333"/>
                </a:solidFill>
                <a:highlight>
                  <a:srgbClr val="ffff00"/>
                </a:highlight>
                <a:latin typeface="Trebuchet MS"/>
              </a:rPr>
              <a:t>./docs/00_onboarding</a:t>
            </a:r>
            <a:endParaRPr b="0" lang="fr-FR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88e3c"/>
              </a:buClr>
              <a:buFont typeface="Arial"/>
              <a:buChar char="•"/>
            </a:pPr>
            <a:r>
              <a:rPr b="1" lang="fr-FR" sz="3200" spc="-1" strike="noStrike">
                <a:solidFill>
                  <a:srgbClr val="388e3c"/>
                </a:solidFill>
                <a:latin typeface="Calibri"/>
              </a:rPr>
              <a:t>Tronc commun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1. Contexte et vision du projet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2. Architecture : les 10 briques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3. Les normes de référence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4. Organisation du dépôt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5. Stratégie BDD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88e3c"/>
              </a:buClr>
              <a:buFont typeface="Arial"/>
              <a:buChar char="•"/>
            </a:pPr>
            <a:r>
              <a:rPr b="1" lang="fr-FR" sz="3200" spc="-1" strike="noStrike">
                <a:solidFill>
                  <a:srgbClr val="388e3c"/>
                </a:solidFill>
                <a:latin typeface="Calibri"/>
              </a:rPr>
              <a:t>Finalisation commune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10. Rapports de tests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11. Contribuer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976d2"/>
              </a:buClr>
              <a:buFont typeface="Arial"/>
              <a:buChar char="•"/>
            </a:pPr>
            <a:r>
              <a:rPr b="1" lang="fr-FR" sz="3200" spc="-1" strike="noStrike">
                <a:solidFill>
                  <a:srgbClr val="1976d2"/>
                </a:solidFill>
                <a:latin typeface="Calibri"/>
              </a:rPr>
              <a:t>Parcours DEV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7. Installation environnement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8. Le code : packages et services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9. Implémenter un test BDD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57c00"/>
              </a:buClr>
              <a:buFont typeface="Arial"/>
              <a:buChar char="•"/>
            </a:pPr>
            <a:r>
              <a:rPr b="1" lang="fr-FR" sz="3200" spc="-1" strike="noStrike">
                <a:solidFill>
                  <a:srgbClr val="f57c00"/>
                </a:solidFill>
                <a:latin typeface="Calibri"/>
              </a:rPr>
              <a:t>Parcours METIER</a:t>
            </a:r>
            <a:endParaRPr b="0" lang="fr-FR" sz="32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6. Rédiger un scenario BDD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12. Focus par brique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3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ZoneTexte 6"/>
          <p:cNvSpPr/>
          <p:nvPr/>
        </p:nvSpPr>
        <p:spPr>
          <a:xfrm>
            <a:off x="6092280" y="5453640"/>
            <a:ext cx="4608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"/>
              </a:rPr>
              <a:t>Renvoi vers une documentation du repo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"/>
              </a:rPr>
              <a:t>./&lt;rep&gt;/&lt;document&gt;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3051F1D-1774-4706-B5AB-6A7EF755D615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Contexte et vision du projet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1 - Comprendre pourquoi ce projet existe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EBA696D-D2F4-4D01-95F4-B9DCEF55F8FB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La reforme facturation électronique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Qu'est-ce qu'une PA – Plateforme Agréée  (anciennement PDP - Plateforme de Dématérialisation Partenaire) ?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Point d'entrée obligatoire pour émettre/recevoir des factures électroniques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Positionnement vis-à-vis du PPF (Portail Public de Facturation)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Calendrier de la reforme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Sept. 2026 : obligation de réception pour toutes les entreprises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2027 : obligation d’émission (échelonné par taille)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3 obligations : réception, émission, e-reporting (transmission fiscale)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289645D-E3B7-467A-8700-9824628991AE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Vision PA Communautaire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550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Trajectoire du projet PDP Libre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Choix d'une PA partenaire pour septembre 2026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En parallèle : construction d'une PA Communautaire open source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Valeurs fondamentales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Open source : code ouvert, licences libres (GPL-3.0-or-later)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Souveraineté : indépendance vis-à-vis des acteurs commerciaux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Communautaire : gouvernance participative et transparente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Sans but lucratif : au service de l’intérêt général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Ecosystème : émetteur, destinataire, PA émettrice/réceptrice, PPF, DGFiP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Ce projet </a:t>
            </a: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open source </a:t>
            </a:r>
            <a:r>
              <a:rPr b="0" lang="fr-FR" sz="2400" spc="-1" strike="noStrike">
                <a:solidFill>
                  <a:srgbClr val="333333"/>
                </a:solidFill>
                <a:latin typeface="Calibri"/>
              </a:rPr>
              <a:t>est porté par des bénévoles avec comme objectif d’accompagnement pour les contributeurs, l’acquisition de compétences dans la facturation électronique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L’objectif cible est produire tout ou partie du code d’une Plateforme Agrée candidat à être exploité par l’association PDPLibre ou toute entité qui le déciderait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dt" idx="4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8DA10B6-63E3-41D1-A1E2-E199A3AB3827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Parcours d'une facture (vue simplifiée)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8906" lnSpcReduction="10000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1. L’émetteur dépose une facture sur sa PDP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2. La PDP contrôle le format (UBL, CII, Factur-X)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3. La PDP valide les règles métier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4. La PDP route la facture vers la PA du destinataire (via PEPPOL dans certains cas)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5. Le destinataire reçoit la facture et gère son cycle de vie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6. Les données fiscales sont transmises a l'Etat (e-reporting)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Ressources : </a:t>
            </a:r>
            <a:r>
              <a:rPr b="1" lang="fr-FR" sz="2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./README.md</a:t>
            </a:r>
            <a:r>
              <a:rPr b="1" lang="fr-FR" sz="2800" spc="-1" strike="noStrike">
                <a:solidFill>
                  <a:srgbClr val="333333"/>
                </a:solidFill>
                <a:latin typeface="Calibri"/>
              </a:rPr>
              <a:t>, forum https://forum.pdplibre.org/</a:t>
            </a:r>
            <a:endParaRPr b="0" lang="fr-FR" sz="2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A69CCFE-4A1E-498B-B5DA-1F0ECFC1422D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Architecture fonctionnelle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2 - Les 10 briques de la plateforme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5BF9E28-2D9E-4FAE-8194-9FBCFE38743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800" spc="-1" strike="noStrike">
                <a:solidFill>
                  <a:srgbClr val="333333"/>
                </a:solidFill>
                <a:latin typeface="Trebuchet MS"/>
              </a:rPr>
              <a:t>Vue d'ensemble de l'architecture</a:t>
            </a:r>
            <a:endParaRPr b="0" lang="fr-FR" sz="2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3" name="Picture 2" descr="Architecture_Plateforme_Factures_Electroniques_v03.png"/>
          <p:cNvPicPr/>
          <p:nvPr/>
        </p:nvPicPr>
        <p:blipFill>
          <a:blip r:embed="rId1"/>
          <a:stretch/>
        </p:blipFill>
        <p:spPr>
          <a:xfrm>
            <a:off x="3484800" y="1186560"/>
            <a:ext cx="5222160" cy="5187600"/>
          </a:xfrm>
          <a:prstGeom prst="rect">
            <a:avLst/>
          </a:prstGeom>
          <a:ln w="0">
            <a:noFill/>
          </a:ln>
        </p:spPr>
      </p:pic>
      <p:sp>
        <p:nvSpPr>
          <p:cNvPr id="144" name="PlaceHolder 2"/>
          <p:cNvSpPr>
            <a:spLocks noGrp="1"/>
          </p:cNvSpPr>
          <p:nvPr>
            <p:ph type="dt" idx="4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C7805E5-2A47-4E3F-B211-DC340367C6D0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Les 10 briques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01 - API Gateway (FastAPI)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Point d'entrée REST, norme XP Z12-013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02 - ESB Central (NATS)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Orchestration des flux, message queue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03 - Contrôle Formats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Validation UBL / CII / Factur-X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04 - Validation Métier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Règles métier, vérification destinataire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05 - Conversion Formats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Conversion entre UBL, CII, Factur-X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06 - Annuaire Local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Cache local, synchronisation PPF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07 - Routage (PEPPOL)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Acheminement inter-PDP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08 - Transmission Fiscale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E-reporting vers l'Etat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09 - Gestion Cycle de Vie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Statuts : déposée, reçue, approuvée...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10 - Stockage (S3 / SeaweedFS)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Persistance des fichiers factures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E8FA272-045C-4202-811C-EEE912D4D6D0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Flux type d'une facture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Dépôt facture via API Gateway (01)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Publication sur l'ESB Central (02)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Contrôle du format (03) puis validation métier (04)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Conversion si nécessaire (05)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Consultation de l'annuaire (06) pour trouver le destinataire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Routage vers la PA destinataire via PEPPOL (07)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Transmission fiscale a l'Etat (08)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Gestion du cycle de vie et statuts (09)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Stockage des fichiers en S3 (10)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Documentation par brique :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./docs/briques/&lt;NN-nom&gt;/README.md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1A453D4-7444-4796-B0BE-81897C90AAFD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Les normes de référence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3 - AFNOR, UN/CEFACT et cas d'usage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dt" idx="4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D9AC1F2-6370-471A-87E7-2FC8E5AC3E87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3 normes AFNOR incluses dans le repo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XP Z12-012 - Formats et cycle de vie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Formats : UBL, CII, Factur-X (EN16931)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Profils de messages, règles métier, statuts de cycle de vie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Annexe A (Excel) : règles métier, code lists, mappings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Annexe B : exemples de factures et statuts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XP Z12-013 - API REST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Swagger en annexe (Flow Service, Directory Service)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Routes : /healthcheck, /flows, /directory-line, /search...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XP Z12-014 - Cas d'usage B2B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UC1 a UC5 avec exemples XML complets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Scenarios nominaux et d'erreur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./docs/norme/index.md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Fichiers PDF, XSD et exemples XML dans </a:t>
            </a: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./docs/norme/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57" name="Flèche vers la gauche 3"/>
          <p:cNvSpPr/>
          <p:nvPr/>
        </p:nvSpPr>
        <p:spPr>
          <a:xfrm>
            <a:off x="6324480" y="4408560"/>
            <a:ext cx="2503440" cy="100116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0c9a7"/>
          </a:solidFill>
          <a:ln>
            <a:solidFill>
              <a:srgbClr val="0058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lt1"/>
                </a:solidFill>
                <a:latin typeface="Calibri"/>
              </a:rPr>
              <a:t>Commencer par là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6E7517A-F2C3-4D34-BB73-4A1B0BDD1082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XP Z12-014 - Cas d'usage B2B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60" name="Image 7" descr=""/>
          <p:cNvPicPr/>
          <p:nvPr/>
        </p:nvPicPr>
        <p:blipFill>
          <a:blip r:embed="rId1"/>
          <a:stretch/>
        </p:blipFill>
        <p:spPr>
          <a:xfrm>
            <a:off x="0" y="1782720"/>
            <a:ext cx="7434360" cy="4044600"/>
          </a:xfrm>
          <a:prstGeom prst="rect">
            <a:avLst/>
          </a:prstGeom>
          <a:ln w="0">
            <a:noFill/>
          </a:ln>
        </p:spPr>
      </p:pic>
      <p:pic>
        <p:nvPicPr>
          <p:cNvPr id="161" name="Image 11" descr=""/>
          <p:cNvPicPr/>
          <p:nvPr/>
        </p:nvPicPr>
        <p:blipFill>
          <a:blip r:embed="rId2"/>
          <a:stretch/>
        </p:blipFill>
        <p:spPr>
          <a:xfrm>
            <a:off x="7434720" y="1128960"/>
            <a:ext cx="4756680" cy="3846600"/>
          </a:xfrm>
          <a:prstGeom prst="rect">
            <a:avLst/>
          </a:prstGeom>
          <a:ln w="0">
            <a:noFill/>
          </a:ln>
        </p:spPr>
      </p:pic>
      <p:sp>
        <p:nvSpPr>
          <p:cNvPr id="162" name="ZoneTexte 13"/>
          <p:cNvSpPr/>
          <p:nvPr/>
        </p:nvSpPr>
        <p:spPr>
          <a:xfrm>
            <a:off x="7434720" y="4975920"/>
            <a:ext cx="4756680" cy="14468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9360" defTabSz="914400">
              <a:lnSpc>
                <a:spcPct val="100000"/>
              </a:lnSpc>
            </a:pPr>
            <a:r>
              <a:rPr b="0" lang="fr-FR" sz="1200" spc="-1" strike="noStrike">
                <a:solidFill>
                  <a:schemeClr val="dk1"/>
                </a:solidFill>
                <a:latin typeface="Calibri"/>
              </a:rPr>
              <a:t>Autres cas documentés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528480" indent="-171360" defTabSz="914400">
              <a:lnSpc>
                <a:spcPct val="100000"/>
              </a:lnSpc>
              <a:buClr>
                <a:srgbClr val="1b1f3b"/>
              </a:buClr>
              <a:buFont typeface="Arial"/>
              <a:buChar char="•"/>
            </a:pPr>
            <a:r>
              <a:rPr b="0" lang="fr-FR" sz="1100" spc="-1" strike="noStrike">
                <a:solidFill>
                  <a:schemeClr val="dk1"/>
                </a:solidFill>
                <a:latin typeface="Calibri"/>
              </a:rPr>
              <a:t>Rejet à l’émission d’une facture e-invoicing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marL="528480" indent="-171360" defTabSz="914400">
              <a:lnSpc>
                <a:spcPct val="100000"/>
              </a:lnSpc>
              <a:buClr>
                <a:srgbClr val="1b1f3b"/>
              </a:buClr>
              <a:buFont typeface="Arial"/>
              <a:buChar char="•"/>
            </a:pPr>
            <a:r>
              <a:rPr b="0" lang="fr-FR" sz="1100" spc="-1" strike="noStrike">
                <a:solidFill>
                  <a:schemeClr val="dk1"/>
                </a:solidFill>
                <a:latin typeface="Calibri"/>
              </a:rPr>
              <a:t>Facture Déposée NON_TRANSMISE pour absence de PA-R.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marL="528480" indent="-171360" defTabSz="914400">
              <a:lnSpc>
                <a:spcPct val="100000"/>
              </a:lnSpc>
              <a:buClr>
                <a:srgbClr val="1b1f3b"/>
              </a:buClr>
              <a:buFont typeface="Arial"/>
              <a:buChar char="•"/>
            </a:pPr>
            <a:r>
              <a:rPr b="0" lang="fr-FR" sz="1100" spc="-1" strike="noStrike">
                <a:solidFill>
                  <a:schemeClr val="dk1"/>
                </a:solidFill>
                <a:latin typeface="Calibri"/>
              </a:rPr>
              <a:t>Rejet d’une facture en réception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marL="528480" indent="-171360" defTabSz="914400">
              <a:lnSpc>
                <a:spcPct val="100000"/>
              </a:lnSpc>
              <a:buClr>
                <a:srgbClr val="1b1f3b"/>
              </a:buClr>
              <a:buFont typeface="Arial"/>
              <a:buChar char="•"/>
            </a:pPr>
            <a:r>
              <a:rPr b="0" lang="fr-FR" sz="1100" spc="-1" strike="noStrike">
                <a:solidFill>
                  <a:schemeClr val="dk1"/>
                </a:solidFill>
                <a:latin typeface="Calibri"/>
              </a:rPr>
              <a:t>Refus d’une facture par l’ACHETEUR (Destinataire de la facture)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marL="528480" indent="-171360" defTabSz="914400">
              <a:lnSpc>
                <a:spcPct val="100000"/>
              </a:lnSpc>
              <a:buClr>
                <a:srgbClr val="1b1f3b"/>
              </a:buClr>
              <a:buFont typeface="Arial"/>
              <a:buChar char="•"/>
            </a:pPr>
            <a:r>
              <a:rPr b="0" lang="fr-FR" sz="1100" spc="-1" strike="noStrike">
                <a:solidFill>
                  <a:schemeClr val="dk1"/>
                </a:solidFill>
                <a:latin typeface="Calibri"/>
              </a:rPr>
              <a:t>Facture en litige, suivie d’un AVOIR partiel ou total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marL="528480" indent="-171360" defTabSz="914400">
              <a:lnSpc>
                <a:spcPct val="100000"/>
              </a:lnSpc>
              <a:buClr>
                <a:srgbClr val="1b1f3b"/>
              </a:buClr>
              <a:buFont typeface="Arial"/>
              <a:buChar char="•"/>
            </a:pPr>
            <a:r>
              <a:rPr b="0" lang="fr-FR" sz="1100" spc="-1" strike="noStrike">
                <a:solidFill>
                  <a:schemeClr val="dk1"/>
                </a:solidFill>
                <a:latin typeface="Calibri"/>
              </a:rPr>
              <a:t>Facture en litige, suivie d’une Facture Rectificative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BA826EC-F188-4A4D-9068-E5AD6D9CF1BC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Autres références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537732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CDAR D22B (UN/CEFACT)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Cross Domain Acknowledgement and Response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Format des accuses de reception entre PDP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BRS - CDAError Acknowledgement Process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Processus de gestion des erreurs d'accuse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Standard FACTUR-X </a:t>
            </a:r>
            <a:r>
              <a:rPr b="0" lang="fr-FR" sz="2000" spc="-1" strike="noStrike">
                <a:solidFill>
                  <a:srgbClr val="484848"/>
                </a:solidFill>
                <a:latin typeface="Calibri"/>
              </a:rPr>
              <a:t>1.07.3 2025 05 15 FR VF</a:t>
            </a: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 disponible sur le site de la fnfe (Forum National de la Facture Électronique et des Marchés Publics Électroniques) (</a:t>
            </a:r>
            <a:r>
              <a:rPr b="1" lang="fr-FR" sz="2000" spc="-1" strike="noStrike" u="sng">
                <a:solidFill>
                  <a:srgbClr val="00c9a7"/>
                </a:solidFill>
                <a:uFillTx/>
                <a:latin typeface="Calibri"/>
                <a:hlinkClick r:id="rId1"/>
              </a:rPr>
              <a:t>https://fnfe-mpe.org/</a:t>
            </a: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 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pic>
        <p:nvPicPr>
          <p:cNvPr id="166" name="Image 4" descr=""/>
          <p:cNvPicPr/>
          <p:nvPr/>
        </p:nvPicPr>
        <p:blipFill>
          <a:blip r:embed="rId2"/>
          <a:stretch/>
        </p:blipFill>
        <p:spPr>
          <a:xfrm>
            <a:off x="6509520" y="2558520"/>
            <a:ext cx="5509440" cy="3765600"/>
          </a:xfrm>
          <a:prstGeom prst="rect">
            <a:avLst/>
          </a:prstGeom>
          <a:ln w="0">
            <a:noFill/>
          </a:ln>
        </p:spPr>
      </p:pic>
      <p:sp>
        <p:nvSpPr>
          <p:cNvPr id="167" name="PlaceHolder 3"/>
          <p:cNvSpPr>
            <a:spLocks noGrp="1"/>
          </p:cNvSpPr>
          <p:nvPr>
            <p:ph type="dt" idx="5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E1320E1-C055-4513-8F98-3B4CB34F2301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Organisation du dépôt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4 - Où trouver quoi dans le monorepo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61D2CE0-7999-484E-BE24-8F6A1E339D31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Structure du monorepo </a:t>
            </a:r>
            <a:br>
              <a:rPr sz="2600"/>
            </a:br>
            <a:r>
              <a:rPr b="1" lang="fr-FR" sz="1600" spc="-1" strike="noStrike">
                <a:solidFill>
                  <a:srgbClr val="333333"/>
                </a:solidFill>
                <a:latin typeface="Trebuchet MS"/>
              </a:rPr>
              <a:t>un seul référentiel pour tous les projets</a:t>
            </a:r>
            <a:endParaRPr b="0" lang="fr-FR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briques/</a:t>
            </a:r>
            <a:r>
              <a:rPr b="1" lang="fr-FR" sz="1800" spc="-1" strike="noStrike">
                <a:solidFill>
                  <a:srgbClr val="333333"/>
                </a:solidFill>
                <a:latin typeface="Calibri"/>
              </a:rPr>
              <a:t> : doc + .feature par brique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développement/</a:t>
            </a: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 : guides dev, BDD, install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norme/</a:t>
            </a: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 : normes AFNOR et annexes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test/</a:t>
            </a: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 : exemples BDD commentes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./packages/ </a:t>
            </a: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: un sous répertoire par « projet »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pac0/</a:t>
            </a:r>
            <a:r>
              <a:rPr b="1" lang="fr-FR" sz="1800" spc="-1" strike="noStrike">
                <a:solidFill>
                  <a:srgbClr val="333333"/>
                </a:solidFill>
                <a:latin typeface="Calibri"/>
              </a:rPr>
              <a:t> : implémentation de référence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pac-bdd/</a:t>
            </a: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 : moteur de tests BDD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pac0-cli/</a:t>
            </a: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 : CLI utilitaire (pilotage de la PA)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./docker/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docker-compose (sera déplacé à la racine)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Dockerfiles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10 services + test-bdd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./report/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Rapports de tests (HTML, MD, XML)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./script/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Scripts utilitaires (./script/test)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Dépôts :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GitHub : releases publiques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Forgejo : développement quotidien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2B4B24BD-74EC-4912-B7B7-9BFEACBA29A0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Stratégie BDD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5 - Pourquoi et comment on teste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77" name="ZoneTexte 4"/>
          <p:cNvSpPr/>
          <p:nvPr/>
        </p:nvSpPr>
        <p:spPr>
          <a:xfrm>
            <a:off x="5264280" y="1503720"/>
            <a:ext cx="609552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Le « Behavior Driven Development », ou BDD, est une </a:t>
            </a:r>
            <a:r>
              <a:rPr b="1" lang="fr-FR" sz="1800" spc="-1" strike="noStrike">
                <a:solidFill>
                  <a:schemeClr val="dk1"/>
                </a:solidFill>
                <a:latin typeface="Calibri"/>
              </a:rPr>
              <a:t>méthode de développement Agile dans laquelle le produit est conçu autour du comportement qu'un utilisateur s'attend à expérimenter</a:t>
            </a:r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. Le principe du BDD est donc de préciser un « comportement désiré ».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dt" idx="5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EFF4CD4-F696-41C2-BBD5-4D240E127111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Le BDD : un langage commun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Behavior Driven Development : spécifications exécutables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Langage commun entre métier et développeur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Vision communautaire : outils de tests pour les éditeurs de logiciels métier et de PA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La boucle 'Trois Amigos'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Expert métier + Développeur + Testeur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Gherkin en francais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Fonctionnalité, Scenario, Soit, Quand, Alors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Cycle de vie d'un test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1. Rédaction par l'expert métier (.feature)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2. Implémentation par le développeur (step definitions)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3. Exécution automatique (pytest-bdd)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A328F2A-65D7-4B50-958C-336A170B0BEB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Lien feature -&gt; steps -&gt; systeme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Fichiers .feature dans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./docs/briques/&lt;NN-nom&gt;/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Rédiges en Gherkin français par les experts métier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Code des steps dans packages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./pac-bdd/src/pac_bdd/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api.py, peppol.py, service.py, esb.py...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Le moteur pytest-bdd fait le lien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Lit une etape Gherkin (ex: Quand j’appelle l'API GET /healthcheck)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Cherche le step definition correspondant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Exécute la fonction Python associée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Rapports :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./report/pac-bdd/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Ressources : 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./docs/developpement/BDD_README.md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./docs/developpement/BDD_Guide_Developpeur.md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./docs/developpement/BDD_Guide_Expert_Metier.md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B808E65-E444-4E3C-8303-3DE81C7B2C32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f57c00"/>
                </a:solidFill>
                <a:latin typeface="Trebuchet MS"/>
              </a:rPr>
              <a:t>[METIER]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Rédiger un scenario BDD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6 - Guide pour l'expert métier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dt" idx="5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D9E7583-BF65-4040-98E1-4C140340E40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f57c00"/>
                </a:solidFill>
                <a:latin typeface="Trebuchet MS"/>
              </a:rPr>
              <a:t>[METIER]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Structure d'un fichier .feature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Entête obligatoire : # language: fr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Fonctionnalité: titre unique + description libre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Peut référencer la norme (ex: Section 4.4 de XP_Z12-013.pdf)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Contexte: étapes exécutées avant chaque scenario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Soit une pa communautaire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Scenario: un cas de test concret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Soit / Etant donne : précondition (Given)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Quand : action effectuée (When)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Alors : résultat attendu (Then)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Et / Mais : continuation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Conventions du projet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Variables entre guillemets : "valeur"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Constantes préfixées : #pa1, #accepted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90" name="ZoneTexte 4"/>
          <p:cNvSpPr/>
          <p:nvPr/>
        </p:nvSpPr>
        <p:spPr>
          <a:xfrm>
            <a:off x="6762600" y="4012200"/>
            <a:ext cx="50425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fr-FR" sz="1800" spc="-1" strike="noStrike">
                <a:solidFill>
                  <a:schemeClr val="dk1"/>
                </a:solidFill>
                <a:latin typeface="Calibri"/>
              </a:rPr>
              <a:t>Exemple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</a:rPr>
              <a:t>./docs/briques/01-api-gateway/healthcheck.feature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ABDA32F-E81D-466E-A234-D4A8BC95C19C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f57c00"/>
                </a:solidFill>
                <a:latin typeface="Trebuchet MS"/>
              </a:rPr>
              <a:t>[METIER]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Bonnes pratiques et anti-patterns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Déclaratif, pas impératif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Bien : Quand Bob se connecte avec des identifiants valides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Eviter : Quand je saisis bob@test.com dans le champ email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Un scenario = un comportement (3-5 etapes)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Utiliser des valeurs concrètes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Bien : Alors l'identification par SIRET porte le code "0002"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Eviter : Alors l'identification est correcte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Anti-patterns à éviter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Details non essentiels (adresses, CB...)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Logique conditionnelle (si... alors...) -&gt; 2 scenarios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Fonctionnalités avancées : Plan du Scenario, tableaux, Doc Strings, tags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D54C83D-4A90-43CA-A940-2C0FACE1B27A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f57c00"/>
                </a:solidFill>
                <a:latin typeface="Trebuchet MS"/>
              </a:rPr>
              <a:t>[METIER]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Exemples concrets du projet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7835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Healthcheck simple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(./docs/briques/01-api-gateway/healthcheck.feature</a:t>
            </a: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Contexte + 2 scenarios courts, référence norme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Calculs PEPPOL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(./docs/briques/07-routage/peppol.feature</a:t>
            </a: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Plusieurs scenarios avec valeurs concretes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Communication inter-PA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(./docs/briques/07-routage/pa_multiple.feature</a:t>
            </a: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References #pa1, #e1, #f1 - test bout en bout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Cycle de vie facture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(./docs/briques/09-gestion-cycle-vie/facture.feature</a:t>
            </a: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Workflow asynchrone : dépôt puis interrogation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Exercice : écrire un scenario pour la brique 05, 06 ou 08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Ressources :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./docs/developpement/BDD_Guide_Expert_Metier.md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5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AE044EC-7B79-4ECD-AB9D-D3BF48472972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Installation de l'environnement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7 - Mettre en place son poste de développement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DDDB8A0-AB1C-4A0C-84D0-74FFB2A8221E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Accéder au repo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351800" cy="431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Installer le repo sur ma machine avec git installé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fr-FR" sz="1000" spc="-1" strike="noStrike">
                <a:solidFill>
                  <a:srgbClr val="333333"/>
                </a:solidFill>
                <a:latin typeface="Menlo"/>
                <a:ea typeface="Menlo"/>
              </a:rPr>
              <a:t>mkdir &lt;repertoire racine&gt;</a:t>
            </a:r>
            <a:endParaRPr b="0" lang="fr-FR" sz="1000" spc="-1" strike="noStrike">
              <a:solidFill>
                <a:srgbClr val="484848"/>
              </a:solidFill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fr-FR" sz="1000" spc="-1" strike="noStrike">
                <a:solidFill>
                  <a:srgbClr val="333333"/>
                </a:solidFill>
                <a:latin typeface="Menlo"/>
                <a:ea typeface="Menlo"/>
              </a:rPr>
              <a:t>cd &lt;repertoire racine&gt;</a:t>
            </a:r>
            <a:endParaRPr b="0" lang="fr-FR" sz="1000" spc="-1" strike="noStrike">
              <a:solidFill>
                <a:srgbClr val="484848"/>
              </a:solidFill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fr-FR" sz="1000" spc="-1" strike="noStrike">
                <a:solidFill>
                  <a:srgbClr val="333333"/>
                </a:solidFill>
                <a:latin typeface="Menlo"/>
                <a:ea typeface="Menlo"/>
              </a:rPr>
              <a:t>git clone  </a:t>
            </a:r>
            <a:r>
              <a:rPr b="0" lang="fr-FR" sz="1000" spc="-1" strike="noStrike" u="sng">
                <a:solidFill>
                  <a:srgbClr val="00c9a7"/>
                </a:solidFill>
                <a:uFillTx/>
                <a:latin typeface="Menlo"/>
                <a:ea typeface="Menlo"/>
                <a:hlinkClick r:id="rId1"/>
              </a:rPr>
              <a:t>https://git.pdplibre.org/Construction_PA/PA_Communautaire.git</a:t>
            </a:r>
            <a:endParaRPr b="0" lang="fr-FR" sz="1000" spc="-1" strike="noStrike">
              <a:solidFill>
                <a:srgbClr val="484848"/>
              </a:solidFill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fr-FR" sz="1000" spc="-1" strike="noStrike">
                <a:solidFill>
                  <a:srgbClr val="333333"/>
                </a:solidFill>
                <a:latin typeface="Menlo"/>
                <a:ea typeface="Menlo"/>
              </a:rPr>
              <a:t>cd PA_Communautaire</a:t>
            </a:r>
            <a:endParaRPr b="0" lang="fr-FR" sz="1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  <a:ea typeface="Menlo"/>
              </a:rPr>
              <a:t>Accéder au repo via un navigateur : </a:t>
            </a:r>
            <a:r>
              <a:rPr b="0" lang="fr-FR" sz="2000" spc="-1" strike="noStrike" u="sng">
                <a:solidFill>
                  <a:srgbClr val="00c9a7"/>
                </a:solidFill>
                <a:uFillTx/>
                <a:latin typeface="Calibri"/>
                <a:ea typeface="Menlo"/>
                <a:hlinkClick r:id="rId2"/>
              </a:rPr>
              <a:t>https://git.pdplibre.org/Construction_PA/PA_Communautaire.git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9E73E4A3-C357-48A5-8FAE-B9801B414788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Installer l’environnement Docker vs Linux natif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Avec Docker (recommande)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Prerequis : Docker / Podman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cd docker &amp;&amp; docker compose up -d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10 services + test-bdd en un seul compose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Verification : http://localhost:8000/docs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Cible : branche dev_docker_v2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Configuration S3 (stockage factures)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Inclus dans le docker-compose (SeaweedFS)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Port S3 : 8333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Installation locale Linux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Python 3.13+, uv (pas pip !)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curl -LsSf https://astral.sh/uv/install.sh | sh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uv sync dans chaque package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NATS Server (broker de messages)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Telecharger et installer nats-server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Optionnel : nats-cli pour le debug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000" spc="-1" strike="noStrike">
                <a:solidFill>
                  <a:srgbClr val="333333"/>
                </a:solidFill>
                <a:latin typeface="Calibri"/>
              </a:rPr>
              <a:t>Lancement sequentiel des services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1. nats-server -V -js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2. uv run fastapi dev ... (API Gateway)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333333"/>
                </a:solidFill>
                <a:latin typeface="Calibri"/>
              </a:rPr>
              <a:t>3. uv run faststream run ... (services)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dt" idx="6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ZoneTexte 7"/>
          <p:cNvSpPr/>
          <p:nvPr/>
        </p:nvSpPr>
        <p:spPr>
          <a:xfrm>
            <a:off x="838080" y="5897160"/>
            <a:ext cx="6095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"/>
              </a:rPr>
              <a:t>./docs/developpement/Installation_Docker.md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ZoneTexte 9"/>
          <p:cNvSpPr/>
          <p:nvPr/>
        </p:nvSpPr>
        <p:spPr>
          <a:xfrm>
            <a:off x="6172200" y="5863320"/>
            <a:ext cx="6095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pc="-1" strike="noStrike">
                <a:solidFill>
                  <a:schemeClr val="dk1"/>
                </a:solidFill>
                <a:highlight>
                  <a:srgbClr val="ffff00"/>
                </a:highlight>
                <a:latin typeface="Calibri"/>
              </a:rPr>
              <a:t>./docs/developpement/Installation_Linux.md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29DEE8F1-CCE0-47CF-A7CA-697183FA67F0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Verification de l'installation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Lancer les tests BDD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cd packages/pac-bdd &amp;&amp; uv run pytest -v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Lancer tous les tests avec rapport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./script/test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Verifier l'API Gateway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http://localhost:8000/docs (interface Swagger FastAPI)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Ressources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docs/developpement/Installation_Docker.md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docs/developpement/Installation_Linux.md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docs/developpement/Configuration.md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8C9AE18-F882-47B2-9796-926BFDDA3447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Le code : packages et services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8 - Comprendre l'implémentation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836FBB6-F983-41E8-9F9C-0989FD56C043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Implémentation à date (février 2026)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873907291"/>
              </p:ext>
            </p:extLst>
          </p:nvPr>
        </p:nvGraphicFramePr>
        <p:xfrm>
          <a:off x="902880" y="1136880"/>
          <a:ext cx="10385640" cy="5418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sp>
        <p:nvSpPr>
          <p:cNvPr id="217" name="PlaceHolder 2"/>
          <p:cNvSpPr>
            <a:spLocks noGrp="1"/>
          </p:cNvSpPr>
          <p:nvPr>
            <p:ph type="dt" idx="6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FFD04F0-9E4B-42DC-B21E-741BDB9820A5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Conventions du code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Python 3.13+ avec async/await partout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Package manager : uv (jamais pip)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uv sync pour installer, uv run pour executer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pytest-asyncio avec asyncio_mode = "auto"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Licence GPL-3.0-or-later avec headers SPDX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Chaque nouveau module de steps doit etre importe dans steps.py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Ressources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packages/pac0/README.md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packages/pac-bdd/README.md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279AEFA-56EF-4077-9BEF-DEA51AAC8FB9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Implémenter un test BDD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9 - Coder les step definitions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dt" idx="6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7467324-9350-4DBD-B85D-E0CDC1D81FF4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Flux : .feature -&gt; step -&gt; systeme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1. Identifier l’étape manquante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StepDefNotFound: "je vérifie le format UBL"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2. Choisir le bon module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api.py (REST), peppol.py (routage), service.py, esb.py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3. Ecrire le step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@when(parsers.parse('j'appele l'API {verb} {path}'))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parsers.parse pour les patterns simples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parsers.re pour les regex complexes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4. Gérer Data Tables et Doc Strings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datatable : liste de dictionnaires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docstring : texte brut du bloc """..."""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dt" idx="6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5C11E89-8565-4A75-BDB2-7DFD77445771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1976d2"/>
                </a:solidFill>
                <a:latin typeface="Trebuchet MS"/>
              </a:rPr>
              <a:t>[DEV]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Fixtures et exécution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WorldContext : environnement multi-PA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world1.pa1.api_gateway.get_client() pour les appels API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Contexte local Pydantic (LocalTestCtx)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Partage de données entre steps d'un scenario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Pattern async -&gt; sync : @async_to_sync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Exécution des tests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uv run pytest (tous les tests)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uv run pytest test_scenario.py::test_xxx -v (un seul)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-v -s --log-cli-level=DEBUG (mode debug)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--collect-only (collecter sans executer)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Ressources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: docs/developpement/BDD_Guide_Developpeur.md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0EF0B47-A9C0-441F-9BC4-3DE413C96072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Rapports de tests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10 - Vérifier que ca marche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dt" idx="7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499BFAD-1E2C-4757-971E-46C8422FFA19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Lancer et lire les rapports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0336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Lancer tous les tests :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./script/test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Lancer un package : cd packages/pac-bdd &amp;&amp; uv run pytest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Rapports généres dans </a:t>
            </a:r>
            <a:r>
              <a:rPr b="1" lang="fr-FR" sz="24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./report/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report</a:t>
            </a:r>
            <a:r>
              <a:rPr b="0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/pac0/ </a:t>
            </a: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: tests unitaires de l'implémentation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report</a:t>
            </a:r>
            <a:r>
              <a:rPr b="0" lang="fr-FR" sz="2000" spc="-1" strike="noStrike">
                <a:solidFill>
                  <a:srgbClr val="333333"/>
                </a:solidFill>
                <a:highlight>
                  <a:srgbClr val="ffff00"/>
                </a:highlight>
                <a:latin typeface="Calibri"/>
              </a:rPr>
              <a:t>/pac-bdd/ </a:t>
            </a: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: tests BDD (scenarios Gherkin)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3 formats de rapport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HTML : visuel, navigable dans un navigateur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Markdown : lisible en texte brut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XML JUnit : pour l'integration continue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Interpréter un échec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StepDefNotFound : step manquant (a implémenter)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AssertionError : bug dans le code ou le scenario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dt" idx="7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C984206-01A4-413C-8C98-486288B6AA3E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388e3c"/>
                </a:solidFill>
                <a:latin typeface="Trebuchet MS"/>
              </a:rPr>
              <a:t>[TOUS]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Contribuer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11 - Workflow et bonnes pratiques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8BB45F5-62EB-422B-96B4-FBE394D43792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Cycle de contribution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1. Accés Forgejo : demande d'invitation via le forum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https://forum.pdplibre.org/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2. Fork + clone du projet depuis Forgejo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git clone https://git.pdplibre.org/Construction_PA/PA_Communautaire.git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3. Creer une branche thématique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feature/ma-fonctionnalite, fix/mon-correctif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4. Verifier les tests avant de commiter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cd packages/pac-bdd &amp;&amp; uv run pytest -v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5. Ouvrir une Pull Request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Toujours en lien avec une Issue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Prefixe WIP tant que le travail est en cours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6. Licence GPL-3.0-or-later, headers SPDX obligatoires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dt" idx="7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1E1FA5B-207A-42D5-8045-A278E86D3FC8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200" spc="-1" strike="noStrike">
                <a:solidFill>
                  <a:srgbClr val="f57c00"/>
                </a:solidFill>
                <a:latin typeface="Trebuchet MS"/>
              </a:rPr>
              <a:t>[METIER]  </a:t>
            </a: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Focus par brique : écrire les tests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Bloc 12 - Couvrir le périmetre fonctionnel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dt" idx="7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D29629B-6A16-43AD-B6FC-23E06BEF4399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1600" spc="-1" strike="noStrike">
                <a:solidFill>
                  <a:srgbClr val="f57c00"/>
                </a:solidFill>
                <a:latin typeface="Trebuchet MS"/>
              </a:rPr>
              <a:t>[METIER]  </a:t>
            </a: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Couverture actuelle (février 2026)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Briques avec .feature existants mais incomplet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01-API Gateway : healthcheck, service, sha256, trackingId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02-ESB Central : healthcheck, esb, service, lifecycle, world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03-Controle Formats : format, service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04-Validation Metier : compliance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07-Routage : peppol, pa_multiple, peppol_live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09-Gestion Cycle Vie : facture, workflow, demo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Briques a couvrir (prioritaires)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05-Conversion Formats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06-Annuaire Local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08-Transmission Fiscale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10-Stockage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2400" spc="-1" strike="noStrike">
                <a:solidFill>
                  <a:srgbClr val="333333"/>
                </a:solidFill>
                <a:latin typeface="Calibri"/>
              </a:rPr>
              <a:t>Méthode</a:t>
            </a:r>
            <a:endParaRPr b="0" lang="fr-FR" sz="24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1. Lire le README de la brique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2. Identifier la section de norme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3. Lister les comportements attendus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2000" spc="-1" strike="noStrike">
                <a:solidFill>
                  <a:srgbClr val="333333"/>
                </a:solidFill>
                <a:latin typeface="Calibri"/>
              </a:rPr>
              <a:t>4. Rediger les scenarios .feature</a:t>
            </a:r>
            <a:endParaRPr b="0" lang="fr-FR" sz="20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091E9C6-82BB-4F5F-A35A-BE6E0BC3CBEC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3600" spc="-1" strike="noStrike">
                <a:solidFill>
                  <a:srgbClr val="333333"/>
                </a:solidFill>
                <a:latin typeface="Trebuchet MS"/>
              </a:rPr>
              <a:t>Synthese</a:t>
            </a:r>
            <a:endParaRPr b="0" lang="fr-FR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666666"/>
                </a:solidFill>
                <a:latin typeface="Calibri"/>
              </a:rPr>
              <a:t>Recap des parcours et ressources</a:t>
            </a:r>
            <a:endParaRPr b="0" lang="fr-FR" sz="18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dt" idx="7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CE173FC-829F-47C1-AB91-91F4BEA736FF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800" spc="-1" strike="noStrike">
                <a:solidFill>
                  <a:srgbClr val="333333"/>
                </a:solidFill>
                <a:latin typeface="Trebuchet MS"/>
              </a:rPr>
              <a:t>Recapitulatif des parcours</a:t>
            </a:r>
            <a:endParaRPr b="0" lang="fr-FR" sz="28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253" name="Table 3"/>
          <p:cNvGraphicFramePr/>
          <p:nvPr/>
        </p:nvGraphicFramePr>
        <p:xfrm>
          <a:off x="731520" y="1463040"/>
          <a:ext cx="10698120" cy="4940280"/>
        </p:xfrm>
        <a:graphic>
          <a:graphicData uri="http://schemas.openxmlformats.org/drawingml/2006/table">
            <a:tbl>
              <a:tblPr/>
              <a:tblGrid>
                <a:gridCol w="5029200"/>
                <a:gridCol w="1371600"/>
                <a:gridCol w="1371600"/>
                <a:gridCol w="292608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Bloc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DEV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METIER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Theme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44444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1 - Contexte et vision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Pourquoi ce projet existe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2 - Architecture 10 briques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Organisation du système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3 - Normes de référence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Sur quoi on s'appuie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4 - Organisation du dépôt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Ou trouver quoi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5 - Stratégie BDD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Comment on teste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6 - Rédiger un scenario BDD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fr-FR" sz="1800" spc="-1" strike="noStrike">
                        <a:solidFill>
                          <a:srgbClr val="1b1f3b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Ecrire un .feature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7 - Installation environnement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fr-FR" sz="1800" spc="-1" strike="noStrike">
                        <a:solidFill>
                          <a:srgbClr val="1b1f3b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Mettre en place son poste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8 - Le code : packages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fr-FR" sz="1800" spc="-1" strike="noStrike">
                        <a:solidFill>
                          <a:srgbClr val="1b1f3b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Comprendre l'implémentation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9 - Implémenter un test BDD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fr-FR" sz="1800" spc="-1" strike="noStrike">
                        <a:solidFill>
                          <a:srgbClr val="1b1f3b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Coder les steps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10 - Rapports de tests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Vérifier que ca marche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11 - Contribuer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1976d2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Pousser ses changements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12 - Focus par brique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fr-FR" sz="1800" spc="-1" strike="noStrike">
                        <a:solidFill>
                          <a:srgbClr val="1b1f3b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100" spc="-1" strike="noStrike">
                          <a:solidFill>
                            <a:srgbClr val="f57c00"/>
                          </a:solidFill>
                          <a:latin typeface="Calibri"/>
                        </a:rPr>
                        <a:t>X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100" spc="-1" strike="noStrike">
                          <a:solidFill>
                            <a:srgbClr val="333333"/>
                          </a:solidFill>
                          <a:latin typeface="Calibri"/>
                        </a:rPr>
                        <a:t>Couvrir le perimètre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54" name="PlaceHolder 2"/>
          <p:cNvSpPr>
            <a:spLocks noGrp="1"/>
          </p:cNvSpPr>
          <p:nvPr>
            <p:ph type="dt" idx="7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CDAF7EE-1EED-4381-9137-C0B98EA1B421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838080" y="152280"/>
            <a:ext cx="10515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fr-FR" sz="2600" spc="-1" strike="noStrike">
                <a:solidFill>
                  <a:srgbClr val="333333"/>
                </a:solidFill>
                <a:latin typeface="Trebuchet MS"/>
              </a:rPr>
              <a:t>Ressources et contacts</a:t>
            </a:r>
            <a:endParaRPr b="0" lang="fr-FR" sz="2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838080" y="1447920"/>
            <a:ext cx="10515240" cy="487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1500" spc="-1" strike="noStrike">
                <a:solidFill>
                  <a:srgbClr val="333333"/>
                </a:solidFill>
                <a:latin typeface="Calibri"/>
              </a:rPr>
              <a:t>Documentation</a:t>
            </a:r>
            <a:endParaRPr b="0" lang="fr-FR" sz="15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docs/developpement/Architecture.md - Architecture technique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docs/developpement/Contribuer.md - Guide de contribution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docs/developpement/BDD_Guide_Expert_Metier.md - Guide BDD metier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docs/developpement/BDD_Guide_Developpeur.md - Guide BDD dev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docs/norme/index.md - Normes de reference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00"/>
              </a:spcBef>
              <a:buNone/>
            </a:pP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1" lang="fr-FR" sz="1500" spc="-1" strike="noStrike">
                <a:solidFill>
                  <a:srgbClr val="333333"/>
                </a:solidFill>
                <a:latin typeface="Calibri"/>
              </a:rPr>
              <a:t>Communauté</a:t>
            </a:r>
            <a:endParaRPr b="0" lang="fr-FR" sz="15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Forum : https://forum.pdplibre.org/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Forgejo : https://git.pdplibre.org/Construction_PA/PA_Communautaire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GitHub : https://github.com/PDP-Libre/PA_Communautaire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00"/>
              </a:spcBef>
              <a:buClr>
                <a:srgbClr val="333333"/>
              </a:buClr>
              <a:buFont typeface="Arial"/>
              <a:buChar char="•"/>
            </a:pPr>
            <a:r>
              <a:rPr b="0" lang="fr-FR" sz="1300" spc="-1" strike="noStrike">
                <a:solidFill>
                  <a:srgbClr val="333333"/>
                </a:solidFill>
                <a:latin typeface="Calibri"/>
              </a:rPr>
              <a:t>Visio bimensuelle : C</a:t>
            </a:r>
            <a:r>
              <a:rPr b="0" lang="fr-FR" sz="1300" spc="-1" strike="noStrike" u="sng">
                <a:solidFill>
                  <a:srgbClr val="00c9a7"/>
                </a:solidFill>
                <a:uFillTx/>
                <a:latin typeface="Calibri"/>
                <a:hlinkClick r:id="rId1"/>
              </a:rPr>
              <a:t>’est par ici </a:t>
            </a:r>
            <a:endParaRPr b="0" lang="fr-FR" sz="1300" spc="-1" strike="noStrike">
              <a:solidFill>
                <a:srgbClr val="484848"/>
              </a:solidFill>
              <a:latin typeface="Calibri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8551C24-7D39-42BA-967E-5BA44694C4C5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0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5cd5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59" name="Image 0" descr="preencoded.png"/>
          <p:cNvPicPr/>
          <p:nvPr/>
        </p:nvPicPr>
        <p:blipFill>
          <a:blip r:embed="rId1"/>
          <a:stretch/>
        </p:blipFill>
        <p:spPr>
          <a:xfrm>
            <a:off x="5486400" y="1219320"/>
            <a:ext cx="1218960" cy="1218960"/>
          </a:xfrm>
          <a:prstGeom prst="rect">
            <a:avLst/>
          </a:prstGeom>
          <a:ln w="0">
            <a:noFill/>
          </a:ln>
        </p:spPr>
      </p:pic>
      <p:sp>
        <p:nvSpPr>
          <p:cNvPr id="260" name="Text 1"/>
          <p:cNvSpPr/>
          <p:nvPr/>
        </p:nvSpPr>
        <p:spPr>
          <a:xfrm>
            <a:off x="609480" y="2560320"/>
            <a:ext cx="109724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fr-FR" sz="5330" spc="-1" strike="noStrike">
                <a:solidFill>
                  <a:srgbClr val="484848"/>
                </a:solidFill>
                <a:latin typeface="Trebuchet MS"/>
                <a:ea typeface="Trebuchet MS"/>
              </a:rPr>
              <a:t>Merci</a:t>
            </a:r>
            <a:endParaRPr b="0" lang="fr-FR" sz="53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3"/>
          <p:cNvSpPr/>
          <p:nvPr/>
        </p:nvSpPr>
        <p:spPr>
          <a:xfrm>
            <a:off x="4267080" y="4693680"/>
            <a:ext cx="3657600" cy="360"/>
          </a:xfrm>
          <a:prstGeom prst="line">
            <a:avLst/>
          </a:prstGeom>
          <a:ln w="19050">
            <a:solidFill>
              <a:srgbClr val="00c9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1219320" y="4998600"/>
            <a:ext cx="975312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50000"/>
              </a:lnSpc>
            </a:pPr>
            <a:r>
              <a:rPr b="0" lang="fr-FR" sz="1870" spc="-1" strike="noStrike">
                <a:solidFill>
                  <a:srgbClr val="484848"/>
                </a:solidFill>
                <a:latin typeface="Calibri"/>
                <a:ea typeface="Calibri"/>
              </a:rPr>
              <a:t>pdplibre.org</a:t>
            </a:r>
            <a:endParaRPr b="0" lang="fr-FR" sz="187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50000"/>
              </a:lnSpc>
            </a:pPr>
            <a:r>
              <a:rPr b="0" lang="fr-FR" sz="1870" spc="-1" strike="noStrike">
                <a:solidFill>
                  <a:srgbClr val="484848"/>
                </a:solidFill>
                <a:latin typeface="Calibri"/>
                <a:ea typeface="Calibri"/>
              </a:rPr>
              <a:t>contact@pdplibre.org</a:t>
            </a:r>
            <a:endParaRPr b="0" lang="fr-FR" sz="1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5"/>
          <p:cNvSpPr/>
          <p:nvPr/>
        </p:nvSpPr>
        <p:spPr>
          <a:xfrm>
            <a:off x="0" y="6339960"/>
            <a:ext cx="12191760" cy="517680"/>
          </a:xfrm>
          <a:prstGeom prst="rect">
            <a:avLst/>
          </a:prstGeom>
          <a:solidFill>
            <a:srgbClr val="25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609480" y="6339960"/>
            <a:ext cx="109724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470" spc="-1" strike="noStrike">
                <a:solidFill>
                  <a:srgbClr val="7e8a9a"/>
                </a:solidFill>
                <a:latin typeface="Calibri"/>
                <a:ea typeface="Calibri"/>
              </a:rPr>
              <a:t>Association à but non lucratif — pdplibre.org</a:t>
            </a:r>
            <a:endParaRPr b="0" lang="fr-FR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 type="dt" idx="7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Février 2026</a:t>
            </a:r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BEC270F-4731-4721-97F3-AB194D6F36A3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1404</TotalTime>
  <Application>LibreOffice/24.2.7.2$Linux_X86_64 LibreOffice_project/420$Build-2</Application>
  <AppVersion>15.0000</AppVersion>
  <Words>3234</Words>
  <Paragraphs>542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2026-02-12T14:26:19Z</dcterms:created>
  <dc:creator>PDP Libre</dc:creator>
  <dc:description/>
  <dc:language>fr-FR</dc:language>
  <cp:lastModifiedBy/>
  <dcterms:modified xsi:type="dcterms:W3CDTF">2026-02-20T23:41:56Z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Grand écran</vt:lpwstr>
  </property>
  <property fmtid="{D5CDD505-2E9C-101B-9397-08002B2CF9AE}" pid="4" name="Slides">
    <vt:i4>43</vt:i4>
  </property>
</Properties>
</file>