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98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9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4848"/>
    <a:srgbClr val="39799A"/>
    <a:srgbClr val="5CD5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94"/>
  </p:normalViewPr>
  <p:slideViewPr>
    <p:cSldViewPr snapToGrid="0">
      <p:cViewPr varScale="1">
        <p:scale>
          <a:sx n="117" d="100"/>
          <a:sy n="117" d="100"/>
        </p:scale>
        <p:origin x="4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D76DA0-802A-EE43-99D3-B217E1184717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E637EB8D-E37E-F643-8E19-79949C004037}">
      <dgm:prSet phldrT="[Texte]"/>
      <dgm:spPr/>
      <dgm:t>
        <a:bodyPr/>
        <a:lstStyle/>
        <a:p>
          <a:r>
            <a:rPr lang="fr-FR" b="1" noProof="0" dirty="0">
              <a:solidFill>
                <a:srgbClr val="333333"/>
              </a:solidFill>
            </a:rPr>
            <a:t>packages/pac0 </a:t>
          </a:r>
          <a:endParaRPr lang="fr-FR" dirty="0"/>
        </a:p>
      </dgm:t>
    </dgm:pt>
    <dgm:pt modelId="{F1459906-3439-5043-AA39-BC16C4CD90AA}" type="parTrans" cxnId="{33C30E72-0933-584A-92B7-FB0A73A3AA1F}">
      <dgm:prSet/>
      <dgm:spPr/>
      <dgm:t>
        <a:bodyPr/>
        <a:lstStyle/>
        <a:p>
          <a:endParaRPr lang="fr-FR"/>
        </a:p>
      </dgm:t>
    </dgm:pt>
    <dgm:pt modelId="{B741E642-2157-4843-A947-6B3700F215DD}" type="sibTrans" cxnId="{33C30E72-0933-584A-92B7-FB0A73A3AA1F}">
      <dgm:prSet/>
      <dgm:spPr/>
      <dgm:t>
        <a:bodyPr/>
        <a:lstStyle/>
        <a:p>
          <a:endParaRPr lang="fr-FR"/>
        </a:p>
      </dgm:t>
    </dgm:pt>
    <dgm:pt modelId="{D3A72773-1594-4741-8CD5-F656A504E3C3}">
      <dgm:prSet phldrT="[Texte]"/>
      <dgm:spPr/>
      <dgm:t>
        <a:bodyPr/>
        <a:lstStyle/>
        <a:p>
          <a:r>
            <a:rPr lang="fr-FR" b="1" noProof="0" dirty="0">
              <a:solidFill>
                <a:srgbClr val="333333"/>
              </a:solidFill>
            </a:rPr>
            <a:t>Implémentation de référence</a:t>
          </a:r>
          <a:endParaRPr lang="fr-FR" dirty="0"/>
        </a:p>
      </dgm:t>
    </dgm:pt>
    <dgm:pt modelId="{604E6820-9716-E441-8C5E-BCA23ADE8138}" type="parTrans" cxnId="{9B5F7813-751A-E742-B9EA-1B7E2B4BFD05}">
      <dgm:prSet/>
      <dgm:spPr/>
      <dgm:t>
        <a:bodyPr/>
        <a:lstStyle/>
        <a:p>
          <a:endParaRPr lang="fr-FR"/>
        </a:p>
      </dgm:t>
    </dgm:pt>
    <dgm:pt modelId="{2D7AB2D5-7268-CE4B-8A5F-AD6C96CE1065}" type="sibTrans" cxnId="{9B5F7813-751A-E742-B9EA-1B7E2B4BFD05}">
      <dgm:prSet/>
      <dgm:spPr/>
      <dgm:t>
        <a:bodyPr/>
        <a:lstStyle/>
        <a:p>
          <a:endParaRPr lang="fr-FR"/>
        </a:p>
      </dgm:t>
    </dgm:pt>
    <dgm:pt modelId="{C95F9121-7836-EB4E-BAFB-F80203311E33}">
      <dgm:prSet phldrT="[Texte]"/>
      <dgm:spPr/>
      <dgm:t>
        <a:bodyPr/>
        <a:lstStyle/>
        <a:p>
          <a:r>
            <a:rPr lang="fr-FR" b="1" noProof="0" dirty="0">
              <a:solidFill>
                <a:srgbClr val="333333"/>
              </a:solidFill>
            </a:rPr>
            <a:t>packages/</a:t>
          </a:r>
          <a:r>
            <a:rPr lang="fr-FR" b="1" noProof="0" dirty="0" err="1">
              <a:solidFill>
                <a:srgbClr val="333333"/>
              </a:solidFill>
            </a:rPr>
            <a:t>pac-bdd</a:t>
          </a:r>
          <a:r>
            <a:rPr lang="fr-FR" b="1" noProof="0" dirty="0">
              <a:solidFill>
                <a:srgbClr val="333333"/>
              </a:solidFill>
            </a:rPr>
            <a:t> </a:t>
          </a:r>
          <a:endParaRPr lang="fr-FR" dirty="0"/>
        </a:p>
      </dgm:t>
    </dgm:pt>
    <dgm:pt modelId="{3FEE0C1E-255E-B243-8BBB-FEAEC02EAD98}" type="parTrans" cxnId="{67A3BD83-49B8-914B-AC01-A992AB193D4B}">
      <dgm:prSet/>
      <dgm:spPr/>
      <dgm:t>
        <a:bodyPr/>
        <a:lstStyle/>
        <a:p>
          <a:endParaRPr lang="fr-FR"/>
        </a:p>
      </dgm:t>
    </dgm:pt>
    <dgm:pt modelId="{33292BF6-BBA4-2341-975C-5AB209244C08}" type="sibTrans" cxnId="{67A3BD83-49B8-914B-AC01-A992AB193D4B}">
      <dgm:prSet/>
      <dgm:spPr/>
      <dgm:t>
        <a:bodyPr/>
        <a:lstStyle/>
        <a:p>
          <a:endParaRPr lang="fr-FR"/>
        </a:p>
      </dgm:t>
    </dgm:pt>
    <dgm:pt modelId="{36FCCCF9-9DFC-E14C-8C2B-221528520239}">
      <dgm:prSet phldrT="[Texte]"/>
      <dgm:spPr/>
      <dgm:t>
        <a:bodyPr/>
        <a:lstStyle/>
        <a:p>
          <a:r>
            <a:rPr lang="fr-FR" b="1" noProof="0" dirty="0">
              <a:solidFill>
                <a:srgbClr val="333333"/>
              </a:solidFill>
            </a:rPr>
            <a:t>Tests BDD</a:t>
          </a:r>
          <a:endParaRPr lang="fr-FR" dirty="0"/>
        </a:p>
      </dgm:t>
    </dgm:pt>
    <dgm:pt modelId="{A4335B81-B4CA-DC4B-82C7-07E3A9A8D2A2}" type="parTrans" cxnId="{04406D0A-70BE-8542-A3E7-A6499F6126E6}">
      <dgm:prSet/>
      <dgm:spPr/>
      <dgm:t>
        <a:bodyPr/>
        <a:lstStyle/>
        <a:p>
          <a:endParaRPr lang="fr-FR"/>
        </a:p>
      </dgm:t>
    </dgm:pt>
    <dgm:pt modelId="{EFE05F59-DA27-C04D-A33F-E1F83FAFF927}" type="sibTrans" cxnId="{04406D0A-70BE-8542-A3E7-A6499F6126E6}">
      <dgm:prSet/>
      <dgm:spPr/>
      <dgm:t>
        <a:bodyPr/>
        <a:lstStyle/>
        <a:p>
          <a:endParaRPr lang="fr-FR"/>
        </a:p>
      </dgm:t>
    </dgm:pt>
    <dgm:pt modelId="{82C155B4-E5ED-814A-85A6-535E5CC65137}">
      <dgm:prSet phldrT="[Texte]"/>
      <dgm:spPr/>
      <dgm:t>
        <a:bodyPr/>
        <a:lstStyle/>
        <a:p>
          <a:r>
            <a:rPr lang="fr-FR" b="1" noProof="0" dirty="0">
              <a:solidFill>
                <a:srgbClr val="333333"/>
              </a:solidFill>
            </a:rPr>
            <a:t>packages/pac0-cli</a:t>
          </a:r>
          <a:endParaRPr lang="fr-FR" dirty="0"/>
        </a:p>
      </dgm:t>
    </dgm:pt>
    <dgm:pt modelId="{EE32C08E-08E4-B048-AC11-BC41F54C1EB1}" type="parTrans" cxnId="{FB2AA9C5-251C-854D-BA77-AABF40824749}">
      <dgm:prSet/>
      <dgm:spPr/>
      <dgm:t>
        <a:bodyPr/>
        <a:lstStyle/>
        <a:p>
          <a:endParaRPr lang="fr-FR"/>
        </a:p>
      </dgm:t>
    </dgm:pt>
    <dgm:pt modelId="{0589E78B-A3A7-204A-ACC9-FBC284EC5291}" type="sibTrans" cxnId="{FB2AA9C5-251C-854D-BA77-AABF40824749}">
      <dgm:prSet/>
      <dgm:spPr/>
      <dgm:t>
        <a:bodyPr/>
        <a:lstStyle/>
        <a:p>
          <a:endParaRPr lang="fr-FR"/>
        </a:p>
      </dgm:t>
    </dgm:pt>
    <dgm:pt modelId="{8E00836B-7B05-6E4A-BCF4-DE27C0954D5B}">
      <dgm:prSet/>
      <dgm:spPr/>
      <dgm:t>
        <a:bodyPr/>
        <a:lstStyle/>
        <a:p>
          <a:r>
            <a:rPr lang="fr-FR" b="0" noProof="0">
              <a:solidFill>
                <a:srgbClr val="333333"/>
              </a:solidFill>
            </a:rPr>
            <a:t>1 service FastAPI : 01-api-gateway</a:t>
          </a:r>
          <a:endParaRPr lang="fr-FR" b="0" noProof="0" dirty="0">
            <a:solidFill>
              <a:srgbClr val="333333"/>
            </a:solidFill>
          </a:endParaRPr>
        </a:p>
      </dgm:t>
    </dgm:pt>
    <dgm:pt modelId="{DAD0694D-40B4-B844-BC3E-EBA6489D24C9}" type="parTrans" cxnId="{292B837D-D96E-FA4C-8E69-11CB3DE8C396}">
      <dgm:prSet/>
      <dgm:spPr/>
      <dgm:t>
        <a:bodyPr/>
        <a:lstStyle/>
        <a:p>
          <a:endParaRPr lang="fr-FR"/>
        </a:p>
      </dgm:t>
    </dgm:pt>
    <dgm:pt modelId="{49A3C63B-4B60-EA4B-B04E-98993B7D2098}" type="sibTrans" cxnId="{292B837D-D96E-FA4C-8E69-11CB3DE8C396}">
      <dgm:prSet/>
      <dgm:spPr/>
      <dgm:t>
        <a:bodyPr/>
        <a:lstStyle/>
        <a:p>
          <a:endParaRPr lang="fr-FR"/>
        </a:p>
      </dgm:t>
    </dgm:pt>
    <dgm:pt modelId="{42BB8436-830E-7443-8671-BE328C4E226B}">
      <dgm:prSet/>
      <dgm:spPr/>
      <dgm:t>
        <a:bodyPr/>
        <a:lstStyle/>
        <a:p>
          <a:r>
            <a:rPr lang="fr-FR" b="0" noProof="0">
              <a:solidFill>
                <a:srgbClr val="333333"/>
              </a:solidFill>
            </a:rPr>
            <a:t>8 services FastStream : 03 a 09</a:t>
          </a:r>
          <a:endParaRPr lang="fr-FR" b="0" noProof="0" dirty="0">
            <a:solidFill>
              <a:srgbClr val="333333"/>
            </a:solidFill>
          </a:endParaRPr>
        </a:p>
      </dgm:t>
    </dgm:pt>
    <dgm:pt modelId="{B772655B-55C5-754A-8130-F2F7DEDB63B3}" type="parTrans" cxnId="{730B06AB-BC7E-6540-B318-80A0E8965F0C}">
      <dgm:prSet/>
      <dgm:spPr/>
      <dgm:t>
        <a:bodyPr/>
        <a:lstStyle/>
        <a:p>
          <a:endParaRPr lang="fr-FR"/>
        </a:p>
      </dgm:t>
    </dgm:pt>
    <dgm:pt modelId="{B61007A2-5145-D645-BA52-934FC087AF61}" type="sibTrans" cxnId="{730B06AB-BC7E-6540-B318-80A0E8965F0C}">
      <dgm:prSet/>
      <dgm:spPr/>
      <dgm:t>
        <a:bodyPr/>
        <a:lstStyle/>
        <a:p>
          <a:endParaRPr lang="fr-FR"/>
        </a:p>
      </dgm:t>
    </dgm:pt>
    <dgm:pt modelId="{537F248A-37EC-264D-9D56-01E275CA54B2}">
      <dgm:prSet/>
      <dgm:spPr/>
      <dgm:t>
        <a:bodyPr/>
        <a:lstStyle/>
        <a:p>
          <a:r>
            <a:rPr lang="fr-FR" b="0" noProof="0">
              <a:solidFill>
                <a:srgbClr val="333333"/>
              </a:solidFill>
            </a:rPr>
            <a:t>Communication via NATS (JetStream)</a:t>
          </a:r>
          <a:endParaRPr lang="fr-FR" b="0" noProof="0" dirty="0">
            <a:solidFill>
              <a:srgbClr val="333333"/>
            </a:solidFill>
          </a:endParaRPr>
        </a:p>
      </dgm:t>
    </dgm:pt>
    <dgm:pt modelId="{CBEF9B7D-93A0-A74F-BCC3-DFEBA61A5E3E}" type="parTrans" cxnId="{90FD04BE-3FB2-C44D-9DFE-9131F6B4EF1E}">
      <dgm:prSet/>
      <dgm:spPr/>
      <dgm:t>
        <a:bodyPr/>
        <a:lstStyle/>
        <a:p>
          <a:endParaRPr lang="fr-FR"/>
        </a:p>
      </dgm:t>
    </dgm:pt>
    <dgm:pt modelId="{54AA2F2B-6A26-F240-AFDD-B4FBE503D64D}" type="sibTrans" cxnId="{90FD04BE-3FB2-C44D-9DFE-9131F6B4EF1E}">
      <dgm:prSet/>
      <dgm:spPr/>
      <dgm:t>
        <a:bodyPr/>
        <a:lstStyle/>
        <a:p>
          <a:endParaRPr lang="fr-FR"/>
        </a:p>
      </dgm:t>
    </dgm:pt>
    <dgm:pt modelId="{FA2D7E95-86A3-874A-9EF5-4470DE89E10A}">
      <dgm:prSet/>
      <dgm:spPr/>
      <dgm:t>
        <a:bodyPr/>
        <a:lstStyle/>
        <a:p>
          <a:endParaRPr lang="fr-FR" b="0" noProof="0" dirty="0">
            <a:solidFill>
              <a:srgbClr val="333333"/>
            </a:solidFill>
          </a:endParaRPr>
        </a:p>
      </dgm:t>
    </dgm:pt>
    <dgm:pt modelId="{91437E3F-0B9F-7D4A-9332-E41EE9B607DC}" type="parTrans" cxnId="{B7BB5962-A250-A949-A536-D6BC177E9281}">
      <dgm:prSet/>
      <dgm:spPr/>
      <dgm:t>
        <a:bodyPr/>
        <a:lstStyle/>
        <a:p>
          <a:endParaRPr lang="fr-FR"/>
        </a:p>
      </dgm:t>
    </dgm:pt>
    <dgm:pt modelId="{E8CB5361-3AC7-8943-A0F2-87BBEB919FAD}" type="sibTrans" cxnId="{B7BB5962-A250-A949-A536-D6BC177E9281}">
      <dgm:prSet/>
      <dgm:spPr/>
      <dgm:t>
        <a:bodyPr/>
        <a:lstStyle/>
        <a:p>
          <a:endParaRPr lang="fr-FR"/>
        </a:p>
      </dgm:t>
    </dgm:pt>
    <dgm:pt modelId="{C16B2844-DEFD-3C47-91D0-7F738A7B2450}">
      <dgm:prSet/>
      <dgm:spPr/>
      <dgm:t>
        <a:bodyPr/>
        <a:lstStyle/>
        <a:p>
          <a:r>
            <a:rPr lang="fr-FR" b="1" noProof="0">
              <a:solidFill>
                <a:srgbClr val="333333"/>
              </a:solidFill>
            </a:rPr>
            <a:t>Structure d'un service</a:t>
          </a:r>
          <a:endParaRPr lang="fr-FR" b="1" noProof="0" dirty="0">
            <a:solidFill>
              <a:srgbClr val="333333"/>
            </a:solidFill>
          </a:endParaRPr>
        </a:p>
      </dgm:t>
    </dgm:pt>
    <dgm:pt modelId="{7BB0CDD8-BA6F-5F4A-A1C5-E8959C36F6B8}" type="parTrans" cxnId="{3E2BB84C-C262-F54F-BF1C-9BCEA353255F}">
      <dgm:prSet/>
      <dgm:spPr/>
      <dgm:t>
        <a:bodyPr/>
        <a:lstStyle/>
        <a:p>
          <a:endParaRPr lang="fr-FR"/>
        </a:p>
      </dgm:t>
    </dgm:pt>
    <dgm:pt modelId="{CE632B66-6D36-4C42-B6EF-15705A0BE739}" type="sibTrans" cxnId="{3E2BB84C-C262-F54F-BF1C-9BCEA353255F}">
      <dgm:prSet/>
      <dgm:spPr/>
      <dgm:t>
        <a:bodyPr/>
        <a:lstStyle/>
        <a:p>
          <a:endParaRPr lang="fr-FR"/>
        </a:p>
      </dgm:t>
    </dgm:pt>
    <dgm:pt modelId="{E5AF79CA-B82B-2743-B477-C1F64D607A1A}">
      <dgm:prSet/>
      <dgm:spPr/>
      <dgm:t>
        <a:bodyPr/>
        <a:lstStyle/>
        <a:p>
          <a:r>
            <a:rPr lang="fr-FR" b="0" noProof="0">
              <a:solidFill>
                <a:srgbClr val="333333"/>
              </a:solidFill>
            </a:rPr>
            <a:t>src/pac0/service/&lt;nom&gt;/main.py</a:t>
          </a:r>
          <a:endParaRPr lang="fr-FR" b="0" noProof="0" dirty="0">
            <a:solidFill>
              <a:srgbClr val="333333"/>
            </a:solidFill>
          </a:endParaRPr>
        </a:p>
      </dgm:t>
    </dgm:pt>
    <dgm:pt modelId="{D1A36FBA-3CAA-F24E-A3E8-A6480C61033B}" type="parTrans" cxnId="{FABC1D2D-6F4D-3B4E-AA19-ABAADCD536E1}">
      <dgm:prSet/>
      <dgm:spPr/>
      <dgm:t>
        <a:bodyPr/>
        <a:lstStyle/>
        <a:p>
          <a:endParaRPr lang="fr-FR"/>
        </a:p>
      </dgm:t>
    </dgm:pt>
    <dgm:pt modelId="{8E5DA9CF-E36C-1447-AF85-5830AE724377}" type="sibTrans" cxnId="{FABC1D2D-6F4D-3B4E-AA19-ABAADCD536E1}">
      <dgm:prSet/>
      <dgm:spPr/>
      <dgm:t>
        <a:bodyPr/>
        <a:lstStyle/>
        <a:p>
          <a:endParaRPr lang="fr-FR"/>
        </a:p>
      </dgm:t>
    </dgm:pt>
    <dgm:pt modelId="{C7476E2B-5222-2146-8FA6-5C67E9CCCDB2}">
      <dgm:prSet/>
      <dgm:spPr/>
      <dgm:t>
        <a:bodyPr/>
        <a:lstStyle/>
        <a:p>
          <a:endParaRPr lang="fr-FR" b="0" noProof="0" dirty="0">
            <a:solidFill>
              <a:srgbClr val="333333"/>
            </a:solidFill>
          </a:endParaRPr>
        </a:p>
      </dgm:t>
    </dgm:pt>
    <dgm:pt modelId="{9124D8F8-0433-1545-852A-65BC2DD4011C}" type="parTrans" cxnId="{8A1F9540-519E-5B42-A739-60B2F11E3665}">
      <dgm:prSet/>
      <dgm:spPr/>
      <dgm:t>
        <a:bodyPr/>
        <a:lstStyle/>
        <a:p>
          <a:endParaRPr lang="fr-FR"/>
        </a:p>
      </dgm:t>
    </dgm:pt>
    <dgm:pt modelId="{E9D1BE08-1F44-9D4E-841A-36567F807B39}" type="sibTrans" cxnId="{8A1F9540-519E-5B42-A739-60B2F11E3665}">
      <dgm:prSet/>
      <dgm:spPr/>
      <dgm:t>
        <a:bodyPr/>
        <a:lstStyle/>
        <a:p>
          <a:endParaRPr lang="fr-FR"/>
        </a:p>
      </dgm:t>
    </dgm:pt>
    <dgm:pt modelId="{CF6741C3-ECCD-BD4E-900B-531877EDA99C}">
      <dgm:prSet/>
      <dgm:spPr/>
      <dgm:t>
        <a:bodyPr/>
        <a:lstStyle/>
        <a:p>
          <a:r>
            <a:rPr lang="fr-FR" b="1" noProof="0">
              <a:solidFill>
                <a:srgbClr val="333333"/>
              </a:solidFill>
            </a:rPr>
            <a:t>Fixtures de test partagees</a:t>
          </a:r>
          <a:endParaRPr lang="fr-FR" b="1" noProof="0" dirty="0">
            <a:solidFill>
              <a:srgbClr val="333333"/>
            </a:solidFill>
          </a:endParaRPr>
        </a:p>
      </dgm:t>
    </dgm:pt>
    <dgm:pt modelId="{1F6EB29C-103B-7640-BA06-AEA9052BFD94}" type="parTrans" cxnId="{1593B19D-94E8-794D-905B-7F4B6BB1D6E3}">
      <dgm:prSet/>
      <dgm:spPr/>
      <dgm:t>
        <a:bodyPr/>
        <a:lstStyle/>
        <a:p>
          <a:endParaRPr lang="fr-FR"/>
        </a:p>
      </dgm:t>
    </dgm:pt>
    <dgm:pt modelId="{6F7EA13F-27D7-6043-A0F4-E11A86F6D28F}" type="sibTrans" cxnId="{1593B19D-94E8-794D-905B-7F4B6BB1D6E3}">
      <dgm:prSet/>
      <dgm:spPr/>
      <dgm:t>
        <a:bodyPr/>
        <a:lstStyle/>
        <a:p>
          <a:endParaRPr lang="fr-FR"/>
        </a:p>
      </dgm:t>
    </dgm:pt>
    <dgm:pt modelId="{AC0E3113-597F-1747-8CD3-386822A37625}">
      <dgm:prSet/>
      <dgm:spPr/>
      <dgm:t>
        <a:bodyPr/>
        <a:lstStyle/>
        <a:p>
          <a:r>
            <a:rPr lang="fr-FR" b="0" noProof="0">
              <a:solidFill>
                <a:srgbClr val="333333"/>
              </a:solidFill>
            </a:rPr>
            <a:t>src/pac0/shared/test/</a:t>
          </a:r>
          <a:endParaRPr lang="fr-FR" b="0" noProof="0" dirty="0">
            <a:solidFill>
              <a:srgbClr val="333333"/>
            </a:solidFill>
          </a:endParaRPr>
        </a:p>
      </dgm:t>
    </dgm:pt>
    <dgm:pt modelId="{AA3BD577-7D79-7F45-AB7B-15717962077E}" type="parTrans" cxnId="{4311F0F6-1A28-3F46-9FCC-47D6BCEDFC97}">
      <dgm:prSet/>
      <dgm:spPr/>
      <dgm:t>
        <a:bodyPr/>
        <a:lstStyle/>
        <a:p>
          <a:endParaRPr lang="fr-FR"/>
        </a:p>
      </dgm:t>
    </dgm:pt>
    <dgm:pt modelId="{B0130299-2EED-2940-A759-9E5AA922BA17}" type="sibTrans" cxnId="{4311F0F6-1A28-3F46-9FCC-47D6BCEDFC97}">
      <dgm:prSet/>
      <dgm:spPr/>
      <dgm:t>
        <a:bodyPr/>
        <a:lstStyle/>
        <a:p>
          <a:endParaRPr lang="fr-FR"/>
        </a:p>
      </dgm:t>
    </dgm:pt>
    <dgm:pt modelId="{7059F6AC-1DE3-C047-A889-31C050D37867}">
      <dgm:prSet/>
      <dgm:spPr/>
      <dgm:t>
        <a:bodyPr/>
        <a:lstStyle/>
        <a:p>
          <a:r>
            <a:rPr lang="fr-FR" b="0" noProof="0">
              <a:solidFill>
                <a:srgbClr val="333333"/>
              </a:solidFill>
            </a:rPr>
            <a:t>WorldContext, PacServiceContext</a:t>
          </a:r>
          <a:endParaRPr lang="fr-FR" b="0" noProof="0" dirty="0">
            <a:solidFill>
              <a:srgbClr val="333333"/>
            </a:solidFill>
          </a:endParaRPr>
        </a:p>
      </dgm:t>
    </dgm:pt>
    <dgm:pt modelId="{BF8F71FE-515A-574D-B5CF-0E3F07D6CECA}" type="parTrans" cxnId="{AAAECEFA-0665-E64E-8974-1B4895F039B8}">
      <dgm:prSet/>
      <dgm:spPr/>
      <dgm:t>
        <a:bodyPr/>
        <a:lstStyle/>
        <a:p>
          <a:endParaRPr lang="fr-FR"/>
        </a:p>
      </dgm:t>
    </dgm:pt>
    <dgm:pt modelId="{EC3812A1-6EF7-4644-9135-A94D87691688}" type="sibTrans" cxnId="{AAAECEFA-0665-E64E-8974-1B4895F039B8}">
      <dgm:prSet/>
      <dgm:spPr/>
      <dgm:t>
        <a:bodyPr/>
        <a:lstStyle/>
        <a:p>
          <a:endParaRPr lang="fr-FR"/>
        </a:p>
      </dgm:t>
    </dgm:pt>
    <dgm:pt modelId="{204B4C1F-60CF-FC42-AE70-014A7F6D73E4}">
      <dgm:prSet/>
      <dgm:spPr/>
      <dgm:t>
        <a:bodyPr/>
        <a:lstStyle/>
        <a:p>
          <a:r>
            <a:rPr lang="fr-FR" b="0" noProof="0" dirty="0" err="1">
              <a:solidFill>
                <a:srgbClr val="333333"/>
              </a:solidFill>
            </a:rPr>
            <a:t>NatsServiceContext</a:t>
          </a:r>
          <a:endParaRPr lang="fr-FR" b="0" noProof="0" dirty="0">
            <a:solidFill>
              <a:srgbClr val="333333"/>
            </a:solidFill>
          </a:endParaRPr>
        </a:p>
      </dgm:t>
    </dgm:pt>
    <dgm:pt modelId="{BF6073C3-BC3B-184D-A3E5-60413F508AB2}" type="parTrans" cxnId="{B7A439C7-4AFC-BF49-BC43-C7C0FBFB5E28}">
      <dgm:prSet/>
      <dgm:spPr/>
      <dgm:t>
        <a:bodyPr/>
        <a:lstStyle/>
        <a:p>
          <a:endParaRPr lang="fr-FR"/>
        </a:p>
      </dgm:t>
    </dgm:pt>
    <dgm:pt modelId="{1E146928-93A9-6942-86E9-519648C2093E}" type="sibTrans" cxnId="{B7A439C7-4AFC-BF49-BC43-C7C0FBFB5E28}">
      <dgm:prSet/>
      <dgm:spPr/>
      <dgm:t>
        <a:bodyPr/>
        <a:lstStyle/>
        <a:p>
          <a:endParaRPr lang="fr-FR"/>
        </a:p>
      </dgm:t>
    </dgm:pt>
    <dgm:pt modelId="{50529789-6BFA-2644-B3EB-B93E62FF8DAE}">
      <dgm:prSet/>
      <dgm:spPr/>
      <dgm:t>
        <a:bodyPr/>
        <a:lstStyle/>
        <a:p>
          <a:r>
            <a:rPr lang="fr-FR" b="0" noProof="0">
              <a:solidFill>
                <a:srgbClr val="333333"/>
              </a:solidFill>
            </a:rPr>
            <a:t>Point d'entree : test_scenario.py</a:t>
          </a:r>
          <a:endParaRPr lang="fr-FR" b="0" noProof="0" dirty="0">
            <a:solidFill>
              <a:srgbClr val="333333"/>
            </a:solidFill>
          </a:endParaRPr>
        </a:p>
      </dgm:t>
    </dgm:pt>
    <dgm:pt modelId="{7D342F99-8965-8B4F-BD8E-DF5086D03850}" type="parTrans" cxnId="{FEB9CC0B-F14B-2445-82BA-2566F63D5FD3}">
      <dgm:prSet/>
      <dgm:spPr/>
      <dgm:t>
        <a:bodyPr/>
        <a:lstStyle/>
        <a:p>
          <a:endParaRPr lang="fr-FR"/>
        </a:p>
      </dgm:t>
    </dgm:pt>
    <dgm:pt modelId="{C4C26D01-3A7E-0543-B16A-1C84EF933F55}" type="sibTrans" cxnId="{FEB9CC0B-F14B-2445-82BA-2566F63D5FD3}">
      <dgm:prSet/>
      <dgm:spPr/>
      <dgm:t>
        <a:bodyPr/>
        <a:lstStyle/>
        <a:p>
          <a:endParaRPr lang="fr-FR"/>
        </a:p>
      </dgm:t>
    </dgm:pt>
    <dgm:pt modelId="{DB164036-09E3-E94F-94DD-29A900BCB706}">
      <dgm:prSet/>
      <dgm:spPr/>
      <dgm:t>
        <a:bodyPr/>
        <a:lstStyle/>
        <a:p>
          <a:r>
            <a:rPr lang="fr-FR" b="0" noProof="0">
              <a:solidFill>
                <a:srgbClr val="333333"/>
              </a:solidFill>
            </a:rPr>
            <a:t>Charge tous les .feature du projet</a:t>
          </a:r>
          <a:endParaRPr lang="fr-FR" b="0" noProof="0" dirty="0">
            <a:solidFill>
              <a:srgbClr val="333333"/>
            </a:solidFill>
          </a:endParaRPr>
        </a:p>
      </dgm:t>
    </dgm:pt>
    <dgm:pt modelId="{4849DF9D-20C6-0E41-918E-60A3B64C51BE}" type="parTrans" cxnId="{C40F83E1-25FB-854D-A479-C27AB4049027}">
      <dgm:prSet/>
      <dgm:spPr/>
      <dgm:t>
        <a:bodyPr/>
        <a:lstStyle/>
        <a:p>
          <a:endParaRPr lang="fr-FR"/>
        </a:p>
      </dgm:t>
    </dgm:pt>
    <dgm:pt modelId="{C88D3256-B4A5-D444-A644-94F13A4D74CF}" type="sibTrans" cxnId="{C40F83E1-25FB-854D-A479-C27AB4049027}">
      <dgm:prSet/>
      <dgm:spPr/>
      <dgm:t>
        <a:bodyPr/>
        <a:lstStyle/>
        <a:p>
          <a:endParaRPr lang="fr-FR"/>
        </a:p>
      </dgm:t>
    </dgm:pt>
    <dgm:pt modelId="{A9325D94-80A5-3F40-84A3-6DB2AC6B8E31}">
      <dgm:prSet/>
      <dgm:spPr/>
      <dgm:t>
        <a:bodyPr/>
        <a:lstStyle/>
        <a:p>
          <a:endParaRPr lang="fr-FR" b="0" noProof="0" dirty="0">
            <a:solidFill>
              <a:srgbClr val="333333"/>
            </a:solidFill>
          </a:endParaRPr>
        </a:p>
      </dgm:t>
    </dgm:pt>
    <dgm:pt modelId="{CA6A21D5-CEBF-4D41-BF95-F92A72DEAC37}" type="parTrans" cxnId="{4CB9C58F-E2B5-BC47-997C-3D5AE856D469}">
      <dgm:prSet/>
      <dgm:spPr/>
      <dgm:t>
        <a:bodyPr/>
        <a:lstStyle/>
        <a:p>
          <a:endParaRPr lang="fr-FR"/>
        </a:p>
      </dgm:t>
    </dgm:pt>
    <dgm:pt modelId="{76079E29-1F25-AB4F-A44D-B7EA10DE0A44}" type="sibTrans" cxnId="{4CB9C58F-E2B5-BC47-997C-3D5AE856D469}">
      <dgm:prSet/>
      <dgm:spPr/>
      <dgm:t>
        <a:bodyPr/>
        <a:lstStyle/>
        <a:p>
          <a:endParaRPr lang="fr-FR"/>
        </a:p>
      </dgm:t>
    </dgm:pt>
    <dgm:pt modelId="{FCAE7B93-812F-9646-BCCC-7F06D779381E}">
      <dgm:prSet/>
      <dgm:spPr/>
      <dgm:t>
        <a:bodyPr/>
        <a:lstStyle/>
        <a:p>
          <a:r>
            <a:rPr lang="fr-FR" b="1" noProof="0">
              <a:solidFill>
                <a:srgbClr val="333333"/>
              </a:solidFill>
            </a:rPr>
            <a:t>Step definitions</a:t>
          </a:r>
          <a:endParaRPr lang="fr-FR" b="1" noProof="0" dirty="0">
            <a:solidFill>
              <a:srgbClr val="333333"/>
            </a:solidFill>
          </a:endParaRPr>
        </a:p>
      </dgm:t>
    </dgm:pt>
    <dgm:pt modelId="{F483B0DB-2217-FE4F-84BE-CC4850EA67BB}" type="parTrans" cxnId="{74BDB4A4-F4F5-7D44-9437-983DDBA19659}">
      <dgm:prSet/>
      <dgm:spPr/>
      <dgm:t>
        <a:bodyPr/>
        <a:lstStyle/>
        <a:p>
          <a:endParaRPr lang="fr-FR"/>
        </a:p>
      </dgm:t>
    </dgm:pt>
    <dgm:pt modelId="{4A70D587-558B-E84B-87E5-748F066DC3A3}" type="sibTrans" cxnId="{74BDB4A4-F4F5-7D44-9437-983DDBA19659}">
      <dgm:prSet/>
      <dgm:spPr/>
      <dgm:t>
        <a:bodyPr/>
        <a:lstStyle/>
        <a:p>
          <a:endParaRPr lang="fr-FR"/>
        </a:p>
      </dgm:t>
    </dgm:pt>
    <dgm:pt modelId="{40B71309-C497-B64E-9851-DE884A810A5D}">
      <dgm:prSet/>
      <dgm:spPr/>
      <dgm:t>
        <a:bodyPr/>
        <a:lstStyle/>
        <a:p>
          <a:r>
            <a:rPr lang="fr-FR" b="0" noProof="0">
              <a:solidFill>
                <a:srgbClr val="333333"/>
              </a:solidFill>
            </a:rPr>
            <a:t>src/pac_bdd/api.py : appels REST</a:t>
          </a:r>
          <a:endParaRPr lang="fr-FR" b="0" noProof="0" dirty="0">
            <a:solidFill>
              <a:srgbClr val="333333"/>
            </a:solidFill>
          </a:endParaRPr>
        </a:p>
      </dgm:t>
    </dgm:pt>
    <dgm:pt modelId="{9D687499-187D-404D-BC27-ED1A677796D9}" type="parTrans" cxnId="{0E8BE369-3D72-A04D-B1E7-0D43D254B1CA}">
      <dgm:prSet/>
      <dgm:spPr/>
      <dgm:t>
        <a:bodyPr/>
        <a:lstStyle/>
        <a:p>
          <a:endParaRPr lang="fr-FR"/>
        </a:p>
      </dgm:t>
    </dgm:pt>
    <dgm:pt modelId="{C5F476B7-EC6F-8243-9DAF-775FF07B849A}" type="sibTrans" cxnId="{0E8BE369-3D72-A04D-B1E7-0D43D254B1CA}">
      <dgm:prSet/>
      <dgm:spPr/>
      <dgm:t>
        <a:bodyPr/>
        <a:lstStyle/>
        <a:p>
          <a:endParaRPr lang="fr-FR"/>
        </a:p>
      </dgm:t>
    </dgm:pt>
    <dgm:pt modelId="{E4DEDA2C-DD44-DB45-ABA4-6B3C0D3DA02D}">
      <dgm:prSet/>
      <dgm:spPr/>
      <dgm:t>
        <a:bodyPr/>
        <a:lstStyle/>
        <a:p>
          <a:r>
            <a:rPr lang="fr-FR" b="0" noProof="0">
              <a:solidFill>
                <a:srgbClr val="333333"/>
              </a:solidFill>
            </a:rPr>
            <a:t>src/pac_bdd/peppol.py : routage</a:t>
          </a:r>
          <a:endParaRPr lang="fr-FR" b="0" noProof="0" dirty="0">
            <a:solidFill>
              <a:srgbClr val="333333"/>
            </a:solidFill>
          </a:endParaRPr>
        </a:p>
      </dgm:t>
    </dgm:pt>
    <dgm:pt modelId="{DD5ED29C-9323-A143-8566-DA41C7F7D45D}" type="parTrans" cxnId="{31A0FB4C-764D-CB40-A40A-78966A035AE4}">
      <dgm:prSet/>
      <dgm:spPr/>
      <dgm:t>
        <a:bodyPr/>
        <a:lstStyle/>
        <a:p>
          <a:endParaRPr lang="fr-FR"/>
        </a:p>
      </dgm:t>
    </dgm:pt>
    <dgm:pt modelId="{DDA530AD-F8F6-A94B-94EB-4800F0338245}" type="sibTrans" cxnId="{31A0FB4C-764D-CB40-A40A-78966A035AE4}">
      <dgm:prSet/>
      <dgm:spPr/>
      <dgm:t>
        <a:bodyPr/>
        <a:lstStyle/>
        <a:p>
          <a:endParaRPr lang="fr-FR"/>
        </a:p>
      </dgm:t>
    </dgm:pt>
    <dgm:pt modelId="{C713B7BB-DB1F-6C42-91AD-A0F6AD04C989}">
      <dgm:prSet/>
      <dgm:spPr/>
      <dgm:t>
        <a:bodyPr/>
        <a:lstStyle/>
        <a:p>
          <a:r>
            <a:rPr lang="fr-FR" b="0" noProof="0">
              <a:solidFill>
                <a:srgbClr val="333333"/>
              </a:solidFill>
            </a:rPr>
            <a:t>src/pac_bdd/service.py : services</a:t>
          </a:r>
          <a:endParaRPr lang="fr-FR" b="0" noProof="0" dirty="0">
            <a:solidFill>
              <a:srgbClr val="333333"/>
            </a:solidFill>
          </a:endParaRPr>
        </a:p>
      </dgm:t>
    </dgm:pt>
    <dgm:pt modelId="{8DACF831-3984-CD49-A0BC-B455F2449663}" type="parTrans" cxnId="{ED37A9E2-10F8-9F4D-9121-6AB8DFF1A46C}">
      <dgm:prSet/>
      <dgm:spPr/>
      <dgm:t>
        <a:bodyPr/>
        <a:lstStyle/>
        <a:p>
          <a:endParaRPr lang="fr-FR"/>
        </a:p>
      </dgm:t>
    </dgm:pt>
    <dgm:pt modelId="{815DE90E-5E5E-C84B-B575-AFE58CB12A34}" type="sibTrans" cxnId="{ED37A9E2-10F8-9F4D-9121-6AB8DFF1A46C}">
      <dgm:prSet/>
      <dgm:spPr/>
      <dgm:t>
        <a:bodyPr/>
        <a:lstStyle/>
        <a:p>
          <a:endParaRPr lang="fr-FR"/>
        </a:p>
      </dgm:t>
    </dgm:pt>
    <dgm:pt modelId="{B7E96974-7F20-D14F-8670-297A1AE58525}">
      <dgm:prSet/>
      <dgm:spPr/>
      <dgm:t>
        <a:bodyPr/>
        <a:lstStyle/>
        <a:p>
          <a:r>
            <a:rPr lang="fr-FR" b="0" noProof="0">
              <a:solidFill>
                <a:srgbClr val="333333"/>
              </a:solidFill>
            </a:rPr>
            <a:t>src/pac_bdd/esb.py : bus de messages</a:t>
          </a:r>
          <a:endParaRPr lang="fr-FR" b="0" noProof="0" dirty="0">
            <a:solidFill>
              <a:srgbClr val="333333"/>
            </a:solidFill>
          </a:endParaRPr>
        </a:p>
      </dgm:t>
    </dgm:pt>
    <dgm:pt modelId="{D639C840-71B4-3740-8C2A-C6F55102683F}" type="parTrans" cxnId="{B399026B-0FE9-6C45-99CC-90E5C1EDCEB9}">
      <dgm:prSet/>
      <dgm:spPr/>
      <dgm:t>
        <a:bodyPr/>
        <a:lstStyle/>
        <a:p>
          <a:endParaRPr lang="fr-FR"/>
        </a:p>
      </dgm:t>
    </dgm:pt>
    <dgm:pt modelId="{ED1DBC68-7A44-9444-BABF-F25CACC4047D}" type="sibTrans" cxnId="{B399026B-0FE9-6C45-99CC-90E5C1EDCEB9}">
      <dgm:prSet/>
      <dgm:spPr/>
      <dgm:t>
        <a:bodyPr/>
        <a:lstStyle/>
        <a:p>
          <a:endParaRPr lang="fr-FR"/>
        </a:p>
      </dgm:t>
    </dgm:pt>
    <dgm:pt modelId="{C70C71F6-BF13-7143-9DA3-5C41BFE61F97}">
      <dgm:prSet/>
      <dgm:spPr/>
      <dgm:t>
        <a:bodyPr/>
        <a:lstStyle/>
        <a:p>
          <a:r>
            <a:rPr lang="fr-FR" b="0" noProof="0" dirty="0" err="1">
              <a:solidFill>
                <a:srgbClr val="333333"/>
              </a:solidFill>
            </a:rPr>
            <a:t>steps.py</a:t>
          </a:r>
          <a:r>
            <a:rPr lang="fr-FR" b="0" noProof="0" dirty="0">
              <a:solidFill>
                <a:srgbClr val="333333"/>
              </a:solidFill>
            </a:rPr>
            <a:t> : import central</a:t>
          </a:r>
        </a:p>
      </dgm:t>
    </dgm:pt>
    <dgm:pt modelId="{A90635AE-D489-074B-97D9-578FB7AD020E}" type="parTrans" cxnId="{42F1C638-6559-0142-B549-FD25BD999D2D}">
      <dgm:prSet/>
      <dgm:spPr/>
      <dgm:t>
        <a:bodyPr/>
        <a:lstStyle/>
        <a:p>
          <a:endParaRPr lang="fr-FR"/>
        </a:p>
      </dgm:t>
    </dgm:pt>
    <dgm:pt modelId="{988CBDEC-5090-FE4B-9039-F090B05B0045}" type="sibTrans" cxnId="{42F1C638-6559-0142-B549-FD25BD999D2D}">
      <dgm:prSet/>
      <dgm:spPr/>
      <dgm:t>
        <a:bodyPr/>
        <a:lstStyle/>
        <a:p>
          <a:endParaRPr lang="fr-FR"/>
        </a:p>
      </dgm:t>
    </dgm:pt>
    <dgm:pt modelId="{DB84401D-C17A-F24A-BB23-E4E5E3FD588A}">
      <dgm:prSet phldrT="[Texte]"/>
      <dgm:spPr/>
      <dgm:t>
        <a:bodyPr/>
        <a:lstStyle/>
        <a:p>
          <a:r>
            <a:rPr lang="fr-FR" b="0" noProof="0">
              <a:solidFill>
                <a:srgbClr val="333333"/>
              </a:solidFill>
            </a:rPr>
            <a:t>uvx pac0-cli@latest run &lt;N&gt;</a:t>
          </a:r>
          <a:endParaRPr lang="fr-FR" dirty="0"/>
        </a:p>
      </dgm:t>
    </dgm:pt>
    <dgm:pt modelId="{EBEDB9A3-D8C7-5440-AC22-20ED938C3B20}" type="parTrans" cxnId="{4F853D87-0719-BB48-852B-B24038238EE1}">
      <dgm:prSet/>
      <dgm:spPr/>
      <dgm:t>
        <a:bodyPr/>
        <a:lstStyle/>
        <a:p>
          <a:endParaRPr lang="fr-FR"/>
        </a:p>
      </dgm:t>
    </dgm:pt>
    <dgm:pt modelId="{4C72BCD3-9740-0A4B-9B13-4EF7D2319FCA}" type="sibTrans" cxnId="{4F853D87-0719-BB48-852B-B24038238EE1}">
      <dgm:prSet/>
      <dgm:spPr/>
      <dgm:t>
        <a:bodyPr/>
        <a:lstStyle/>
        <a:p>
          <a:endParaRPr lang="fr-FR"/>
        </a:p>
      </dgm:t>
    </dgm:pt>
    <dgm:pt modelId="{5D0A2296-80A2-134E-934B-BD79472DDE1A}" type="pres">
      <dgm:prSet presAssocID="{2CD76DA0-802A-EE43-99D3-B217E1184717}" presName="Name0" presStyleCnt="0">
        <dgm:presLayoutVars>
          <dgm:dir/>
          <dgm:animLvl val="lvl"/>
          <dgm:resizeHandles val="exact"/>
        </dgm:presLayoutVars>
      </dgm:prSet>
      <dgm:spPr/>
    </dgm:pt>
    <dgm:pt modelId="{AB2BEA6A-7F47-C74A-A15F-E90E10E4DA6D}" type="pres">
      <dgm:prSet presAssocID="{E637EB8D-E37E-F643-8E19-79949C004037}" presName="composite" presStyleCnt="0"/>
      <dgm:spPr/>
    </dgm:pt>
    <dgm:pt modelId="{383CA967-D8CB-8848-BE7D-586401571967}" type="pres">
      <dgm:prSet presAssocID="{E637EB8D-E37E-F643-8E19-79949C00403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2ED38B7F-45F2-A24E-97FF-7685EF72238A}" type="pres">
      <dgm:prSet presAssocID="{E637EB8D-E37E-F643-8E19-79949C004037}" presName="desTx" presStyleLbl="alignAccFollowNode1" presStyleIdx="0" presStyleCnt="3">
        <dgm:presLayoutVars>
          <dgm:bulletEnabled val="1"/>
        </dgm:presLayoutVars>
      </dgm:prSet>
      <dgm:spPr/>
    </dgm:pt>
    <dgm:pt modelId="{96A44A49-DAEA-6642-A2BF-BBB1B8051464}" type="pres">
      <dgm:prSet presAssocID="{B741E642-2157-4843-A947-6B3700F215DD}" presName="space" presStyleCnt="0"/>
      <dgm:spPr/>
    </dgm:pt>
    <dgm:pt modelId="{885D26F7-F58D-5448-8DD1-F9EFCD84489A}" type="pres">
      <dgm:prSet presAssocID="{C95F9121-7836-EB4E-BAFB-F80203311E33}" presName="composite" presStyleCnt="0"/>
      <dgm:spPr/>
    </dgm:pt>
    <dgm:pt modelId="{066B1BCA-F84F-404B-95AC-62196A37E9AC}" type="pres">
      <dgm:prSet presAssocID="{C95F9121-7836-EB4E-BAFB-F80203311E33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78E126F3-DF19-614F-A7D3-4C72634A9362}" type="pres">
      <dgm:prSet presAssocID="{C95F9121-7836-EB4E-BAFB-F80203311E33}" presName="desTx" presStyleLbl="alignAccFollowNode1" presStyleIdx="1" presStyleCnt="3">
        <dgm:presLayoutVars>
          <dgm:bulletEnabled val="1"/>
        </dgm:presLayoutVars>
      </dgm:prSet>
      <dgm:spPr/>
    </dgm:pt>
    <dgm:pt modelId="{4118479B-6B23-BD4E-9AC6-FBB6135C6433}" type="pres">
      <dgm:prSet presAssocID="{33292BF6-BBA4-2341-975C-5AB209244C08}" presName="space" presStyleCnt="0"/>
      <dgm:spPr/>
    </dgm:pt>
    <dgm:pt modelId="{738E674B-2849-3F47-A202-A9358635885D}" type="pres">
      <dgm:prSet presAssocID="{82C155B4-E5ED-814A-85A6-535E5CC65137}" presName="composite" presStyleCnt="0"/>
      <dgm:spPr/>
    </dgm:pt>
    <dgm:pt modelId="{3BE2A35F-1F04-D745-B579-5FE8FF976D13}" type="pres">
      <dgm:prSet presAssocID="{82C155B4-E5ED-814A-85A6-535E5CC6513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31883603-1C8F-6849-B1B4-B744634910ED}" type="pres">
      <dgm:prSet presAssocID="{82C155B4-E5ED-814A-85A6-535E5CC65137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7F5E9305-1A12-8C45-A641-1A60CA546887}" type="presOf" srcId="{E4DEDA2C-DD44-DB45-ABA4-6B3C0D3DA02D}" destId="{78E126F3-DF19-614F-A7D3-4C72634A9362}" srcOrd="0" destOrd="6" presId="urn:microsoft.com/office/officeart/2005/8/layout/hList1"/>
    <dgm:cxn modelId="{04406D0A-70BE-8542-A3E7-A6499F6126E6}" srcId="{C95F9121-7836-EB4E-BAFB-F80203311E33}" destId="{36FCCCF9-9DFC-E14C-8C2B-221528520239}" srcOrd="0" destOrd="0" parTransId="{A4335B81-B4CA-DC4B-82C7-07E3A9A8D2A2}" sibTransId="{EFE05F59-DA27-C04D-A33F-E1F83FAFF927}"/>
    <dgm:cxn modelId="{FEB9CC0B-F14B-2445-82BA-2566F63D5FD3}" srcId="{36FCCCF9-9DFC-E14C-8C2B-221528520239}" destId="{50529789-6BFA-2644-B3EB-B93E62FF8DAE}" srcOrd="0" destOrd="0" parTransId="{7D342F99-8965-8B4F-BD8E-DF5086D03850}" sibTransId="{C4C26D01-3A7E-0543-B16A-1C84EF933F55}"/>
    <dgm:cxn modelId="{4F04920E-4DA1-824D-BC0F-5E76DC1A1CF6}" type="presOf" srcId="{537F248A-37EC-264D-9D56-01E275CA54B2}" destId="{2ED38B7F-45F2-A24E-97FF-7685EF72238A}" srcOrd="0" destOrd="3" presId="urn:microsoft.com/office/officeart/2005/8/layout/hList1"/>
    <dgm:cxn modelId="{3357E40E-C6D6-8045-B046-D6EA90070320}" type="presOf" srcId="{B7E96974-7F20-D14F-8670-297A1AE58525}" destId="{78E126F3-DF19-614F-A7D3-4C72634A9362}" srcOrd="0" destOrd="8" presId="urn:microsoft.com/office/officeart/2005/8/layout/hList1"/>
    <dgm:cxn modelId="{34061610-2686-F046-A1A2-31D1650A1921}" type="presOf" srcId="{8E00836B-7B05-6E4A-BCF4-DE27C0954D5B}" destId="{2ED38B7F-45F2-A24E-97FF-7685EF72238A}" srcOrd="0" destOrd="1" presId="urn:microsoft.com/office/officeart/2005/8/layout/hList1"/>
    <dgm:cxn modelId="{9B5F7813-751A-E742-B9EA-1B7E2B4BFD05}" srcId="{E637EB8D-E37E-F643-8E19-79949C004037}" destId="{D3A72773-1594-4741-8CD5-F656A504E3C3}" srcOrd="0" destOrd="0" parTransId="{604E6820-9716-E441-8C5E-BCA23ADE8138}" sibTransId="{2D7AB2D5-7268-CE4B-8A5F-AD6C96CE1065}"/>
    <dgm:cxn modelId="{114C1F25-C404-5142-ADD4-3F1EA1B3B0F2}" type="presOf" srcId="{D3A72773-1594-4741-8CD5-F656A504E3C3}" destId="{2ED38B7F-45F2-A24E-97FF-7685EF72238A}" srcOrd="0" destOrd="0" presId="urn:microsoft.com/office/officeart/2005/8/layout/hList1"/>
    <dgm:cxn modelId="{F2283325-BDD6-294B-908F-42004447A80D}" type="presOf" srcId="{DB164036-09E3-E94F-94DD-29A900BCB706}" destId="{78E126F3-DF19-614F-A7D3-4C72634A9362}" srcOrd="0" destOrd="2" presId="urn:microsoft.com/office/officeart/2005/8/layout/hList1"/>
    <dgm:cxn modelId="{FABC1D2D-6F4D-3B4E-AA19-ABAADCD536E1}" srcId="{C16B2844-DEFD-3C47-91D0-7F738A7B2450}" destId="{E5AF79CA-B82B-2743-B477-C1F64D607A1A}" srcOrd="0" destOrd="0" parTransId="{D1A36FBA-3CAA-F24E-A3E8-A6480C61033B}" sibTransId="{8E5DA9CF-E36C-1447-AF85-5830AE724377}"/>
    <dgm:cxn modelId="{C6BA1A31-EE26-FA48-B5FB-809C386473B2}" type="presOf" srcId="{204B4C1F-60CF-FC42-AE70-014A7F6D73E4}" destId="{2ED38B7F-45F2-A24E-97FF-7685EF72238A}" srcOrd="0" destOrd="11" presId="urn:microsoft.com/office/officeart/2005/8/layout/hList1"/>
    <dgm:cxn modelId="{72CD9533-846B-EA44-AC90-690EFB3D9D7D}" type="presOf" srcId="{50529789-6BFA-2644-B3EB-B93E62FF8DAE}" destId="{78E126F3-DF19-614F-A7D3-4C72634A9362}" srcOrd="0" destOrd="1" presId="urn:microsoft.com/office/officeart/2005/8/layout/hList1"/>
    <dgm:cxn modelId="{42F1C638-6559-0142-B549-FD25BD999D2D}" srcId="{FCAE7B93-812F-9646-BCCC-7F06D779381E}" destId="{C70C71F6-BF13-7143-9DA3-5C41BFE61F97}" srcOrd="4" destOrd="0" parTransId="{A90635AE-D489-074B-97D9-578FB7AD020E}" sibTransId="{988CBDEC-5090-FE4B-9039-F090B05B0045}"/>
    <dgm:cxn modelId="{F547433C-D542-7742-AB29-BED41C170401}" type="presOf" srcId="{C70C71F6-BF13-7143-9DA3-5C41BFE61F97}" destId="{78E126F3-DF19-614F-A7D3-4C72634A9362}" srcOrd="0" destOrd="9" presId="urn:microsoft.com/office/officeart/2005/8/layout/hList1"/>
    <dgm:cxn modelId="{8A1F9540-519E-5B42-A739-60B2F11E3665}" srcId="{E637EB8D-E37E-F643-8E19-79949C004037}" destId="{C7476E2B-5222-2146-8FA6-5C67E9CCCDB2}" srcOrd="3" destOrd="0" parTransId="{9124D8F8-0433-1545-852A-65BC2DD4011C}" sibTransId="{E9D1BE08-1F44-9D4E-841A-36567F807B39}"/>
    <dgm:cxn modelId="{E97B8849-9FBC-5349-9245-EE9FB603268F}" type="presOf" srcId="{C95F9121-7836-EB4E-BAFB-F80203311E33}" destId="{066B1BCA-F84F-404B-95AC-62196A37E9AC}" srcOrd="0" destOrd="0" presId="urn:microsoft.com/office/officeart/2005/8/layout/hList1"/>
    <dgm:cxn modelId="{3E2BB84C-C262-F54F-BF1C-9BCEA353255F}" srcId="{E637EB8D-E37E-F643-8E19-79949C004037}" destId="{C16B2844-DEFD-3C47-91D0-7F738A7B2450}" srcOrd="2" destOrd="0" parTransId="{7BB0CDD8-BA6F-5F4A-A1C5-E8959C36F6B8}" sibTransId="{CE632B66-6D36-4C42-B6EF-15705A0BE739}"/>
    <dgm:cxn modelId="{31A0FB4C-764D-CB40-A40A-78966A035AE4}" srcId="{FCAE7B93-812F-9646-BCCC-7F06D779381E}" destId="{E4DEDA2C-DD44-DB45-ABA4-6B3C0D3DA02D}" srcOrd="1" destOrd="0" parTransId="{DD5ED29C-9323-A143-8566-DA41C7F7D45D}" sibTransId="{DDA530AD-F8F6-A94B-94EB-4800F0338245}"/>
    <dgm:cxn modelId="{B7BB5962-A250-A949-A536-D6BC177E9281}" srcId="{E637EB8D-E37E-F643-8E19-79949C004037}" destId="{FA2D7E95-86A3-874A-9EF5-4470DE89E10A}" srcOrd="1" destOrd="0" parTransId="{91437E3F-0B9F-7D4A-9332-E41EE9B607DC}" sibTransId="{E8CB5361-3AC7-8943-A0F2-87BBEB919FAD}"/>
    <dgm:cxn modelId="{CB1EC467-A810-084A-8559-DB8E491A4A25}" type="presOf" srcId="{C16B2844-DEFD-3C47-91D0-7F738A7B2450}" destId="{2ED38B7F-45F2-A24E-97FF-7685EF72238A}" srcOrd="0" destOrd="5" presId="urn:microsoft.com/office/officeart/2005/8/layout/hList1"/>
    <dgm:cxn modelId="{0E8BE369-3D72-A04D-B1E7-0D43D254B1CA}" srcId="{FCAE7B93-812F-9646-BCCC-7F06D779381E}" destId="{40B71309-C497-B64E-9851-DE884A810A5D}" srcOrd="0" destOrd="0" parTransId="{9D687499-187D-404D-BC27-ED1A677796D9}" sibTransId="{C5F476B7-EC6F-8243-9DAF-775FF07B849A}"/>
    <dgm:cxn modelId="{B399026B-0FE9-6C45-99CC-90E5C1EDCEB9}" srcId="{FCAE7B93-812F-9646-BCCC-7F06D779381E}" destId="{B7E96974-7F20-D14F-8670-297A1AE58525}" srcOrd="3" destOrd="0" parTransId="{D639C840-71B4-3740-8C2A-C6F55102683F}" sibTransId="{ED1DBC68-7A44-9444-BABF-F25CACC4047D}"/>
    <dgm:cxn modelId="{5D22356C-B14E-214D-B67D-6E35FA579208}" type="presOf" srcId="{C713B7BB-DB1F-6C42-91AD-A0F6AD04C989}" destId="{78E126F3-DF19-614F-A7D3-4C72634A9362}" srcOrd="0" destOrd="7" presId="urn:microsoft.com/office/officeart/2005/8/layout/hList1"/>
    <dgm:cxn modelId="{7348D86C-D0C4-1B4F-AE42-969960728D4D}" type="presOf" srcId="{AC0E3113-597F-1747-8CD3-386822A37625}" destId="{2ED38B7F-45F2-A24E-97FF-7685EF72238A}" srcOrd="0" destOrd="9" presId="urn:microsoft.com/office/officeart/2005/8/layout/hList1"/>
    <dgm:cxn modelId="{5BEFAD71-6FF7-574F-8B36-F75A168EA47E}" type="presOf" srcId="{C7476E2B-5222-2146-8FA6-5C67E9CCCDB2}" destId="{2ED38B7F-45F2-A24E-97FF-7685EF72238A}" srcOrd="0" destOrd="7" presId="urn:microsoft.com/office/officeart/2005/8/layout/hList1"/>
    <dgm:cxn modelId="{33C30E72-0933-584A-92B7-FB0A73A3AA1F}" srcId="{2CD76DA0-802A-EE43-99D3-B217E1184717}" destId="{E637EB8D-E37E-F643-8E19-79949C004037}" srcOrd="0" destOrd="0" parTransId="{F1459906-3439-5043-AA39-BC16C4CD90AA}" sibTransId="{B741E642-2157-4843-A947-6B3700F215DD}"/>
    <dgm:cxn modelId="{7D07C573-8533-E24B-A623-2B38F6A1717D}" type="presOf" srcId="{E637EB8D-E37E-F643-8E19-79949C004037}" destId="{383CA967-D8CB-8848-BE7D-586401571967}" srcOrd="0" destOrd="0" presId="urn:microsoft.com/office/officeart/2005/8/layout/hList1"/>
    <dgm:cxn modelId="{292B837D-D96E-FA4C-8E69-11CB3DE8C396}" srcId="{D3A72773-1594-4741-8CD5-F656A504E3C3}" destId="{8E00836B-7B05-6E4A-BCF4-DE27C0954D5B}" srcOrd="0" destOrd="0" parTransId="{DAD0694D-40B4-B844-BC3E-EBA6489D24C9}" sibTransId="{49A3C63B-4B60-EA4B-B04E-98993B7D2098}"/>
    <dgm:cxn modelId="{67A3BD83-49B8-914B-AC01-A992AB193D4B}" srcId="{2CD76DA0-802A-EE43-99D3-B217E1184717}" destId="{C95F9121-7836-EB4E-BAFB-F80203311E33}" srcOrd="1" destOrd="0" parTransId="{3FEE0C1E-255E-B243-8BBB-FEAEC02EAD98}" sibTransId="{33292BF6-BBA4-2341-975C-5AB209244C08}"/>
    <dgm:cxn modelId="{4F853D87-0719-BB48-852B-B24038238EE1}" srcId="{82C155B4-E5ED-814A-85A6-535E5CC65137}" destId="{DB84401D-C17A-F24A-BB23-E4E5E3FD588A}" srcOrd="0" destOrd="0" parTransId="{EBEDB9A3-D8C7-5440-AC22-20ED938C3B20}" sibTransId="{4C72BCD3-9740-0A4B-9B13-4EF7D2319FCA}"/>
    <dgm:cxn modelId="{4CB9C58F-E2B5-BC47-997C-3D5AE856D469}" srcId="{C95F9121-7836-EB4E-BAFB-F80203311E33}" destId="{A9325D94-80A5-3F40-84A3-6DB2AC6B8E31}" srcOrd="1" destOrd="0" parTransId="{CA6A21D5-CEBF-4D41-BF95-F92A72DEAC37}" sibTransId="{76079E29-1F25-AB4F-A44D-B7EA10DE0A44}"/>
    <dgm:cxn modelId="{C3DF2B96-18B4-E64D-A85F-5F79F0C7C2B9}" type="presOf" srcId="{FA2D7E95-86A3-874A-9EF5-4470DE89E10A}" destId="{2ED38B7F-45F2-A24E-97FF-7685EF72238A}" srcOrd="0" destOrd="4" presId="urn:microsoft.com/office/officeart/2005/8/layout/hList1"/>
    <dgm:cxn modelId="{A5EB1C97-923D-4E4D-A654-5C27B4736811}" type="presOf" srcId="{82C155B4-E5ED-814A-85A6-535E5CC65137}" destId="{3BE2A35F-1F04-D745-B579-5FE8FF976D13}" srcOrd="0" destOrd="0" presId="urn:microsoft.com/office/officeart/2005/8/layout/hList1"/>
    <dgm:cxn modelId="{E7E1CF9A-02F9-B74F-A47E-40DBDD43E55C}" type="presOf" srcId="{40B71309-C497-B64E-9851-DE884A810A5D}" destId="{78E126F3-DF19-614F-A7D3-4C72634A9362}" srcOrd="0" destOrd="5" presId="urn:microsoft.com/office/officeart/2005/8/layout/hList1"/>
    <dgm:cxn modelId="{1593B19D-94E8-794D-905B-7F4B6BB1D6E3}" srcId="{E637EB8D-E37E-F643-8E19-79949C004037}" destId="{CF6741C3-ECCD-BD4E-900B-531877EDA99C}" srcOrd="4" destOrd="0" parTransId="{1F6EB29C-103B-7640-BA06-AEA9052BFD94}" sibTransId="{6F7EA13F-27D7-6043-A0F4-E11A86F6D28F}"/>
    <dgm:cxn modelId="{74BDB4A4-F4F5-7D44-9437-983DDBA19659}" srcId="{C95F9121-7836-EB4E-BAFB-F80203311E33}" destId="{FCAE7B93-812F-9646-BCCC-7F06D779381E}" srcOrd="2" destOrd="0" parTransId="{F483B0DB-2217-FE4F-84BE-CC4850EA67BB}" sibTransId="{4A70D587-558B-E84B-87E5-748F066DC3A3}"/>
    <dgm:cxn modelId="{730B06AB-BC7E-6540-B318-80A0E8965F0C}" srcId="{D3A72773-1594-4741-8CD5-F656A504E3C3}" destId="{42BB8436-830E-7443-8671-BE328C4E226B}" srcOrd="1" destOrd="0" parTransId="{B772655B-55C5-754A-8130-F2F7DEDB63B3}" sibTransId="{B61007A2-5145-D645-BA52-934FC087AF61}"/>
    <dgm:cxn modelId="{D35102B5-D1F6-584A-96F8-5684799F897A}" type="presOf" srcId="{2CD76DA0-802A-EE43-99D3-B217E1184717}" destId="{5D0A2296-80A2-134E-934B-BD79472DDE1A}" srcOrd="0" destOrd="0" presId="urn:microsoft.com/office/officeart/2005/8/layout/hList1"/>
    <dgm:cxn modelId="{90FD04BE-3FB2-C44D-9DFE-9131F6B4EF1E}" srcId="{D3A72773-1594-4741-8CD5-F656A504E3C3}" destId="{537F248A-37EC-264D-9D56-01E275CA54B2}" srcOrd="2" destOrd="0" parTransId="{CBEF9B7D-93A0-A74F-BCC3-DFEBA61A5E3E}" sibTransId="{54AA2F2B-6A26-F240-AFDD-B4FBE503D64D}"/>
    <dgm:cxn modelId="{FB2AA9C5-251C-854D-BA77-AABF40824749}" srcId="{2CD76DA0-802A-EE43-99D3-B217E1184717}" destId="{82C155B4-E5ED-814A-85A6-535E5CC65137}" srcOrd="2" destOrd="0" parTransId="{EE32C08E-08E4-B048-AC11-BC41F54C1EB1}" sibTransId="{0589E78B-A3A7-204A-ACC9-FBC284EC5291}"/>
    <dgm:cxn modelId="{B7A439C7-4AFC-BF49-BC43-C7C0FBFB5E28}" srcId="{CF6741C3-ECCD-BD4E-900B-531877EDA99C}" destId="{204B4C1F-60CF-FC42-AE70-014A7F6D73E4}" srcOrd="2" destOrd="0" parTransId="{BF6073C3-BC3B-184D-A3E5-60413F508AB2}" sibTransId="{1E146928-93A9-6942-86E9-519648C2093E}"/>
    <dgm:cxn modelId="{608615CB-F3BF-D447-B0D7-691E11AA58CD}" type="presOf" srcId="{CF6741C3-ECCD-BD4E-900B-531877EDA99C}" destId="{2ED38B7F-45F2-A24E-97FF-7685EF72238A}" srcOrd="0" destOrd="8" presId="urn:microsoft.com/office/officeart/2005/8/layout/hList1"/>
    <dgm:cxn modelId="{A11C32CF-E678-914D-A693-D7E691C4BB4F}" type="presOf" srcId="{DB84401D-C17A-F24A-BB23-E4E5E3FD588A}" destId="{31883603-1C8F-6849-B1B4-B744634910ED}" srcOrd="0" destOrd="0" presId="urn:microsoft.com/office/officeart/2005/8/layout/hList1"/>
    <dgm:cxn modelId="{6E0C17D1-8CB4-B244-8528-258765354155}" type="presOf" srcId="{E5AF79CA-B82B-2743-B477-C1F64D607A1A}" destId="{2ED38B7F-45F2-A24E-97FF-7685EF72238A}" srcOrd="0" destOrd="6" presId="urn:microsoft.com/office/officeart/2005/8/layout/hList1"/>
    <dgm:cxn modelId="{C40F83E1-25FB-854D-A479-C27AB4049027}" srcId="{36FCCCF9-9DFC-E14C-8C2B-221528520239}" destId="{DB164036-09E3-E94F-94DD-29A900BCB706}" srcOrd="1" destOrd="0" parTransId="{4849DF9D-20C6-0E41-918E-60A3B64C51BE}" sibTransId="{C88D3256-B4A5-D444-A644-94F13A4D74CF}"/>
    <dgm:cxn modelId="{ED37A9E2-10F8-9F4D-9121-6AB8DFF1A46C}" srcId="{FCAE7B93-812F-9646-BCCC-7F06D779381E}" destId="{C713B7BB-DB1F-6C42-91AD-A0F6AD04C989}" srcOrd="2" destOrd="0" parTransId="{8DACF831-3984-CD49-A0BC-B455F2449663}" sibTransId="{815DE90E-5E5E-C84B-B575-AFE58CB12A34}"/>
    <dgm:cxn modelId="{B02633E3-EFF5-6240-A010-AA7BBFC1B658}" type="presOf" srcId="{FCAE7B93-812F-9646-BCCC-7F06D779381E}" destId="{78E126F3-DF19-614F-A7D3-4C72634A9362}" srcOrd="0" destOrd="4" presId="urn:microsoft.com/office/officeart/2005/8/layout/hList1"/>
    <dgm:cxn modelId="{7F91A9E3-6192-064D-81FD-7583D9474131}" type="presOf" srcId="{36FCCCF9-9DFC-E14C-8C2B-221528520239}" destId="{78E126F3-DF19-614F-A7D3-4C72634A9362}" srcOrd="0" destOrd="0" presId="urn:microsoft.com/office/officeart/2005/8/layout/hList1"/>
    <dgm:cxn modelId="{BBCAC0E8-B294-C84E-BBB7-A4705E01B467}" type="presOf" srcId="{7059F6AC-1DE3-C047-A889-31C050D37867}" destId="{2ED38B7F-45F2-A24E-97FF-7685EF72238A}" srcOrd="0" destOrd="10" presId="urn:microsoft.com/office/officeart/2005/8/layout/hList1"/>
    <dgm:cxn modelId="{F5FF15EF-A185-C644-98BC-09D8225F9381}" type="presOf" srcId="{A9325D94-80A5-3F40-84A3-6DB2AC6B8E31}" destId="{78E126F3-DF19-614F-A7D3-4C72634A9362}" srcOrd="0" destOrd="3" presId="urn:microsoft.com/office/officeart/2005/8/layout/hList1"/>
    <dgm:cxn modelId="{99E63FF4-D198-6142-950C-F2EC8836ABF0}" type="presOf" srcId="{42BB8436-830E-7443-8671-BE328C4E226B}" destId="{2ED38B7F-45F2-A24E-97FF-7685EF72238A}" srcOrd="0" destOrd="2" presId="urn:microsoft.com/office/officeart/2005/8/layout/hList1"/>
    <dgm:cxn modelId="{4311F0F6-1A28-3F46-9FCC-47D6BCEDFC97}" srcId="{CF6741C3-ECCD-BD4E-900B-531877EDA99C}" destId="{AC0E3113-597F-1747-8CD3-386822A37625}" srcOrd="0" destOrd="0" parTransId="{AA3BD577-7D79-7F45-AB7B-15717962077E}" sibTransId="{B0130299-2EED-2940-A759-9E5AA922BA17}"/>
    <dgm:cxn modelId="{AAAECEFA-0665-E64E-8974-1B4895F039B8}" srcId="{CF6741C3-ECCD-BD4E-900B-531877EDA99C}" destId="{7059F6AC-1DE3-C047-A889-31C050D37867}" srcOrd="1" destOrd="0" parTransId="{BF8F71FE-515A-574D-B5CF-0E3F07D6CECA}" sibTransId="{EC3812A1-6EF7-4644-9135-A94D87691688}"/>
    <dgm:cxn modelId="{28DC0253-BE5D-2344-9CE9-9C65CAC12A63}" type="presParOf" srcId="{5D0A2296-80A2-134E-934B-BD79472DDE1A}" destId="{AB2BEA6A-7F47-C74A-A15F-E90E10E4DA6D}" srcOrd="0" destOrd="0" presId="urn:microsoft.com/office/officeart/2005/8/layout/hList1"/>
    <dgm:cxn modelId="{1ACE2B54-C027-154D-BCEE-9E6BDC998AB7}" type="presParOf" srcId="{AB2BEA6A-7F47-C74A-A15F-E90E10E4DA6D}" destId="{383CA967-D8CB-8848-BE7D-586401571967}" srcOrd="0" destOrd="0" presId="urn:microsoft.com/office/officeart/2005/8/layout/hList1"/>
    <dgm:cxn modelId="{A200EF20-7003-2046-91DA-43063F933B42}" type="presParOf" srcId="{AB2BEA6A-7F47-C74A-A15F-E90E10E4DA6D}" destId="{2ED38B7F-45F2-A24E-97FF-7685EF72238A}" srcOrd="1" destOrd="0" presId="urn:microsoft.com/office/officeart/2005/8/layout/hList1"/>
    <dgm:cxn modelId="{26172C82-8DC5-FA4B-BFCA-194990BE519C}" type="presParOf" srcId="{5D0A2296-80A2-134E-934B-BD79472DDE1A}" destId="{96A44A49-DAEA-6642-A2BF-BBB1B8051464}" srcOrd="1" destOrd="0" presId="urn:microsoft.com/office/officeart/2005/8/layout/hList1"/>
    <dgm:cxn modelId="{B50319DC-848A-4646-A548-9C2E6A6F7B2F}" type="presParOf" srcId="{5D0A2296-80A2-134E-934B-BD79472DDE1A}" destId="{885D26F7-F58D-5448-8DD1-F9EFCD84489A}" srcOrd="2" destOrd="0" presId="urn:microsoft.com/office/officeart/2005/8/layout/hList1"/>
    <dgm:cxn modelId="{C3F4AB06-AB6F-6841-BD81-1D5144057276}" type="presParOf" srcId="{885D26F7-F58D-5448-8DD1-F9EFCD84489A}" destId="{066B1BCA-F84F-404B-95AC-62196A37E9AC}" srcOrd="0" destOrd="0" presId="urn:microsoft.com/office/officeart/2005/8/layout/hList1"/>
    <dgm:cxn modelId="{05B3362C-C58E-F946-B8AC-4C0600519910}" type="presParOf" srcId="{885D26F7-F58D-5448-8DD1-F9EFCD84489A}" destId="{78E126F3-DF19-614F-A7D3-4C72634A9362}" srcOrd="1" destOrd="0" presId="urn:microsoft.com/office/officeart/2005/8/layout/hList1"/>
    <dgm:cxn modelId="{3B2D7B02-63E9-0847-B8B5-FA6A8EEB4ECA}" type="presParOf" srcId="{5D0A2296-80A2-134E-934B-BD79472DDE1A}" destId="{4118479B-6B23-BD4E-9AC6-FBB6135C6433}" srcOrd="3" destOrd="0" presId="urn:microsoft.com/office/officeart/2005/8/layout/hList1"/>
    <dgm:cxn modelId="{AA0C137C-CF28-F14D-A4DE-31866CFCE998}" type="presParOf" srcId="{5D0A2296-80A2-134E-934B-BD79472DDE1A}" destId="{738E674B-2849-3F47-A202-A9358635885D}" srcOrd="4" destOrd="0" presId="urn:microsoft.com/office/officeart/2005/8/layout/hList1"/>
    <dgm:cxn modelId="{2248EC44-85CF-5A42-A9AF-FD1A41DCF157}" type="presParOf" srcId="{738E674B-2849-3F47-A202-A9358635885D}" destId="{3BE2A35F-1F04-D745-B579-5FE8FF976D13}" srcOrd="0" destOrd="0" presId="urn:microsoft.com/office/officeart/2005/8/layout/hList1"/>
    <dgm:cxn modelId="{B9C6157D-E6F5-C349-9BED-9C5B8B13FE27}" type="presParOf" srcId="{738E674B-2849-3F47-A202-A9358635885D}" destId="{31883603-1C8F-6849-B1B4-B744634910E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3CA967-D8CB-8848-BE7D-586401571967}">
      <dsp:nvSpPr>
        <dsp:cNvPr id="0" name=""/>
        <dsp:cNvSpPr/>
      </dsp:nvSpPr>
      <dsp:spPr>
        <a:xfrm>
          <a:off x="3245" y="805158"/>
          <a:ext cx="3164467" cy="432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kern="1200" noProof="0" dirty="0">
              <a:solidFill>
                <a:srgbClr val="333333"/>
              </a:solidFill>
            </a:rPr>
            <a:t>packages/pac0 </a:t>
          </a:r>
          <a:endParaRPr lang="fr-FR" sz="1500" kern="1200" dirty="0"/>
        </a:p>
      </dsp:txBody>
      <dsp:txXfrm>
        <a:off x="3245" y="805158"/>
        <a:ext cx="3164467" cy="432000"/>
      </dsp:txXfrm>
    </dsp:sp>
    <dsp:sp modelId="{2ED38B7F-45F2-A24E-97FF-7685EF72238A}">
      <dsp:nvSpPr>
        <dsp:cNvPr id="0" name=""/>
        <dsp:cNvSpPr/>
      </dsp:nvSpPr>
      <dsp:spPr>
        <a:xfrm>
          <a:off x="3245" y="1237158"/>
          <a:ext cx="3164467" cy="33763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b="1" kern="1200" noProof="0" dirty="0">
              <a:solidFill>
                <a:srgbClr val="333333"/>
              </a:solidFill>
            </a:rPr>
            <a:t>Implémentation de référence</a:t>
          </a:r>
          <a:endParaRPr lang="fr-FR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b="0" kern="1200" noProof="0">
              <a:solidFill>
                <a:srgbClr val="333333"/>
              </a:solidFill>
            </a:rPr>
            <a:t>1 service FastAPI : 01-api-gateway</a:t>
          </a:r>
          <a:endParaRPr lang="fr-FR" sz="1500" b="0" kern="1200" noProof="0" dirty="0">
            <a:solidFill>
              <a:srgbClr val="333333"/>
            </a:solidFill>
          </a:endParaRP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b="0" kern="1200" noProof="0">
              <a:solidFill>
                <a:srgbClr val="333333"/>
              </a:solidFill>
            </a:rPr>
            <a:t>8 services FastStream : 03 a 09</a:t>
          </a:r>
          <a:endParaRPr lang="fr-FR" sz="1500" b="0" kern="1200" noProof="0" dirty="0">
            <a:solidFill>
              <a:srgbClr val="333333"/>
            </a:solidFill>
          </a:endParaRP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b="0" kern="1200" noProof="0">
              <a:solidFill>
                <a:srgbClr val="333333"/>
              </a:solidFill>
            </a:rPr>
            <a:t>Communication via NATS (JetStream)</a:t>
          </a:r>
          <a:endParaRPr lang="fr-FR" sz="1500" b="0" kern="1200" noProof="0" dirty="0">
            <a:solidFill>
              <a:srgbClr val="333333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500" b="0" kern="1200" noProof="0" dirty="0">
            <a:solidFill>
              <a:srgbClr val="333333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b="1" kern="1200" noProof="0">
              <a:solidFill>
                <a:srgbClr val="333333"/>
              </a:solidFill>
            </a:rPr>
            <a:t>Structure d'un service</a:t>
          </a:r>
          <a:endParaRPr lang="fr-FR" sz="1500" b="1" kern="1200" noProof="0" dirty="0">
            <a:solidFill>
              <a:srgbClr val="333333"/>
            </a:solidFill>
          </a:endParaRP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b="0" kern="1200" noProof="0">
              <a:solidFill>
                <a:srgbClr val="333333"/>
              </a:solidFill>
            </a:rPr>
            <a:t>src/pac0/service/&lt;nom&gt;/main.py</a:t>
          </a:r>
          <a:endParaRPr lang="fr-FR" sz="1500" b="0" kern="1200" noProof="0" dirty="0">
            <a:solidFill>
              <a:srgbClr val="333333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500" b="0" kern="1200" noProof="0" dirty="0">
            <a:solidFill>
              <a:srgbClr val="333333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b="1" kern="1200" noProof="0">
              <a:solidFill>
                <a:srgbClr val="333333"/>
              </a:solidFill>
            </a:rPr>
            <a:t>Fixtures de test partagees</a:t>
          </a:r>
          <a:endParaRPr lang="fr-FR" sz="1500" b="1" kern="1200" noProof="0" dirty="0">
            <a:solidFill>
              <a:srgbClr val="333333"/>
            </a:solidFill>
          </a:endParaRP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b="0" kern="1200" noProof="0">
              <a:solidFill>
                <a:srgbClr val="333333"/>
              </a:solidFill>
            </a:rPr>
            <a:t>src/pac0/shared/test/</a:t>
          </a:r>
          <a:endParaRPr lang="fr-FR" sz="1500" b="0" kern="1200" noProof="0" dirty="0">
            <a:solidFill>
              <a:srgbClr val="333333"/>
            </a:solidFill>
          </a:endParaRP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b="0" kern="1200" noProof="0">
              <a:solidFill>
                <a:srgbClr val="333333"/>
              </a:solidFill>
            </a:rPr>
            <a:t>WorldContext, PacServiceContext</a:t>
          </a:r>
          <a:endParaRPr lang="fr-FR" sz="1500" b="0" kern="1200" noProof="0" dirty="0">
            <a:solidFill>
              <a:srgbClr val="333333"/>
            </a:solidFill>
          </a:endParaRP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b="0" kern="1200" noProof="0" dirty="0" err="1">
              <a:solidFill>
                <a:srgbClr val="333333"/>
              </a:solidFill>
            </a:rPr>
            <a:t>NatsServiceContext</a:t>
          </a:r>
          <a:endParaRPr lang="fr-FR" sz="1500" b="0" kern="1200" noProof="0" dirty="0">
            <a:solidFill>
              <a:srgbClr val="333333"/>
            </a:solidFill>
          </a:endParaRPr>
        </a:p>
      </dsp:txBody>
      <dsp:txXfrm>
        <a:off x="3245" y="1237158"/>
        <a:ext cx="3164467" cy="3376350"/>
      </dsp:txXfrm>
    </dsp:sp>
    <dsp:sp modelId="{066B1BCA-F84F-404B-95AC-62196A37E9AC}">
      <dsp:nvSpPr>
        <dsp:cNvPr id="0" name=""/>
        <dsp:cNvSpPr/>
      </dsp:nvSpPr>
      <dsp:spPr>
        <a:xfrm>
          <a:off x="3610738" y="805158"/>
          <a:ext cx="3164467" cy="432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kern="1200" noProof="0" dirty="0">
              <a:solidFill>
                <a:srgbClr val="333333"/>
              </a:solidFill>
            </a:rPr>
            <a:t>packages/</a:t>
          </a:r>
          <a:r>
            <a:rPr lang="fr-FR" sz="1500" b="1" kern="1200" noProof="0" dirty="0" err="1">
              <a:solidFill>
                <a:srgbClr val="333333"/>
              </a:solidFill>
            </a:rPr>
            <a:t>pac-bdd</a:t>
          </a:r>
          <a:r>
            <a:rPr lang="fr-FR" sz="1500" b="1" kern="1200" noProof="0" dirty="0">
              <a:solidFill>
                <a:srgbClr val="333333"/>
              </a:solidFill>
            </a:rPr>
            <a:t> </a:t>
          </a:r>
          <a:endParaRPr lang="fr-FR" sz="1500" kern="1200" dirty="0"/>
        </a:p>
      </dsp:txBody>
      <dsp:txXfrm>
        <a:off x="3610738" y="805158"/>
        <a:ext cx="3164467" cy="432000"/>
      </dsp:txXfrm>
    </dsp:sp>
    <dsp:sp modelId="{78E126F3-DF19-614F-A7D3-4C72634A9362}">
      <dsp:nvSpPr>
        <dsp:cNvPr id="0" name=""/>
        <dsp:cNvSpPr/>
      </dsp:nvSpPr>
      <dsp:spPr>
        <a:xfrm>
          <a:off x="3610738" y="1237158"/>
          <a:ext cx="3164467" cy="33763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b="1" kern="1200" noProof="0" dirty="0">
              <a:solidFill>
                <a:srgbClr val="333333"/>
              </a:solidFill>
            </a:rPr>
            <a:t>Tests BDD</a:t>
          </a:r>
          <a:endParaRPr lang="fr-FR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b="0" kern="1200" noProof="0">
              <a:solidFill>
                <a:srgbClr val="333333"/>
              </a:solidFill>
            </a:rPr>
            <a:t>Point d'entree : test_scenario.py</a:t>
          </a:r>
          <a:endParaRPr lang="fr-FR" sz="1500" b="0" kern="1200" noProof="0" dirty="0">
            <a:solidFill>
              <a:srgbClr val="333333"/>
            </a:solidFill>
          </a:endParaRP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b="0" kern="1200" noProof="0">
              <a:solidFill>
                <a:srgbClr val="333333"/>
              </a:solidFill>
            </a:rPr>
            <a:t>Charge tous les .feature du projet</a:t>
          </a:r>
          <a:endParaRPr lang="fr-FR" sz="1500" b="0" kern="1200" noProof="0" dirty="0">
            <a:solidFill>
              <a:srgbClr val="333333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500" b="0" kern="1200" noProof="0" dirty="0">
            <a:solidFill>
              <a:srgbClr val="333333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b="1" kern="1200" noProof="0">
              <a:solidFill>
                <a:srgbClr val="333333"/>
              </a:solidFill>
            </a:rPr>
            <a:t>Step definitions</a:t>
          </a:r>
          <a:endParaRPr lang="fr-FR" sz="1500" b="1" kern="1200" noProof="0" dirty="0">
            <a:solidFill>
              <a:srgbClr val="333333"/>
            </a:solidFill>
          </a:endParaRP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b="0" kern="1200" noProof="0">
              <a:solidFill>
                <a:srgbClr val="333333"/>
              </a:solidFill>
            </a:rPr>
            <a:t>src/pac_bdd/api.py : appels REST</a:t>
          </a:r>
          <a:endParaRPr lang="fr-FR" sz="1500" b="0" kern="1200" noProof="0" dirty="0">
            <a:solidFill>
              <a:srgbClr val="333333"/>
            </a:solidFill>
          </a:endParaRP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b="0" kern="1200" noProof="0">
              <a:solidFill>
                <a:srgbClr val="333333"/>
              </a:solidFill>
            </a:rPr>
            <a:t>src/pac_bdd/peppol.py : routage</a:t>
          </a:r>
          <a:endParaRPr lang="fr-FR" sz="1500" b="0" kern="1200" noProof="0" dirty="0">
            <a:solidFill>
              <a:srgbClr val="333333"/>
            </a:solidFill>
          </a:endParaRP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b="0" kern="1200" noProof="0">
              <a:solidFill>
                <a:srgbClr val="333333"/>
              </a:solidFill>
            </a:rPr>
            <a:t>src/pac_bdd/service.py : services</a:t>
          </a:r>
          <a:endParaRPr lang="fr-FR" sz="1500" b="0" kern="1200" noProof="0" dirty="0">
            <a:solidFill>
              <a:srgbClr val="333333"/>
            </a:solidFill>
          </a:endParaRP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b="0" kern="1200" noProof="0">
              <a:solidFill>
                <a:srgbClr val="333333"/>
              </a:solidFill>
            </a:rPr>
            <a:t>src/pac_bdd/esb.py : bus de messages</a:t>
          </a:r>
          <a:endParaRPr lang="fr-FR" sz="1500" b="0" kern="1200" noProof="0" dirty="0">
            <a:solidFill>
              <a:srgbClr val="333333"/>
            </a:solidFill>
          </a:endParaRP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b="0" kern="1200" noProof="0" dirty="0" err="1">
              <a:solidFill>
                <a:srgbClr val="333333"/>
              </a:solidFill>
            </a:rPr>
            <a:t>steps.py</a:t>
          </a:r>
          <a:r>
            <a:rPr lang="fr-FR" sz="1500" b="0" kern="1200" noProof="0" dirty="0">
              <a:solidFill>
                <a:srgbClr val="333333"/>
              </a:solidFill>
            </a:rPr>
            <a:t> : import central</a:t>
          </a:r>
        </a:p>
      </dsp:txBody>
      <dsp:txXfrm>
        <a:off x="3610738" y="1237158"/>
        <a:ext cx="3164467" cy="3376350"/>
      </dsp:txXfrm>
    </dsp:sp>
    <dsp:sp modelId="{3BE2A35F-1F04-D745-B579-5FE8FF976D13}">
      <dsp:nvSpPr>
        <dsp:cNvPr id="0" name=""/>
        <dsp:cNvSpPr/>
      </dsp:nvSpPr>
      <dsp:spPr>
        <a:xfrm>
          <a:off x="7218231" y="805158"/>
          <a:ext cx="3164467" cy="432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kern="1200" noProof="0" dirty="0">
              <a:solidFill>
                <a:srgbClr val="333333"/>
              </a:solidFill>
            </a:rPr>
            <a:t>packages/pac0-cli</a:t>
          </a:r>
          <a:endParaRPr lang="fr-FR" sz="1500" kern="1200" dirty="0"/>
        </a:p>
      </dsp:txBody>
      <dsp:txXfrm>
        <a:off x="7218231" y="805158"/>
        <a:ext cx="3164467" cy="432000"/>
      </dsp:txXfrm>
    </dsp:sp>
    <dsp:sp modelId="{31883603-1C8F-6849-B1B4-B744634910ED}">
      <dsp:nvSpPr>
        <dsp:cNvPr id="0" name=""/>
        <dsp:cNvSpPr/>
      </dsp:nvSpPr>
      <dsp:spPr>
        <a:xfrm>
          <a:off x="7218231" y="1237158"/>
          <a:ext cx="3164467" cy="33763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b="0" kern="1200" noProof="0">
              <a:solidFill>
                <a:srgbClr val="333333"/>
              </a:solidFill>
            </a:rPr>
            <a:t>uvx pac0-cli@latest run &lt;N&gt;</a:t>
          </a:r>
          <a:endParaRPr lang="fr-FR" sz="1500" kern="1200" dirty="0"/>
        </a:p>
      </dsp:txBody>
      <dsp:txXfrm>
        <a:off x="7218231" y="1237158"/>
        <a:ext cx="3164467" cy="33763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C5185-EA83-6645-AC8E-FC4D32650B98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00B086-98EC-B448-9F7B-03F2D0E85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008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3D3ECF-AA52-45C1-F74C-823D58AD8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10363200" cy="2286000"/>
          </a:xfrm>
        </p:spPr>
        <p:txBody>
          <a:bodyPr anchor="b"/>
          <a:lstStyle>
            <a:lvl1pPr algn="ctr">
              <a:defRPr sz="5400" b="1">
                <a:solidFill>
                  <a:srgbClr val="484848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F5E0CF3-6A25-C438-BB76-6C8E873D64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43300"/>
            <a:ext cx="9144000" cy="1031887"/>
          </a:xfrm>
        </p:spPr>
        <p:txBody>
          <a:bodyPr/>
          <a:lstStyle>
            <a:lvl1pPr marL="0" indent="0" algn="ctr">
              <a:buNone/>
              <a:defRPr sz="2200">
                <a:solidFill>
                  <a:srgbClr val="39799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F7B315-A285-666A-ED33-524513CC8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B0111-29D4-4BC0-7D2D-45662CC1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9B5D01-B8BB-93C4-8A59-C57878C42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‹N°›</a:t>
            </a:fld>
            <a:endParaRPr lang="fr-FR" dirty="0"/>
          </a:p>
        </p:txBody>
      </p:sp>
      <p:pic>
        <p:nvPicPr>
          <p:cNvPr id="2050" name="Picture 2" descr="PDP Libre">
            <a:extLst>
              <a:ext uri="{FF2B5EF4-FFF2-40B4-BE49-F238E27FC236}">
                <a16:creationId xmlns:a16="http://schemas.microsoft.com/office/drawing/2014/main" id="{53127EC9-4D54-6C49-2243-4DA5D31B671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3630" y="4899659"/>
            <a:ext cx="2364740" cy="1031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4621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4F61CE-4270-85C1-E980-82354A957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62861A-1AA9-3F81-2FA9-66B7F36DC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269D72-5F9F-86C9-321E-E7E6B5B86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7B950B-F538-B3FB-56CE-9A38CD070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E0A6D0-A284-276B-2623-4FEA3AC1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‹N°›</a:t>
            </a:fld>
            <a:endParaRPr lang="fr-FR"/>
          </a:p>
        </p:txBody>
      </p:sp>
      <p:pic>
        <p:nvPicPr>
          <p:cNvPr id="3074" name="Picture 2" descr="PDP Libre">
            <a:extLst>
              <a:ext uri="{FF2B5EF4-FFF2-40B4-BE49-F238E27FC236}">
                <a16:creationId xmlns:a16="http://schemas.microsoft.com/office/drawing/2014/main" id="{0DB21375-98DD-F7D0-4677-0A202400B9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6700" y="396875"/>
            <a:ext cx="1397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4949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B6D248-068E-D18F-8D7B-F812AA1D2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B81692-54F4-2551-5965-39E24CBE4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836F70-1D18-30CE-796B-19BC63237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1BCD6D-E7CE-6679-5F3B-6D964A0E7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EB9F98-45B0-1C72-178F-0427AF68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6130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F2BADA-3FD7-2484-BF00-9517750B9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D8EF49-752A-A9A9-235C-531D68666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C84A32D-A232-13ED-1156-F4AE27E24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CCE2AEC-6D89-428D-967B-977738A93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42E95E5-469D-CB59-84C2-0D3082B0B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3DDFE34-6F8D-AC10-477B-C014FF38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‹N°›</a:t>
            </a:fld>
            <a:endParaRPr lang="fr-FR"/>
          </a:p>
        </p:txBody>
      </p:sp>
      <p:pic>
        <p:nvPicPr>
          <p:cNvPr id="4098" name="Picture 2" descr="PDP Libre">
            <a:extLst>
              <a:ext uri="{FF2B5EF4-FFF2-40B4-BE49-F238E27FC236}">
                <a16:creationId xmlns:a16="http://schemas.microsoft.com/office/drawing/2014/main" id="{1C145E4F-424B-7C54-DD89-70B95AF622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00" y="414814"/>
            <a:ext cx="1397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440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F1FA4F-8859-328C-F42D-65360BD07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F21420-6CA1-6D7D-39F1-8843AE8B2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CB0B4F2-CB0A-DD4A-29B0-8837F0EE6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393E8DD-79D8-5846-D4F9-9162E308A8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6554BFB-FF44-E57A-1C51-98C1A20F07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25CA975-03F7-571E-751E-7448FC117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4D41F1E-9C8B-47AD-DC53-6F412FFE0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CC2CE05-5DDA-29E4-6834-A60A37EB9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‹N°›</a:t>
            </a:fld>
            <a:endParaRPr lang="fr-FR"/>
          </a:p>
        </p:txBody>
      </p:sp>
      <p:pic>
        <p:nvPicPr>
          <p:cNvPr id="10" name="Picture 2" descr="PDP Libre">
            <a:extLst>
              <a:ext uri="{FF2B5EF4-FFF2-40B4-BE49-F238E27FC236}">
                <a16:creationId xmlns:a16="http://schemas.microsoft.com/office/drawing/2014/main" id="{501C856E-7FD4-6F97-85D0-FECD214D8D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00" y="414814"/>
            <a:ext cx="1397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7533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3C0175-78F5-0C75-9281-59D2D842C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490CB9D-F27A-563D-D0D3-BF4240ABD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112B8A5-BD8F-12DC-3068-639389D1C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E05D3E-EB99-42F1-57AD-576F19632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‹N°›</a:t>
            </a:fld>
            <a:endParaRPr lang="fr-FR"/>
          </a:p>
        </p:txBody>
      </p:sp>
      <p:pic>
        <p:nvPicPr>
          <p:cNvPr id="6" name="Picture 2" descr="PDP Libre">
            <a:extLst>
              <a:ext uri="{FF2B5EF4-FFF2-40B4-BE49-F238E27FC236}">
                <a16:creationId xmlns:a16="http://schemas.microsoft.com/office/drawing/2014/main" id="{3BE1025A-F51F-1BA0-D0EC-92521FB3AE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00" y="414814"/>
            <a:ext cx="1397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060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79A42FB-E4A2-4A57-CA30-1106A9726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743A487-7AC7-1440-8E42-A45ACFDD9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2FBCAD-09F1-255D-B9D9-0B78C2261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‹N°›</a:t>
            </a:fld>
            <a:endParaRPr lang="fr-FR"/>
          </a:p>
        </p:txBody>
      </p:sp>
      <p:pic>
        <p:nvPicPr>
          <p:cNvPr id="5" name="Picture 2" descr="PDP Libre">
            <a:extLst>
              <a:ext uri="{FF2B5EF4-FFF2-40B4-BE49-F238E27FC236}">
                <a16:creationId xmlns:a16="http://schemas.microsoft.com/office/drawing/2014/main" id="{1C95B1F7-DB5A-D9B7-C8D4-8E97D9DA55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00" y="414814"/>
            <a:ext cx="1397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5391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05DB3D-4AAC-D803-8FBC-BE075E84E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1F9187-3EC7-4910-A1AA-8168C7381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2BA29ED-AFBC-13FB-755C-6D4D6A354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9B4DC1-9F67-3D9C-152D-8CF11DFC1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84C94C-E7C8-297B-4423-78ADF54BC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8907E62-553B-C70C-9F6E-605322FF9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‹N°›</a:t>
            </a:fld>
            <a:endParaRPr lang="fr-FR"/>
          </a:p>
        </p:txBody>
      </p:sp>
      <p:pic>
        <p:nvPicPr>
          <p:cNvPr id="8" name="Picture 2" descr="PDP Libre">
            <a:extLst>
              <a:ext uri="{FF2B5EF4-FFF2-40B4-BE49-F238E27FC236}">
                <a16:creationId xmlns:a16="http://schemas.microsoft.com/office/drawing/2014/main" id="{EC825312-F026-0F2A-C066-3A68C87D0A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00" y="414814"/>
            <a:ext cx="1397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5536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B6D3D3-6A1C-D60B-C4C8-BCEB0E378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E1C4012-282B-20AD-3D99-7C4A122B9A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239520"/>
            <a:ext cx="6169024" cy="462153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0DBC7B6-2A3C-89C3-4E57-5EB5F9EBB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223C7ED-FC77-D108-0B90-CDEA802A4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5A2400-6FD5-A300-9F8A-6C7013BEA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40FC770-33AA-1B2C-2091-679166AE9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‹N°›</a:t>
            </a:fld>
            <a:endParaRPr lang="fr-FR"/>
          </a:p>
        </p:txBody>
      </p:sp>
      <p:pic>
        <p:nvPicPr>
          <p:cNvPr id="8" name="Picture 2" descr="PDP Libre">
            <a:extLst>
              <a:ext uri="{FF2B5EF4-FFF2-40B4-BE49-F238E27FC236}">
                <a16:creationId xmlns:a16="http://schemas.microsoft.com/office/drawing/2014/main" id="{DD78722B-A4B2-B15A-8554-512C5A8F06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00" y="414814"/>
            <a:ext cx="1397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2637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F0FCBD-42FA-6FF1-5741-645199080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0CAA2CC-FDE9-475D-87DD-5FE67B986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97A713-7A72-3DE2-DB9A-C4CF5FA18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BA0FDC-DC60-BCDE-8142-974EDC450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7CD5E7-CD2D-6176-8A74-35F3454C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0630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80B4A84-F3B4-92EE-6B83-806F48AB47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01C44B0-8FA4-EC3A-862F-AE138976B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7633BC-1C7D-3A91-CB2D-FE359D40D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73AC85-3921-8E72-A555-8E5667E76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CA1A90-A32B-9DC1-8595-4BAE7EEFA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8295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7197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AccentBarTop"/>
          <p:cNvSpPr/>
          <p:nvPr userDrawn="1"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CD5E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1" name="FooterBar"/>
          <p:cNvSpPr/>
          <p:nvPr userDrawn="1"/>
        </p:nvSpPr>
        <p:spPr>
          <a:xfrm>
            <a:off x="0" y="6251172"/>
            <a:ext cx="12192000" cy="607354"/>
          </a:xfrm>
          <a:prstGeom prst="rect">
            <a:avLst/>
          </a:prstGeom>
          <a:solidFill>
            <a:srgbClr val="252A4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2" name="FooterText"/>
          <p:cNvSpPr/>
          <p:nvPr userDrawn="1"/>
        </p:nvSpPr>
        <p:spPr>
          <a:xfrm>
            <a:off x="457200" y="6468000"/>
            <a:ext cx="11277600" cy="390525"/>
          </a:xfrm>
          <a:prstGeom prst="rect">
            <a:avLst/>
          </a:prstGeom>
          <a:noFill/>
          <a:ln>
            <a:noFill/>
          </a:ln>
        </p:spPr>
        <p:txBody>
          <a:bodyPr lIns="91440" rIns="91440" anchor="ctr"/>
          <a:lstStyle/>
          <a:p>
            <a:pPr algn="r"/>
            <a:endParaRPr lang="fr-FR" sz="1100" dirty="0">
              <a:solidFill>
                <a:srgbClr val="7E8A9A"/>
              </a:solidFill>
              <a:latin typeface="Calibri"/>
            </a:endParaRPr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6913532-DC2C-854B-19EB-F8309E256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BE1728-BF8B-FE56-6522-9E11FA402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7800"/>
            <a:ext cx="10515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762C02-57B1-F988-EDF9-61462A5A55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Février 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AAB3D5-00D4-AB3F-2427-008CA1026B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C62501-3CC5-D615-D39E-CA47C67417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D3AFA-59E9-D748-930F-B14785ACE3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8100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39799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48484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8484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8484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8484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8484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B0BEC5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B0BEC5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B0BEC5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B0BEC5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fnfe-mpe.org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.pdplibre.org/Construction_PA/PA_Communautaire.git" TargetMode="Externa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cloud.pdplibre.org/apps/bbb/b/tgryyZgYNgst5R4p?ct=YTo1OntzOjY6InNvdXJjZSI7YToyOntpOjA7czoxNDoiY2FtcGFpZ24uZXZlbnQiO2k6MTtpOjI2O31zOjU6ImVtYWlsIjtpOjEzO3M6NDoic3RhdCI7czoyMjoiNjk5MmI0Y2NiNGUyNTQ0MDc1NTc5OSI7czo0OiJsZWFkIjtzOjM6IjQ0MSI7czo3OiJjaGFubmVsIjthOjE6e3M6NToiZW1haWwiO2k6MTM7fX0%3D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noProof="0" dirty="0" err="1">
                <a:solidFill>
                  <a:srgbClr val="484848"/>
                </a:solidFill>
              </a:rPr>
              <a:t>Onboarding</a:t>
            </a:r>
            <a:r>
              <a:rPr lang="fr-FR" noProof="0" dirty="0">
                <a:solidFill>
                  <a:srgbClr val="484848"/>
                </a:solidFill>
              </a:rPr>
              <a:t> contributeur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sz="2000" noProof="0" dirty="0">
                <a:solidFill>
                  <a:srgbClr val="666666"/>
                </a:solidFill>
              </a:rPr>
              <a:t>Construction PA</a:t>
            </a:r>
          </a:p>
          <a:p>
            <a:r>
              <a:rPr lang="fr-FR" sz="2000" dirty="0">
                <a:solidFill>
                  <a:srgbClr val="666666"/>
                </a:solidFill>
              </a:rPr>
              <a:t>Février 2026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4CF9AC-9758-4ED3-FDCA-C6F76CC72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B3316BB-BB45-8894-B74D-D030F766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1</a:t>
            </a:fld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noProof="0" dirty="0">
                <a:solidFill>
                  <a:srgbClr val="333333"/>
                </a:solidFill>
              </a:rPr>
              <a:t>Parcours d'</a:t>
            </a:r>
            <a:r>
              <a:rPr lang="fr-FR" sz="2800" b="1" noProof="0" dirty="0" err="1">
                <a:solidFill>
                  <a:srgbClr val="333333"/>
                </a:solidFill>
              </a:rPr>
              <a:t>onboarding</a:t>
            </a:r>
            <a:r>
              <a:rPr lang="fr-FR" sz="2800" dirty="0">
                <a:solidFill>
                  <a:srgbClr val="333333"/>
                </a:solidFill>
              </a:rPr>
              <a:t> : </a:t>
            </a:r>
            <a:r>
              <a:rPr lang="fr-FR" sz="2800" dirty="0">
                <a:solidFill>
                  <a:srgbClr val="333333"/>
                </a:solidFill>
                <a:highlight>
                  <a:srgbClr val="FFFF00"/>
                </a:highlight>
              </a:rPr>
              <a:t>./docs/00_onboarding</a:t>
            </a:r>
            <a:endParaRPr lang="fr-FR" sz="2800" b="1" noProof="0" dirty="0">
              <a:solidFill>
                <a:srgbClr val="333333"/>
              </a:solidFill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sz="3200" b="1" noProof="0" dirty="0">
                <a:solidFill>
                  <a:srgbClr val="388E3C"/>
                </a:solidFill>
              </a:rPr>
              <a:t>Tronc commun</a:t>
            </a:r>
          </a:p>
          <a:p>
            <a:pPr>
              <a:spcBef>
                <a:spcPts val="400"/>
              </a:spcBef>
            </a:pPr>
            <a:r>
              <a:rPr lang="fr-FR" sz="2400" b="0" noProof="0" dirty="0">
                <a:solidFill>
                  <a:srgbClr val="333333"/>
                </a:solidFill>
              </a:rPr>
              <a:t>1. Contexte et vision du projet</a:t>
            </a:r>
          </a:p>
          <a:p>
            <a:pPr>
              <a:spcBef>
                <a:spcPts val="400"/>
              </a:spcBef>
            </a:pPr>
            <a:r>
              <a:rPr lang="fr-FR" sz="2400" b="0" noProof="0" dirty="0">
                <a:solidFill>
                  <a:srgbClr val="333333"/>
                </a:solidFill>
              </a:rPr>
              <a:t>2. Architecture : les 10 briques</a:t>
            </a:r>
          </a:p>
          <a:p>
            <a:pPr>
              <a:spcBef>
                <a:spcPts val="400"/>
              </a:spcBef>
            </a:pPr>
            <a:r>
              <a:rPr lang="fr-FR" sz="2400" b="0" noProof="0" dirty="0">
                <a:solidFill>
                  <a:srgbClr val="333333"/>
                </a:solidFill>
              </a:rPr>
              <a:t>3. Les normes de référence</a:t>
            </a:r>
          </a:p>
          <a:p>
            <a:pPr>
              <a:spcBef>
                <a:spcPts val="400"/>
              </a:spcBef>
            </a:pPr>
            <a:r>
              <a:rPr lang="fr-FR" sz="2400" b="0" noProof="0" dirty="0">
                <a:solidFill>
                  <a:srgbClr val="333333"/>
                </a:solidFill>
              </a:rPr>
              <a:t>4. Organisation du dépôt</a:t>
            </a:r>
          </a:p>
          <a:p>
            <a:pPr>
              <a:spcBef>
                <a:spcPts val="400"/>
              </a:spcBef>
            </a:pPr>
            <a:r>
              <a:rPr lang="fr-FR" sz="2400" b="0" noProof="0" dirty="0">
                <a:solidFill>
                  <a:srgbClr val="333333"/>
                </a:solidFill>
              </a:rPr>
              <a:t>5. Stratégie BDD</a:t>
            </a:r>
          </a:p>
          <a:p>
            <a:pPr>
              <a:spcBef>
                <a:spcPts val="400"/>
              </a:spcBef>
            </a:pPr>
            <a:endParaRPr lang="fr-FR" sz="2400" b="0" noProof="0" dirty="0">
              <a:solidFill>
                <a:srgbClr val="333333"/>
              </a:solidFill>
            </a:endParaRPr>
          </a:p>
          <a:p>
            <a:r>
              <a:rPr lang="fr-FR" sz="3200" b="1" noProof="0" dirty="0">
                <a:solidFill>
                  <a:srgbClr val="388E3C"/>
                </a:solidFill>
              </a:rPr>
              <a:t>Finalisation commune</a:t>
            </a:r>
          </a:p>
          <a:p>
            <a:pPr>
              <a:spcBef>
                <a:spcPts val="400"/>
              </a:spcBef>
            </a:pPr>
            <a:r>
              <a:rPr lang="fr-FR" sz="2400" b="0" noProof="0" dirty="0">
                <a:solidFill>
                  <a:srgbClr val="333333"/>
                </a:solidFill>
              </a:rPr>
              <a:t>10. Rapports de tests</a:t>
            </a:r>
          </a:p>
          <a:p>
            <a:pPr>
              <a:spcBef>
                <a:spcPts val="400"/>
              </a:spcBef>
            </a:pPr>
            <a:r>
              <a:rPr lang="fr-FR" sz="2400" b="0" noProof="0" dirty="0">
                <a:solidFill>
                  <a:srgbClr val="333333"/>
                </a:solidFill>
              </a:rPr>
              <a:t>11. Contribuer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FR" sz="3200" b="1" noProof="0" dirty="0">
                <a:solidFill>
                  <a:srgbClr val="1976D2"/>
                </a:solidFill>
              </a:rPr>
              <a:t>Parcours DEV</a:t>
            </a:r>
          </a:p>
          <a:p>
            <a:pPr>
              <a:spcBef>
                <a:spcPts val="400"/>
              </a:spcBef>
            </a:pPr>
            <a:r>
              <a:rPr lang="fr-FR" sz="2400" b="0" noProof="0" dirty="0">
                <a:solidFill>
                  <a:srgbClr val="333333"/>
                </a:solidFill>
              </a:rPr>
              <a:t>7. Installation environnement</a:t>
            </a:r>
          </a:p>
          <a:p>
            <a:pPr>
              <a:spcBef>
                <a:spcPts val="400"/>
              </a:spcBef>
            </a:pPr>
            <a:r>
              <a:rPr lang="fr-FR" sz="2400" b="0" noProof="0" dirty="0">
                <a:solidFill>
                  <a:srgbClr val="333333"/>
                </a:solidFill>
              </a:rPr>
              <a:t>8. Le code : packages et services</a:t>
            </a:r>
          </a:p>
          <a:p>
            <a:pPr>
              <a:spcBef>
                <a:spcPts val="400"/>
              </a:spcBef>
            </a:pPr>
            <a:r>
              <a:rPr lang="fr-FR" sz="2400" b="0" noProof="0" dirty="0">
                <a:solidFill>
                  <a:srgbClr val="333333"/>
                </a:solidFill>
              </a:rPr>
              <a:t>9. Implémenter un test BDD</a:t>
            </a:r>
          </a:p>
          <a:p>
            <a:pPr>
              <a:spcBef>
                <a:spcPts val="400"/>
              </a:spcBef>
            </a:pPr>
            <a:endParaRPr lang="fr-FR" sz="2400" b="0" noProof="0" dirty="0">
              <a:solidFill>
                <a:srgbClr val="333333"/>
              </a:solidFill>
            </a:endParaRPr>
          </a:p>
          <a:p>
            <a:r>
              <a:rPr lang="fr-FR" sz="3200" b="1" noProof="0" dirty="0">
                <a:solidFill>
                  <a:srgbClr val="F57C00"/>
                </a:solidFill>
              </a:rPr>
              <a:t>Parcours METIER</a:t>
            </a:r>
          </a:p>
          <a:p>
            <a:pPr>
              <a:spcBef>
                <a:spcPts val="400"/>
              </a:spcBef>
            </a:pPr>
            <a:r>
              <a:rPr lang="fr-FR" sz="2400" b="0" noProof="0" dirty="0">
                <a:solidFill>
                  <a:srgbClr val="333333"/>
                </a:solidFill>
              </a:rPr>
              <a:t>6. Rédiger un scenario BDD</a:t>
            </a:r>
          </a:p>
          <a:p>
            <a:pPr>
              <a:spcBef>
                <a:spcPts val="400"/>
              </a:spcBef>
            </a:pPr>
            <a:r>
              <a:rPr lang="fr-FR" sz="2400" b="0" noProof="0" dirty="0">
                <a:solidFill>
                  <a:srgbClr val="333333"/>
                </a:solidFill>
              </a:rPr>
              <a:t>12. Focus par brique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8F3EC17-0267-5EE5-D6C9-258B8A0D9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D60D74-CECB-E054-77EE-F1B7943FC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2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8819669-64A5-DE75-56A8-652567E5973C}"/>
              </a:ext>
            </a:extLst>
          </p:cNvPr>
          <p:cNvSpPr txBox="1"/>
          <p:nvPr/>
        </p:nvSpPr>
        <p:spPr>
          <a:xfrm>
            <a:off x="6368143" y="5453743"/>
            <a:ext cx="40568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highlight>
                  <a:srgbClr val="FFFF00"/>
                </a:highlight>
              </a:rPr>
              <a:t>Renvoi vers une documentation du repo :</a:t>
            </a:r>
          </a:p>
          <a:p>
            <a:r>
              <a:rPr lang="fr-FR" dirty="0">
                <a:highlight>
                  <a:srgbClr val="FFFF00"/>
                </a:highlight>
              </a:rPr>
              <a:t>./&lt;rep&gt;/&lt;document&gt;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200" b="1" noProof="0" dirty="0">
                <a:solidFill>
                  <a:srgbClr val="388E3C"/>
                </a:solidFill>
              </a:rPr>
              <a:t>[TOUS]  </a:t>
            </a:r>
            <a:r>
              <a:rPr lang="fr-FR" sz="3600" b="1" noProof="0" dirty="0">
                <a:solidFill>
                  <a:srgbClr val="333333"/>
                </a:solidFill>
              </a:rPr>
              <a:t>Contexte et vision du projet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noProof="0" dirty="0">
                <a:solidFill>
                  <a:srgbClr val="666666"/>
                </a:solidFill>
              </a:rPr>
              <a:t>Bloc 1 - Comprendre pourquoi ce projet existe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88E6C5-B6DE-C4A8-7674-07C9106E7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1FF0F4D-8605-7294-5EC0-FF5B1B9CB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3</a:t>
            </a:fld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600" b="1" noProof="0" dirty="0">
                <a:solidFill>
                  <a:srgbClr val="388E3C"/>
                </a:solidFill>
              </a:rPr>
              <a:t>[TOUS]  </a:t>
            </a:r>
            <a:r>
              <a:rPr lang="fr-FR" sz="2600" b="1" noProof="0" dirty="0">
                <a:solidFill>
                  <a:srgbClr val="333333"/>
                </a:solidFill>
              </a:rPr>
              <a:t>La reforme facturation électronique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fr-FR" sz="2400" b="1" noProof="0" dirty="0">
                <a:solidFill>
                  <a:srgbClr val="333333"/>
                </a:solidFill>
              </a:rPr>
              <a:t>Qu'est-ce qu'une PA – Plateforme Agréée  (anciennement PDP </a:t>
            </a:r>
            <a:r>
              <a:rPr lang="fr-FR" sz="2400" b="1" dirty="0">
                <a:solidFill>
                  <a:srgbClr val="333333"/>
                </a:solidFill>
              </a:rPr>
              <a:t>- </a:t>
            </a:r>
            <a:r>
              <a:rPr lang="fr-FR" sz="2400" b="1" noProof="0" dirty="0">
                <a:solidFill>
                  <a:srgbClr val="333333"/>
                </a:solidFill>
              </a:rPr>
              <a:t>Plateforme de Dématérialisation Partenaire) ?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Point d'entrée obligatoire pour émettre/recevoir des factures électroniques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Positionnement vis-à-vis du PPF (Portail Public de Facturation)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Calendrier de la reforme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Sept. 2026 : obligation de réception pour toutes les entreprises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2027 : obligation d’</a:t>
            </a:r>
            <a:r>
              <a:rPr lang="fr-FR" sz="2000" dirty="0">
                <a:solidFill>
                  <a:srgbClr val="333333"/>
                </a:solidFill>
              </a:rPr>
              <a:t>é</a:t>
            </a:r>
            <a:r>
              <a:rPr lang="fr-FR" sz="2000" b="0" noProof="0" dirty="0">
                <a:solidFill>
                  <a:srgbClr val="333333"/>
                </a:solidFill>
              </a:rPr>
              <a:t>mission (échelonné par taille)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3 obligations : réception, émission, e-</a:t>
            </a:r>
            <a:r>
              <a:rPr lang="fr-FR" sz="2400" b="1" noProof="0" dirty="0" err="1">
                <a:solidFill>
                  <a:srgbClr val="333333"/>
                </a:solidFill>
              </a:rPr>
              <a:t>reporting</a:t>
            </a:r>
            <a:r>
              <a:rPr lang="fr-FR" sz="2400" b="1" noProof="0" dirty="0">
                <a:solidFill>
                  <a:srgbClr val="333333"/>
                </a:solidFill>
              </a:rPr>
              <a:t> (transmission fiscale)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70C3C6-3EBB-191C-1997-39E0E3FA7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1A19E91-6BC6-01BF-5304-765C2A2C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4</a:t>
            </a:fld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600" b="1" noProof="0" dirty="0">
                <a:solidFill>
                  <a:srgbClr val="333333"/>
                </a:solidFill>
              </a:rPr>
              <a:t>Vision PA Communautaire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sz="2400" b="1" noProof="0" dirty="0">
                <a:solidFill>
                  <a:srgbClr val="333333"/>
                </a:solidFill>
              </a:rPr>
              <a:t>Trajectoire du projet PDP Libre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Choix d'une PA partenaire pour septembre 2026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En parallèle : construction d'une PA Communautaire open source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Valeurs fondamentales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Open source : code ouvert, licences libres (GPL-3.0-or-later)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Souveraineté : indépendance vis-à-vis des acteurs commerciaux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Communautaire : gouvernance participative et transparente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Sans but lucratif : au service de l’intérêt général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Ecosystème : émetteur, destinataire, </a:t>
            </a:r>
            <a:r>
              <a:rPr lang="fr-FR" sz="2400" b="1" dirty="0">
                <a:solidFill>
                  <a:srgbClr val="333333"/>
                </a:solidFill>
              </a:rPr>
              <a:t>PA</a:t>
            </a:r>
            <a:r>
              <a:rPr lang="fr-FR" sz="2400" b="1" noProof="0" dirty="0">
                <a:solidFill>
                  <a:srgbClr val="333333"/>
                </a:solidFill>
              </a:rPr>
              <a:t> émettrice/réceptrice, PPF, DGFiP</a:t>
            </a:r>
          </a:p>
          <a:p>
            <a:pPr>
              <a:spcBef>
                <a:spcPts val="400"/>
              </a:spcBef>
            </a:pPr>
            <a:r>
              <a:rPr lang="fr-FR" sz="2400" dirty="0">
                <a:solidFill>
                  <a:srgbClr val="333333"/>
                </a:solidFill>
              </a:rPr>
              <a:t>Ce projet </a:t>
            </a:r>
            <a:r>
              <a:rPr lang="fr-FR" sz="2400" b="1" dirty="0">
                <a:solidFill>
                  <a:srgbClr val="333333"/>
                </a:solidFill>
              </a:rPr>
              <a:t>open source </a:t>
            </a:r>
            <a:r>
              <a:rPr lang="fr-FR" sz="2400" dirty="0">
                <a:solidFill>
                  <a:srgbClr val="333333"/>
                </a:solidFill>
              </a:rPr>
              <a:t>est porté par des bénévoles avec comme objectif d’accompagnement pour les contributeurs, l’acquisition de compétences dans la facturation électronique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L’objectif cible est </a:t>
            </a:r>
            <a:r>
              <a:rPr lang="fr-FR" sz="2400" b="1" dirty="0">
                <a:solidFill>
                  <a:srgbClr val="333333"/>
                </a:solidFill>
              </a:rPr>
              <a:t>produire tout ou partie du code d’une Plateforme Agrée candidat à être exploité par l’association PDF Libre ou toute entité qui le déciderait</a:t>
            </a:r>
            <a:endParaRPr lang="fr-FR" sz="2400" b="1" noProof="0" dirty="0">
              <a:solidFill>
                <a:srgbClr val="333333"/>
              </a:solidFill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0721401-D790-6D50-55A0-CFFFC6369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9F8A4C-6031-819E-7BF9-497A18C17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5</a:t>
            </a:fld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600" b="1" noProof="0" dirty="0">
                <a:solidFill>
                  <a:srgbClr val="333333"/>
                </a:solidFill>
              </a:rPr>
              <a:t>Parcours d'une facture (vue simplifiée)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noProof="0" dirty="0">
                <a:solidFill>
                  <a:srgbClr val="333333"/>
                </a:solidFill>
              </a:rPr>
              <a:t>1. L’</a:t>
            </a:r>
            <a:r>
              <a:rPr lang="fr-FR" b="1" dirty="0" err="1">
                <a:solidFill>
                  <a:srgbClr val="333333"/>
                </a:solidFill>
              </a:rPr>
              <a:t>é</a:t>
            </a:r>
            <a:r>
              <a:rPr lang="fr-FR" b="1" noProof="0" dirty="0">
                <a:solidFill>
                  <a:srgbClr val="333333"/>
                </a:solidFill>
              </a:rPr>
              <a:t>metteur dépose une facture sur sa PDP</a:t>
            </a:r>
          </a:p>
          <a:p>
            <a:pPr>
              <a:spcBef>
                <a:spcPts val="400"/>
              </a:spcBef>
            </a:pPr>
            <a:r>
              <a:rPr lang="fr-FR" b="1" noProof="0" dirty="0">
                <a:solidFill>
                  <a:srgbClr val="333333"/>
                </a:solidFill>
              </a:rPr>
              <a:t>2. La PDP contrôle le format (UBL, CII, </a:t>
            </a:r>
            <a:r>
              <a:rPr lang="fr-FR" b="1" noProof="0" dirty="0" err="1">
                <a:solidFill>
                  <a:srgbClr val="333333"/>
                </a:solidFill>
              </a:rPr>
              <a:t>Factur</a:t>
            </a:r>
            <a:r>
              <a:rPr lang="fr-FR" b="1" noProof="0" dirty="0">
                <a:solidFill>
                  <a:srgbClr val="333333"/>
                </a:solidFill>
              </a:rPr>
              <a:t>-X)</a:t>
            </a:r>
          </a:p>
          <a:p>
            <a:pPr>
              <a:spcBef>
                <a:spcPts val="400"/>
              </a:spcBef>
            </a:pPr>
            <a:r>
              <a:rPr lang="fr-FR" b="1" noProof="0" dirty="0">
                <a:solidFill>
                  <a:srgbClr val="333333"/>
                </a:solidFill>
              </a:rPr>
              <a:t>3. La PDP valide les règles métier</a:t>
            </a:r>
          </a:p>
          <a:p>
            <a:pPr>
              <a:spcBef>
                <a:spcPts val="400"/>
              </a:spcBef>
            </a:pPr>
            <a:r>
              <a:rPr lang="fr-FR" b="1" noProof="0" dirty="0">
                <a:solidFill>
                  <a:srgbClr val="333333"/>
                </a:solidFill>
              </a:rPr>
              <a:t>4. La PDP route la facture vers la PA du destinataire (via PEPPOL dans certains cas)</a:t>
            </a:r>
          </a:p>
          <a:p>
            <a:pPr>
              <a:spcBef>
                <a:spcPts val="400"/>
              </a:spcBef>
            </a:pPr>
            <a:r>
              <a:rPr lang="fr-FR" b="1" noProof="0" dirty="0">
                <a:solidFill>
                  <a:srgbClr val="333333"/>
                </a:solidFill>
              </a:rPr>
              <a:t>5. Le destinataire reçoit la facture et gère son cycle de vie</a:t>
            </a:r>
          </a:p>
          <a:p>
            <a:pPr>
              <a:spcBef>
                <a:spcPts val="400"/>
              </a:spcBef>
            </a:pPr>
            <a:r>
              <a:rPr lang="fr-FR" b="1" noProof="0" dirty="0">
                <a:solidFill>
                  <a:srgbClr val="333333"/>
                </a:solidFill>
              </a:rPr>
              <a:t>6. Les données fiscales sont transmises a l'Etat (e-</a:t>
            </a:r>
            <a:r>
              <a:rPr lang="fr-FR" b="1" noProof="0" dirty="0" err="1">
                <a:solidFill>
                  <a:srgbClr val="333333"/>
                </a:solidFill>
              </a:rPr>
              <a:t>reporting</a:t>
            </a:r>
            <a:r>
              <a:rPr lang="fr-FR" b="1" noProof="0" dirty="0">
                <a:solidFill>
                  <a:srgbClr val="333333"/>
                </a:solidFill>
              </a:rPr>
              <a:t>)</a:t>
            </a:r>
          </a:p>
          <a:p>
            <a:pPr>
              <a:spcBef>
                <a:spcPts val="400"/>
              </a:spcBef>
            </a:pPr>
            <a:endParaRPr lang="fr-FR" b="1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fr-FR" b="1" noProof="0" dirty="0">
                <a:solidFill>
                  <a:srgbClr val="333333"/>
                </a:solidFill>
              </a:rPr>
              <a:t>Ressources : </a:t>
            </a:r>
            <a:r>
              <a:rPr lang="fr-FR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./</a:t>
            </a:r>
            <a:r>
              <a:rPr lang="fr-FR" b="1" noProof="0" dirty="0" err="1">
                <a:solidFill>
                  <a:srgbClr val="333333"/>
                </a:solidFill>
                <a:highlight>
                  <a:srgbClr val="FFFF00"/>
                </a:highlight>
              </a:rPr>
              <a:t>README.md</a:t>
            </a:r>
            <a:r>
              <a:rPr lang="fr-FR" b="1" noProof="0" dirty="0">
                <a:solidFill>
                  <a:srgbClr val="333333"/>
                </a:solidFill>
              </a:rPr>
              <a:t>, forum https://</a:t>
            </a:r>
            <a:r>
              <a:rPr lang="fr-FR" b="1" noProof="0" dirty="0" err="1">
                <a:solidFill>
                  <a:srgbClr val="333333"/>
                </a:solidFill>
              </a:rPr>
              <a:t>forum.pdplibre.org</a:t>
            </a:r>
            <a:r>
              <a:rPr lang="fr-FR" b="1" noProof="0" dirty="0">
                <a:solidFill>
                  <a:srgbClr val="333333"/>
                </a:solidFill>
              </a:rPr>
              <a:t>/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604272-5081-BF7F-D60B-B6BB4699F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1066322-8A4E-5991-DF9C-19123D3FA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6</a:t>
            </a:fld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200" b="1" noProof="0" dirty="0">
                <a:solidFill>
                  <a:srgbClr val="388E3C"/>
                </a:solidFill>
              </a:rPr>
              <a:t>[TOUS]  </a:t>
            </a:r>
            <a:r>
              <a:rPr lang="fr-FR" sz="3600" b="1" noProof="0" dirty="0">
                <a:solidFill>
                  <a:srgbClr val="333333"/>
                </a:solidFill>
              </a:rPr>
              <a:t>Architecture fonctionnelle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noProof="0" dirty="0">
                <a:solidFill>
                  <a:srgbClr val="666666"/>
                </a:solidFill>
              </a:rPr>
              <a:t>Bloc 2 - Les 10 briques de la plateforme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3AB1CB-CA3C-6750-B8AE-3A42280E6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2B8DD2-E902-4D5B-956B-C83691930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7</a:t>
            </a:fld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noProof="0" dirty="0">
                <a:solidFill>
                  <a:srgbClr val="333333"/>
                </a:solidFill>
              </a:rPr>
              <a:t>Vue d'ensemble de l'architecture</a:t>
            </a:r>
          </a:p>
        </p:txBody>
      </p:sp>
      <p:pic>
        <p:nvPicPr>
          <p:cNvPr id="3" name="Picture 2" descr="Architecture_Plateforme_Factures_Electroniques_v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712" y="1186542"/>
            <a:ext cx="5222576" cy="5188091"/>
          </a:xfrm>
          <a:prstGeom prst="rect">
            <a:avLst/>
          </a:prstGeo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2FEE44-A6A1-B174-5180-B831450F3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EADF27D-AD21-E63C-4788-69EE09318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8</a:t>
            </a:fld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600" b="1" noProof="0" dirty="0">
                <a:solidFill>
                  <a:srgbClr val="388E3C"/>
                </a:solidFill>
              </a:rPr>
              <a:t>[TOUS]  </a:t>
            </a:r>
            <a:r>
              <a:rPr lang="fr-FR" sz="2600" b="1" noProof="0" dirty="0">
                <a:solidFill>
                  <a:srgbClr val="333333"/>
                </a:solidFill>
              </a:rPr>
              <a:t>Les 10 briques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sz="2400" b="1" noProof="0" dirty="0">
                <a:solidFill>
                  <a:srgbClr val="333333"/>
                </a:solidFill>
              </a:rPr>
              <a:t>01 - API Gateway (</a:t>
            </a:r>
            <a:r>
              <a:rPr lang="fr-FR" sz="2400" b="1" noProof="0" dirty="0" err="1">
                <a:solidFill>
                  <a:srgbClr val="333333"/>
                </a:solidFill>
              </a:rPr>
              <a:t>FastAPI</a:t>
            </a:r>
            <a:r>
              <a:rPr lang="fr-FR" sz="2400" b="1" noProof="0" dirty="0">
                <a:solidFill>
                  <a:srgbClr val="333333"/>
                </a:solidFill>
              </a:rPr>
              <a:t>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Point d'entrée REST, norme XP Z12-013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02 - ESB Central (NATS)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Orchestration des flux, message queue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03 - Contrôle Formats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Validation UBL / CII / </a:t>
            </a:r>
            <a:r>
              <a:rPr lang="fr-FR" sz="2000" b="0" noProof="0" dirty="0" err="1">
                <a:solidFill>
                  <a:srgbClr val="333333"/>
                </a:solidFill>
              </a:rPr>
              <a:t>Factur</a:t>
            </a:r>
            <a:r>
              <a:rPr lang="fr-FR" sz="2000" b="0" noProof="0" dirty="0">
                <a:solidFill>
                  <a:srgbClr val="333333"/>
                </a:solidFill>
              </a:rPr>
              <a:t>-X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04 - Validation Métier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Règles métier, vérification destinataire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05 - Conversion Formats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Conversion entre UBL, CII, </a:t>
            </a:r>
            <a:r>
              <a:rPr lang="fr-FR" sz="2000" b="0" noProof="0" dirty="0" err="1">
                <a:solidFill>
                  <a:srgbClr val="333333"/>
                </a:solidFill>
              </a:rPr>
              <a:t>Factur</a:t>
            </a:r>
            <a:r>
              <a:rPr lang="fr-FR" sz="2000" b="0" noProof="0" dirty="0">
                <a:solidFill>
                  <a:srgbClr val="333333"/>
                </a:solidFill>
              </a:rPr>
              <a:t>-X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FR" sz="2400" b="1" noProof="0" dirty="0">
                <a:solidFill>
                  <a:srgbClr val="333333"/>
                </a:solidFill>
              </a:rPr>
              <a:t>06 - Annuaire Local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Cache local, synchronisation PPF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07 - Routage (PEPPOL)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Acheminement inter-PDP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08 - Transmission Fiscale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E-</a:t>
            </a:r>
            <a:r>
              <a:rPr lang="fr-FR" sz="2000" b="0" noProof="0" dirty="0" err="1">
                <a:solidFill>
                  <a:srgbClr val="333333"/>
                </a:solidFill>
              </a:rPr>
              <a:t>reporting</a:t>
            </a:r>
            <a:r>
              <a:rPr lang="fr-FR" sz="2000" b="0" noProof="0" dirty="0">
                <a:solidFill>
                  <a:srgbClr val="333333"/>
                </a:solidFill>
              </a:rPr>
              <a:t> vers l'Etat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09 - Gestion Cycle de Vie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Statuts : déposée, reçue, approuvée...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10 - Stockage (S3 / </a:t>
            </a:r>
            <a:r>
              <a:rPr lang="fr-FR" sz="2400" b="1" noProof="0" dirty="0" err="1">
                <a:solidFill>
                  <a:srgbClr val="333333"/>
                </a:solidFill>
              </a:rPr>
              <a:t>SeaweedFS</a:t>
            </a:r>
            <a:r>
              <a:rPr lang="fr-FR" sz="2400" b="1" noProof="0" dirty="0">
                <a:solidFill>
                  <a:srgbClr val="333333"/>
                </a:solidFill>
              </a:rPr>
              <a:t>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Persistance des fichiers factures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BCF5BAD-E87D-CC05-CDA8-77713DB5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F50199-5D11-E4EA-3C01-B14A22CFE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9</a:t>
            </a:fld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600" b="1" noProof="0" dirty="0">
                <a:solidFill>
                  <a:srgbClr val="333333"/>
                </a:solidFill>
              </a:rPr>
              <a:t>Flux type d'une facture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b="1" noProof="0" dirty="0">
                <a:solidFill>
                  <a:srgbClr val="333333"/>
                </a:solidFill>
              </a:rPr>
              <a:t>Dépôt facture via API Gateway (01)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Publication sur l'ESB Central (02)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Contrôle du format (03) puis validation métier (04)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Conversion si nécessaire (05)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Consultation de l'annuaire (06) pour trouver le destinataire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Routage vers la PA destinataire via PEPPOL (07)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Transmission fiscale a l'Etat (08)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Gestion du cycle de vie et statuts (09)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Stockage des fichiers en S3 (10)</a:t>
            </a:r>
          </a:p>
          <a:p>
            <a:pPr>
              <a:spcBef>
                <a:spcPts val="400"/>
              </a:spcBef>
            </a:pPr>
            <a:endParaRPr lang="fr-FR" sz="2400" b="1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Documentation par brique : </a:t>
            </a:r>
            <a:r>
              <a:rPr lang="fr-FR" sz="2400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./docs/briques/&lt;NN-nom&gt;/</a:t>
            </a:r>
            <a:r>
              <a:rPr lang="fr-FR" sz="2400" b="1" noProof="0" dirty="0" err="1">
                <a:solidFill>
                  <a:srgbClr val="333333"/>
                </a:solidFill>
                <a:highlight>
                  <a:srgbClr val="FFFF00"/>
                </a:highlight>
              </a:rPr>
              <a:t>README.md</a:t>
            </a:r>
            <a:endParaRPr lang="fr-FR" sz="2400" b="1" noProof="0" dirty="0">
              <a:solidFill>
                <a:srgbClr val="333333"/>
              </a:solidFill>
              <a:highlight>
                <a:srgbClr val="FFFF00"/>
              </a:highlight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559B4D-28D7-4432-76DA-62940B7C3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497338E-5854-0B37-B69D-EC8615ED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10</a:t>
            </a:fld>
            <a:endParaRPr 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200" b="1" noProof="0" dirty="0">
                <a:solidFill>
                  <a:srgbClr val="388E3C"/>
                </a:solidFill>
              </a:rPr>
              <a:t>[TOUS]  </a:t>
            </a:r>
            <a:r>
              <a:rPr lang="fr-FR" sz="3600" b="1" noProof="0" dirty="0">
                <a:solidFill>
                  <a:srgbClr val="333333"/>
                </a:solidFill>
              </a:rPr>
              <a:t>Les normes de référence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noProof="0" dirty="0">
                <a:solidFill>
                  <a:srgbClr val="666666"/>
                </a:solidFill>
              </a:rPr>
              <a:t>Bloc 3 - AFNOR, UN/CEFACT et cas d'usage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76B605-20B4-81EE-31B1-F11EA0167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6E3B08A-9AB0-65D9-1BB6-6B1DAF21B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11</a:t>
            </a:fld>
            <a:endParaRPr lang="fr-F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600" b="1" noProof="0" dirty="0">
                <a:solidFill>
                  <a:srgbClr val="333333"/>
                </a:solidFill>
              </a:rPr>
              <a:t>3 normes AFNOR incluses dans le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b="1" noProof="0" dirty="0">
                <a:solidFill>
                  <a:srgbClr val="333333"/>
                </a:solidFill>
              </a:rPr>
              <a:t>XP Z12-012 - Formats et cycle de vie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Formats : UBL, CII, </a:t>
            </a:r>
            <a:r>
              <a:rPr lang="fr-FR" sz="2000" b="0" noProof="0" dirty="0" err="1">
                <a:solidFill>
                  <a:srgbClr val="333333"/>
                </a:solidFill>
              </a:rPr>
              <a:t>Factur</a:t>
            </a:r>
            <a:r>
              <a:rPr lang="fr-FR" sz="2000" b="0" noProof="0" dirty="0">
                <a:solidFill>
                  <a:srgbClr val="333333"/>
                </a:solidFill>
              </a:rPr>
              <a:t>-X (EN16931)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Profils de messages, règles métier, statuts de cycle de vie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Annexe A (Excel) : règles métier, code </a:t>
            </a:r>
            <a:r>
              <a:rPr lang="fr-FR" sz="2000" b="0" noProof="0" dirty="0" err="1">
                <a:solidFill>
                  <a:srgbClr val="333333"/>
                </a:solidFill>
              </a:rPr>
              <a:t>lists</a:t>
            </a:r>
            <a:r>
              <a:rPr lang="fr-FR" sz="2000" b="0" noProof="0" dirty="0">
                <a:solidFill>
                  <a:srgbClr val="333333"/>
                </a:solidFill>
              </a:rPr>
              <a:t>, </a:t>
            </a:r>
            <a:r>
              <a:rPr lang="fr-FR" sz="2000" b="0" noProof="0" dirty="0" err="1">
                <a:solidFill>
                  <a:srgbClr val="333333"/>
                </a:solidFill>
              </a:rPr>
              <a:t>mappings</a:t>
            </a:r>
            <a:endParaRPr lang="fr-FR" sz="2000" b="0" noProof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Annexe B : exemples de factures et statuts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XP Z12-013 - API REST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 err="1">
                <a:solidFill>
                  <a:srgbClr val="333333"/>
                </a:solidFill>
              </a:rPr>
              <a:t>Swagger</a:t>
            </a:r>
            <a:r>
              <a:rPr lang="fr-FR" sz="2000" b="0" noProof="0" dirty="0">
                <a:solidFill>
                  <a:srgbClr val="333333"/>
                </a:solidFill>
              </a:rPr>
              <a:t> en annexe (Flow Service, Directory Service)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Routes : /</a:t>
            </a:r>
            <a:r>
              <a:rPr lang="fr-FR" sz="2000" b="0" noProof="0" dirty="0" err="1">
                <a:solidFill>
                  <a:srgbClr val="333333"/>
                </a:solidFill>
              </a:rPr>
              <a:t>healthcheck</a:t>
            </a:r>
            <a:r>
              <a:rPr lang="fr-FR" sz="2000" b="0" noProof="0" dirty="0">
                <a:solidFill>
                  <a:srgbClr val="333333"/>
                </a:solidFill>
              </a:rPr>
              <a:t>, /flows, /directory-line, /</a:t>
            </a:r>
            <a:r>
              <a:rPr lang="fr-FR" sz="2000" b="0" noProof="0" dirty="0" err="1">
                <a:solidFill>
                  <a:srgbClr val="333333"/>
                </a:solidFill>
              </a:rPr>
              <a:t>search</a:t>
            </a:r>
            <a:r>
              <a:rPr lang="fr-FR" sz="2000" b="0" noProof="0" dirty="0">
                <a:solidFill>
                  <a:srgbClr val="333333"/>
                </a:solidFill>
              </a:rPr>
              <a:t>...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XP Z12-014 - Cas d'usage B2B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UC1 a UC5 avec exemples XML complets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Scenarios nominaux et d'erreur</a:t>
            </a:r>
          </a:p>
          <a:p>
            <a:pPr lvl="1">
              <a:spcBef>
                <a:spcPts val="400"/>
              </a:spcBef>
            </a:pPr>
            <a:endParaRPr lang="fr-FR" sz="20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fr-FR" sz="2000" b="1" dirty="0">
                <a:solidFill>
                  <a:srgbClr val="333333"/>
                </a:solidFill>
                <a:highlight>
                  <a:srgbClr val="FFFF00"/>
                </a:highlight>
              </a:rPr>
              <a:t>./docs/norme/</a:t>
            </a:r>
            <a:r>
              <a:rPr lang="fr-FR" sz="2000" b="1" dirty="0" err="1">
                <a:solidFill>
                  <a:srgbClr val="333333"/>
                </a:solidFill>
                <a:highlight>
                  <a:srgbClr val="FFFF00"/>
                </a:highlight>
              </a:rPr>
              <a:t>index.md</a:t>
            </a:r>
            <a:endParaRPr lang="fr-FR" sz="2000" b="1" dirty="0">
              <a:solidFill>
                <a:srgbClr val="333333"/>
              </a:solidFill>
              <a:highlight>
                <a:srgbClr val="FFFF00"/>
              </a:highlight>
            </a:endParaRPr>
          </a:p>
          <a:p>
            <a:pPr>
              <a:spcBef>
                <a:spcPts val="400"/>
              </a:spcBef>
            </a:pPr>
            <a:r>
              <a:rPr lang="fr-FR" sz="2000" b="1" dirty="0">
                <a:solidFill>
                  <a:srgbClr val="333333"/>
                </a:solidFill>
              </a:rPr>
              <a:t>Fichiers PDF, XSD et exemples XML dans </a:t>
            </a:r>
            <a:r>
              <a:rPr lang="fr-FR" sz="2000" b="1" dirty="0">
                <a:solidFill>
                  <a:srgbClr val="333333"/>
                </a:solidFill>
                <a:highlight>
                  <a:srgbClr val="FFFF00"/>
                </a:highlight>
              </a:rPr>
              <a:t>./docs/norme/</a:t>
            </a:r>
            <a:endParaRPr lang="fr-FR" sz="2000" dirty="0">
              <a:solidFill>
                <a:srgbClr val="333333"/>
              </a:solidFill>
              <a:highlight>
                <a:srgbClr val="FFFF00"/>
              </a:highlight>
            </a:endParaRPr>
          </a:p>
          <a:p>
            <a:pPr lvl="1">
              <a:spcBef>
                <a:spcPts val="400"/>
              </a:spcBef>
            </a:pPr>
            <a:endParaRPr lang="fr-FR" sz="2000" dirty="0">
              <a:solidFill>
                <a:srgbClr val="333333"/>
              </a:solidFill>
            </a:endParaRPr>
          </a:p>
        </p:txBody>
      </p:sp>
      <p:sp>
        <p:nvSpPr>
          <p:cNvPr id="4" name="Flèche vers la gauche 3">
            <a:extLst>
              <a:ext uri="{FF2B5EF4-FFF2-40B4-BE49-F238E27FC236}">
                <a16:creationId xmlns:a16="http://schemas.microsoft.com/office/drawing/2014/main" id="{32056C46-0424-61BC-DF21-B1B11C66A813}"/>
              </a:ext>
            </a:extLst>
          </p:cNvPr>
          <p:cNvSpPr/>
          <p:nvPr/>
        </p:nvSpPr>
        <p:spPr>
          <a:xfrm>
            <a:off x="6324599" y="4408715"/>
            <a:ext cx="2503715" cy="100148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Commencer par là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8DA0ADB-AC13-221B-8361-7850176F4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C3DCA1-198C-2EDD-8C85-835369835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12</a:t>
            </a:fld>
            <a:endParaRPr lang="fr-F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B572A-5581-A05F-42DE-42ECBB09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19659-C9B1-1445-05BD-DC1A138CD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600" b="1" noProof="0" dirty="0">
                <a:solidFill>
                  <a:srgbClr val="333333"/>
                </a:solidFill>
              </a:rPr>
              <a:t>XP Z12-014 - Cas d'usage B2B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25DEDA2-AFB1-8EAD-911E-5ECA7BA2E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2654"/>
            <a:ext cx="7434847" cy="404504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FDCCDE5-0F9D-6F3E-7AB7-8BA62BF79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848" y="1129060"/>
            <a:ext cx="4757152" cy="384679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F69A19D4-B7BD-DE84-1E89-C52A427CA3B2}"/>
              </a:ext>
            </a:extLst>
          </p:cNvPr>
          <p:cNvSpPr txBox="1"/>
          <p:nvPr/>
        </p:nvSpPr>
        <p:spPr>
          <a:xfrm>
            <a:off x="7434847" y="4975850"/>
            <a:ext cx="4757152" cy="129266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9525"/>
            <a:r>
              <a:rPr lang="fr-FR" sz="1200" b="0" i="0" dirty="0">
                <a:effectLst/>
              </a:rPr>
              <a:t>Autres cas documentés</a:t>
            </a:r>
          </a:p>
          <a:p>
            <a:pPr marL="528638" indent="-171450">
              <a:buFont typeface="Arial" panose="020B0604020202020204" pitchFamily="34" charset="0"/>
              <a:buChar char="•"/>
            </a:pPr>
            <a:r>
              <a:rPr lang="fr-FR" sz="1100" b="0" i="0" dirty="0">
                <a:effectLst/>
              </a:rPr>
              <a:t>Rejet à l’émission d’une facture e-</a:t>
            </a:r>
            <a:r>
              <a:rPr lang="fr-FR" sz="1100" b="0" i="0" dirty="0" err="1">
                <a:effectLst/>
              </a:rPr>
              <a:t>invoicing</a:t>
            </a:r>
            <a:endParaRPr lang="fr-FR" sz="1100" dirty="0"/>
          </a:p>
          <a:p>
            <a:pPr marL="528638" indent="-171450">
              <a:buFont typeface="Arial" panose="020B0604020202020204" pitchFamily="34" charset="0"/>
              <a:buChar char="•"/>
            </a:pPr>
            <a:r>
              <a:rPr lang="fr-FR" sz="1100" dirty="0"/>
              <a:t>Facture Déposée NON_TRANSMISE pour absence de PA-R.</a:t>
            </a:r>
          </a:p>
          <a:p>
            <a:pPr marL="528638" indent="-171450">
              <a:buFont typeface="Arial" panose="020B0604020202020204" pitchFamily="34" charset="0"/>
              <a:buChar char="•"/>
            </a:pPr>
            <a:r>
              <a:rPr lang="fr-FR" sz="1100" dirty="0"/>
              <a:t>Rejet d’une facture en réception </a:t>
            </a:r>
          </a:p>
          <a:p>
            <a:pPr marL="528638" indent="-171450">
              <a:buFont typeface="Arial" panose="020B0604020202020204" pitchFamily="34" charset="0"/>
              <a:buChar char="•"/>
            </a:pPr>
            <a:r>
              <a:rPr lang="fr-FR" sz="1100" dirty="0"/>
              <a:t>Refus d’une facture par l’ACHETEUR (Destinataire de la facture)</a:t>
            </a:r>
          </a:p>
          <a:p>
            <a:pPr marL="528638" indent="-171450">
              <a:buFont typeface="Arial" panose="020B0604020202020204" pitchFamily="34" charset="0"/>
              <a:buChar char="•"/>
            </a:pPr>
            <a:r>
              <a:rPr lang="fr-FR" sz="1100" dirty="0"/>
              <a:t>Facture en litige, suivie d’un AVOIR partiel ou total </a:t>
            </a:r>
          </a:p>
          <a:p>
            <a:pPr marL="528638" indent="-171450">
              <a:buFont typeface="Arial" panose="020B0604020202020204" pitchFamily="34" charset="0"/>
              <a:buChar char="•"/>
            </a:pPr>
            <a:r>
              <a:rPr lang="fr-FR" sz="1100" dirty="0"/>
              <a:t>Facture en litige, suivie d’une Facture Rectificative</a:t>
            </a:r>
          </a:p>
        </p:txBody>
      </p:sp>
      <p:sp>
        <p:nvSpPr>
          <p:cNvPr id="15" name="Espace réservé de la date 14">
            <a:extLst>
              <a:ext uri="{FF2B5EF4-FFF2-40B4-BE49-F238E27FC236}">
                <a16:creationId xmlns:a16="http://schemas.microsoft.com/office/drawing/2014/main" id="{6DC927AF-4495-6C4B-A3DD-B29E6F163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89FE118E-7490-E4EA-877A-AB8665B00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8121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600" b="1" noProof="0" dirty="0">
                <a:solidFill>
                  <a:srgbClr val="333333"/>
                </a:solidFill>
              </a:rPr>
              <a:t>Autres références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5377543" cy="4876800"/>
          </a:xfrm>
        </p:spPr>
        <p:txBody>
          <a:bodyPr>
            <a:normAutofit/>
          </a:bodyPr>
          <a:lstStyle/>
          <a:p>
            <a:r>
              <a:rPr lang="fr-FR" sz="2000" b="1" noProof="0" dirty="0">
                <a:solidFill>
                  <a:srgbClr val="333333"/>
                </a:solidFill>
              </a:rPr>
              <a:t>CDAR D22B (UN/CEFACT)</a:t>
            </a:r>
          </a:p>
          <a:p>
            <a:pPr lvl="1">
              <a:spcBef>
                <a:spcPts val="400"/>
              </a:spcBef>
            </a:pPr>
            <a:r>
              <a:rPr lang="fr-FR" sz="1800" b="0" noProof="0" dirty="0">
                <a:solidFill>
                  <a:srgbClr val="333333"/>
                </a:solidFill>
              </a:rPr>
              <a:t>Cross Domain </a:t>
            </a:r>
            <a:r>
              <a:rPr lang="fr-FR" sz="1800" b="0" noProof="0" dirty="0" err="1">
                <a:solidFill>
                  <a:srgbClr val="333333"/>
                </a:solidFill>
              </a:rPr>
              <a:t>Acknowledgement</a:t>
            </a:r>
            <a:r>
              <a:rPr lang="fr-FR" sz="1800" b="0" noProof="0" dirty="0">
                <a:solidFill>
                  <a:srgbClr val="333333"/>
                </a:solidFill>
              </a:rPr>
              <a:t> and </a:t>
            </a:r>
            <a:r>
              <a:rPr lang="fr-FR" sz="1800" b="0" noProof="0" dirty="0" err="1">
                <a:solidFill>
                  <a:srgbClr val="333333"/>
                </a:solidFill>
              </a:rPr>
              <a:t>Response</a:t>
            </a:r>
            <a:endParaRPr lang="fr-FR" sz="1800" b="0" noProof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lang="fr-FR" sz="1800" b="0" noProof="0" dirty="0">
                <a:solidFill>
                  <a:srgbClr val="333333"/>
                </a:solidFill>
              </a:rPr>
              <a:t>Format des accuses de </a:t>
            </a:r>
            <a:r>
              <a:rPr lang="fr-FR" sz="1800" b="0" noProof="0" dirty="0" err="1">
                <a:solidFill>
                  <a:srgbClr val="333333"/>
                </a:solidFill>
              </a:rPr>
              <a:t>reception</a:t>
            </a:r>
            <a:r>
              <a:rPr lang="fr-FR" sz="1800" b="0" noProof="0" dirty="0">
                <a:solidFill>
                  <a:srgbClr val="333333"/>
                </a:solidFill>
              </a:rPr>
              <a:t> entre PDP</a:t>
            </a:r>
          </a:p>
          <a:p>
            <a:pPr>
              <a:spcBef>
                <a:spcPts val="400"/>
              </a:spcBef>
            </a:pPr>
            <a:r>
              <a:rPr lang="fr-FR" sz="2000" b="1" noProof="0" dirty="0">
                <a:solidFill>
                  <a:srgbClr val="333333"/>
                </a:solidFill>
              </a:rPr>
              <a:t>BRS - </a:t>
            </a:r>
            <a:r>
              <a:rPr lang="fr-FR" sz="2000" b="1" noProof="0" dirty="0" err="1">
                <a:solidFill>
                  <a:srgbClr val="333333"/>
                </a:solidFill>
              </a:rPr>
              <a:t>CDAError</a:t>
            </a:r>
            <a:r>
              <a:rPr lang="fr-FR" sz="2000" b="1" noProof="0" dirty="0">
                <a:solidFill>
                  <a:srgbClr val="333333"/>
                </a:solidFill>
              </a:rPr>
              <a:t> </a:t>
            </a:r>
            <a:r>
              <a:rPr lang="fr-FR" sz="2000" b="1" noProof="0" dirty="0" err="1">
                <a:solidFill>
                  <a:srgbClr val="333333"/>
                </a:solidFill>
              </a:rPr>
              <a:t>Acknowledgement</a:t>
            </a:r>
            <a:r>
              <a:rPr lang="fr-FR" sz="2000" b="1" noProof="0" dirty="0">
                <a:solidFill>
                  <a:srgbClr val="333333"/>
                </a:solidFill>
              </a:rPr>
              <a:t> Process</a:t>
            </a:r>
          </a:p>
          <a:p>
            <a:pPr lvl="1">
              <a:spcBef>
                <a:spcPts val="400"/>
              </a:spcBef>
            </a:pPr>
            <a:r>
              <a:rPr lang="fr-FR" sz="1800" b="0" noProof="0" dirty="0">
                <a:solidFill>
                  <a:srgbClr val="333333"/>
                </a:solidFill>
              </a:rPr>
              <a:t>Processus de gestion des erreurs d'accuse</a:t>
            </a:r>
          </a:p>
          <a:p>
            <a:pPr>
              <a:spcBef>
                <a:spcPts val="400"/>
              </a:spcBef>
            </a:pPr>
            <a:endParaRPr lang="fr-FR" sz="1800" b="0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fr-FR" sz="2000" b="1" noProof="0" dirty="0">
                <a:solidFill>
                  <a:srgbClr val="333333"/>
                </a:solidFill>
              </a:rPr>
              <a:t>Standard FACTUR-X </a:t>
            </a:r>
            <a:r>
              <a:rPr lang="fr-FR" sz="2000" dirty="0"/>
              <a:t>1.07.3 2025 05 15 FR VF</a:t>
            </a:r>
            <a:r>
              <a:rPr lang="fr-FR" sz="2000" b="1" noProof="0" dirty="0">
                <a:solidFill>
                  <a:srgbClr val="333333"/>
                </a:solidFill>
              </a:rPr>
              <a:t> disponible sur le site de la </a:t>
            </a:r>
            <a:r>
              <a:rPr lang="fr-FR" sz="2000" b="1" dirty="0" err="1">
                <a:solidFill>
                  <a:srgbClr val="333333"/>
                </a:solidFill>
              </a:rPr>
              <a:t>fnfe</a:t>
            </a:r>
            <a:r>
              <a:rPr lang="fr-FR" sz="2000" b="1" dirty="0">
                <a:solidFill>
                  <a:srgbClr val="333333"/>
                </a:solidFill>
              </a:rPr>
              <a:t> (Forum National de la Facture Électronique et des Marchés Publics Électroniques) (</a:t>
            </a:r>
            <a:r>
              <a:rPr lang="fr-FR" sz="2000" b="1" dirty="0">
                <a:solidFill>
                  <a:srgbClr val="333333"/>
                </a:solidFill>
                <a:hlinkClick r:id="rId2"/>
              </a:rPr>
              <a:t>https://fnfe-mpe.org/</a:t>
            </a:r>
            <a:r>
              <a:rPr lang="fr-FR" sz="2000" b="1" dirty="0">
                <a:solidFill>
                  <a:srgbClr val="333333"/>
                </a:solidFill>
              </a:rPr>
              <a:t> 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C94AA0C-34E2-42C9-0CDA-6970A58CB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656" y="2558601"/>
            <a:ext cx="5509762" cy="3765999"/>
          </a:xfrm>
          <a:prstGeom prst="rect">
            <a:avLst/>
          </a:prstGeom>
        </p:spPr>
      </p:pic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C010DB11-E29D-52E7-DF3C-BE46ADED6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98ADA19-84C5-12EE-65B6-AB8320233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14</a:t>
            </a:fld>
            <a:endParaRPr lang="fr-F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200" b="1" noProof="0" dirty="0">
                <a:solidFill>
                  <a:srgbClr val="388E3C"/>
                </a:solidFill>
              </a:rPr>
              <a:t>[TOUS]  </a:t>
            </a:r>
            <a:r>
              <a:rPr lang="fr-FR" sz="3600" b="1" noProof="0" dirty="0">
                <a:solidFill>
                  <a:srgbClr val="333333"/>
                </a:solidFill>
              </a:rPr>
              <a:t>Organisation du dépôt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noProof="0" dirty="0">
                <a:solidFill>
                  <a:srgbClr val="666666"/>
                </a:solidFill>
              </a:rPr>
              <a:t>Bloc 4 - Où trouver quoi dans le monorepo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DCED57-BD5D-A2CF-9761-25879BFEF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55B6A64-C850-11DD-8A92-A6AD0F71B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15</a:t>
            </a:fld>
            <a:endParaRPr lang="fr-F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600" b="1" noProof="0" dirty="0">
                <a:solidFill>
                  <a:srgbClr val="388E3C"/>
                </a:solidFill>
              </a:rPr>
              <a:t>[TOUS]  </a:t>
            </a:r>
            <a:r>
              <a:rPr lang="fr-FR" sz="2600" b="1" noProof="0" dirty="0">
                <a:solidFill>
                  <a:srgbClr val="333333"/>
                </a:solidFill>
              </a:rPr>
              <a:t>Structure du monorepo </a:t>
            </a:r>
            <a:br>
              <a:rPr lang="fr-FR" sz="2600" b="1" noProof="0" dirty="0">
                <a:solidFill>
                  <a:srgbClr val="333333"/>
                </a:solidFill>
              </a:rPr>
            </a:br>
            <a:r>
              <a:rPr lang="fr-FR" sz="1600" b="1" noProof="0" dirty="0">
                <a:solidFill>
                  <a:srgbClr val="333333"/>
                </a:solidFill>
              </a:rPr>
              <a:t>un seul référentiel pour tous les projets</a:t>
            </a:r>
            <a:endParaRPr lang="fr-FR" sz="2600" b="1" noProof="0" dirty="0">
              <a:solidFill>
                <a:srgbClr val="33333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sz="2000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./docs/</a:t>
            </a:r>
          </a:p>
          <a:p>
            <a:pPr lvl="1">
              <a:spcBef>
                <a:spcPts val="400"/>
              </a:spcBef>
            </a:pPr>
            <a:r>
              <a:rPr lang="fr-FR" sz="1800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briques/</a:t>
            </a:r>
            <a:r>
              <a:rPr lang="fr-FR" sz="1800" b="1" noProof="0" dirty="0">
                <a:solidFill>
                  <a:srgbClr val="333333"/>
                </a:solidFill>
              </a:rPr>
              <a:t> : doc + .feature par brique</a:t>
            </a:r>
          </a:p>
          <a:p>
            <a:pPr lvl="1">
              <a:spcBef>
                <a:spcPts val="400"/>
              </a:spcBef>
            </a:pPr>
            <a:r>
              <a:rPr lang="fr-FR" sz="1800" b="0" noProof="0" dirty="0">
                <a:solidFill>
                  <a:srgbClr val="333333"/>
                </a:solidFill>
                <a:highlight>
                  <a:srgbClr val="FFFF00"/>
                </a:highlight>
              </a:rPr>
              <a:t>développement/</a:t>
            </a:r>
            <a:r>
              <a:rPr lang="fr-FR" sz="1800" b="0" noProof="0" dirty="0">
                <a:solidFill>
                  <a:srgbClr val="333333"/>
                </a:solidFill>
              </a:rPr>
              <a:t> : guides dev, BDD, </a:t>
            </a:r>
            <a:r>
              <a:rPr lang="fr-FR" sz="1800" b="0" noProof="0" dirty="0" err="1">
                <a:solidFill>
                  <a:srgbClr val="333333"/>
                </a:solidFill>
              </a:rPr>
              <a:t>install</a:t>
            </a:r>
            <a:endParaRPr lang="fr-FR" sz="1800" b="0" noProof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lang="fr-FR" sz="1800" b="0" noProof="0" dirty="0">
                <a:solidFill>
                  <a:srgbClr val="333333"/>
                </a:solidFill>
                <a:highlight>
                  <a:srgbClr val="FFFF00"/>
                </a:highlight>
              </a:rPr>
              <a:t>norme/</a:t>
            </a:r>
            <a:r>
              <a:rPr lang="fr-FR" sz="1800" b="0" noProof="0" dirty="0">
                <a:solidFill>
                  <a:srgbClr val="333333"/>
                </a:solidFill>
              </a:rPr>
              <a:t> : normes AFNOR et annexes</a:t>
            </a:r>
          </a:p>
          <a:p>
            <a:pPr lvl="1">
              <a:spcBef>
                <a:spcPts val="400"/>
              </a:spcBef>
            </a:pPr>
            <a:r>
              <a:rPr lang="fr-FR" sz="1800" b="0" noProof="0" dirty="0">
                <a:solidFill>
                  <a:srgbClr val="333333"/>
                </a:solidFill>
                <a:highlight>
                  <a:srgbClr val="FFFF00"/>
                </a:highlight>
              </a:rPr>
              <a:t>test/</a:t>
            </a:r>
            <a:r>
              <a:rPr lang="fr-FR" sz="1800" b="0" noProof="0" dirty="0">
                <a:solidFill>
                  <a:srgbClr val="333333"/>
                </a:solidFill>
              </a:rPr>
              <a:t> : exemples BDD commentes</a:t>
            </a:r>
          </a:p>
          <a:p>
            <a:pPr>
              <a:spcBef>
                <a:spcPts val="400"/>
              </a:spcBef>
            </a:pPr>
            <a:r>
              <a:rPr lang="fr-FR" sz="2000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./packages/ </a:t>
            </a:r>
            <a:r>
              <a:rPr lang="fr-FR" sz="2000" b="1" noProof="0" dirty="0">
                <a:solidFill>
                  <a:srgbClr val="333333"/>
                </a:solidFill>
              </a:rPr>
              <a:t>: un sous répertoire par « projet »</a:t>
            </a:r>
          </a:p>
          <a:p>
            <a:pPr lvl="1">
              <a:spcBef>
                <a:spcPts val="400"/>
              </a:spcBef>
            </a:pPr>
            <a:r>
              <a:rPr lang="fr-FR" sz="1800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pac0/</a:t>
            </a:r>
            <a:r>
              <a:rPr lang="fr-FR" sz="1800" b="1" noProof="0" dirty="0">
                <a:solidFill>
                  <a:srgbClr val="333333"/>
                </a:solidFill>
              </a:rPr>
              <a:t> : implémentation de référence</a:t>
            </a:r>
          </a:p>
          <a:p>
            <a:pPr lvl="1">
              <a:spcBef>
                <a:spcPts val="400"/>
              </a:spcBef>
            </a:pPr>
            <a:r>
              <a:rPr lang="fr-FR" sz="1800" b="0" noProof="0" dirty="0" err="1">
                <a:solidFill>
                  <a:srgbClr val="333333"/>
                </a:solidFill>
                <a:highlight>
                  <a:srgbClr val="FFFF00"/>
                </a:highlight>
              </a:rPr>
              <a:t>pac-bdd</a:t>
            </a:r>
            <a:r>
              <a:rPr lang="fr-FR" sz="1800" b="0" noProof="0" dirty="0">
                <a:solidFill>
                  <a:srgbClr val="333333"/>
                </a:solidFill>
                <a:highlight>
                  <a:srgbClr val="FFFF00"/>
                </a:highlight>
              </a:rPr>
              <a:t>/</a:t>
            </a:r>
            <a:r>
              <a:rPr lang="fr-FR" sz="1800" b="0" noProof="0" dirty="0">
                <a:solidFill>
                  <a:srgbClr val="333333"/>
                </a:solidFill>
              </a:rPr>
              <a:t> : moteur de tests BDD</a:t>
            </a:r>
          </a:p>
          <a:p>
            <a:pPr lvl="1">
              <a:spcBef>
                <a:spcPts val="400"/>
              </a:spcBef>
            </a:pPr>
            <a:r>
              <a:rPr lang="fr-FR" sz="1800" b="0" noProof="0" dirty="0">
                <a:solidFill>
                  <a:srgbClr val="333333"/>
                </a:solidFill>
                <a:highlight>
                  <a:srgbClr val="FFFF00"/>
                </a:highlight>
              </a:rPr>
              <a:t>pac0-cli/</a:t>
            </a:r>
            <a:r>
              <a:rPr lang="fr-FR" sz="1800" b="0" noProof="0" dirty="0">
                <a:solidFill>
                  <a:srgbClr val="333333"/>
                </a:solidFill>
              </a:rPr>
              <a:t> : CLI utilitaire (pilotage de la PA)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FR" sz="2000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./docker/</a:t>
            </a:r>
          </a:p>
          <a:p>
            <a:pPr lvl="1">
              <a:spcBef>
                <a:spcPts val="400"/>
              </a:spcBef>
            </a:pPr>
            <a:r>
              <a:rPr lang="fr-FR" sz="1800" b="0" noProof="0" dirty="0">
                <a:solidFill>
                  <a:srgbClr val="333333"/>
                </a:solidFill>
              </a:rPr>
              <a:t>docker-compose (sera déplacé à la racine)</a:t>
            </a:r>
          </a:p>
          <a:p>
            <a:pPr lvl="1">
              <a:spcBef>
                <a:spcPts val="400"/>
              </a:spcBef>
            </a:pPr>
            <a:r>
              <a:rPr lang="fr-FR" sz="1800" b="0" noProof="0" dirty="0" err="1">
                <a:solidFill>
                  <a:srgbClr val="333333"/>
                </a:solidFill>
              </a:rPr>
              <a:t>Dockerfiles</a:t>
            </a:r>
            <a:endParaRPr lang="fr-FR" sz="1800" b="0" noProof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lang="fr-FR" sz="1800" b="0" noProof="0" dirty="0">
                <a:solidFill>
                  <a:srgbClr val="333333"/>
                </a:solidFill>
              </a:rPr>
              <a:t>10 services + test-</a:t>
            </a:r>
            <a:r>
              <a:rPr lang="fr-FR" sz="1800" b="0" noProof="0" dirty="0" err="1">
                <a:solidFill>
                  <a:srgbClr val="333333"/>
                </a:solidFill>
              </a:rPr>
              <a:t>bdd</a:t>
            </a:r>
            <a:endParaRPr lang="fr-FR" sz="1800" b="0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fr-FR" sz="2000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./report/</a:t>
            </a:r>
          </a:p>
          <a:p>
            <a:pPr lvl="1">
              <a:spcBef>
                <a:spcPts val="400"/>
              </a:spcBef>
            </a:pPr>
            <a:r>
              <a:rPr lang="fr-FR" sz="1800" b="0" noProof="0" dirty="0">
                <a:solidFill>
                  <a:srgbClr val="333333"/>
                </a:solidFill>
              </a:rPr>
              <a:t>Rapports de tests (HTML, MD, XML)</a:t>
            </a:r>
          </a:p>
          <a:p>
            <a:pPr>
              <a:spcBef>
                <a:spcPts val="400"/>
              </a:spcBef>
            </a:pPr>
            <a:r>
              <a:rPr lang="fr-FR" sz="2000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./script/</a:t>
            </a:r>
          </a:p>
          <a:p>
            <a:pPr lvl="1">
              <a:spcBef>
                <a:spcPts val="400"/>
              </a:spcBef>
            </a:pPr>
            <a:r>
              <a:rPr lang="fr-FR" sz="1800" b="0" noProof="0" dirty="0">
                <a:solidFill>
                  <a:srgbClr val="333333"/>
                </a:solidFill>
              </a:rPr>
              <a:t>Scripts utilitaires (./script/test)</a:t>
            </a:r>
          </a:p>
          <a:p>
            <a:pPr>
              <a:spcBef>
                <a:spcPts val="400"/>
              </a:spcBef>
            </a:pPr>
            <a:endParaRPr lang="fr-FR" sz="1800" b="0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fr-FR" sz="2000" b="1" noProof="0" dirty="0">
                <a:solidFill>
                  <a:srgbClr val="333333"/>
                </a:solidFill>
              </a:rPr>
              <a:t>Dépôts :</a:t>
            </a:r>
          </a:p>
          <a:p>
            <a:pPr lvl="1">
              <a:spcBef>
                <a:spcPts val="400"/>
              </a:spcBef>
            </a:pPr>
            <a:r>
              <a:rPr lang="fr-FR" sz="1800" b="0" noProof="0" dirty="0">
                <a:solidFill>
                  <a:srgbClr val="333333"/>
                </a:solidFill>
              </a:rPr>
              <a:t>GitHub : releases publiques</a:t>
            </a:r>
          </a:p>
          <a:p>
            <a:pPr lvl="1">
              <a:spcBef>
                <a:spcPts val="400"/>
              </a:spcBef>
            </a:pPr>
            <a:r>
              <a:rPr lang="fr-FR" sz="1800" b="0" noProof="0" dirty="0" err="1">
                <a:solidFill>
                  <a:srgbClr val="333333"/>
                </a:solidFill>
              </a:rPr>
              <a:t>Forgejo</a:t>
            </a:r>
            <a:r>
              <a:rPr lang="fr-FR" sz="1800" b="0" noProof="0" dirty="0">
                <a:solidFill>
                  <a:srgbClr val="333333"/>
                </a:solidFill>
              </a:rPr>
              <a:t> : développement quotidien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BBD1FE9-9401-0034-BBFF-9CB4BCA0C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591F63-F543-0294-50A3-3BBB863FA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16</a:t>
            </a:fld>
            <a:endParaRPr lang="fr-F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200" b="1" noProof="0" dirty="0">
                <a:solidFill>
                  <a:srgbClr val="388E3C"/>
                </a:solidFill>
              </a:rPr>
              <a:t>[TOUS]  </a:t>
            </a:r>
            <a:r>
              <a:rPr lang="fr-FR" sz="3600" b="1" noProof="0" dirty="0">
                <a:solidFill>
                  <a:srgbClr val="333333"/>
                </a:solidFill>
              </a:rPr>
              <a:t>Stratégie BDD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noProof="0" dirty="0">
                <a:solidFill>
                  <a:srgbClr val="666666"/>
                </a:solidFill>
              </a:rPr>
              <a:t>Bloc 5 - Pourquoi et comment on teste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73EA0FE-43F9-8BFF-AC96-C7AFBBF63A87}"/>
              </a:ext>
            </a:extLst>
          </p:cNvPr>
          <p:cNvSpPr txBox="1"/>
          <p:nvPr/>
        </p:nvSpPr>
        <p:spPr>
          <a:xfrm>
            <a:off x="5264150" y="150379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Le « </a:t>
            </a:r>
            <a:r>
              <a:rPr lang="fr-FR" dirty="0" err="1"/>
              <a:t>Behavior</a:t>
            </a:r>
            <a:r>
              <a:rPr lang="fr-FR" dirty="0"/>
              <a:t> Driven </a:t>
            </a:r>
            <a:r>
              <a:rPr lang="fr-FR" dirty="0" err="1"/>
              <a:t>Development</a:t>
            </a:r>
            <a:r>
              <a:rPr lang="fr-FR" dirty="0"/>
              <a:t> », ou BDD, est une </a:t>
            </a:r>
            <a:r>
              <a:rPr lang="fr-FR" b="1" dirty="0"/>
              <a:t>méthode de développement Agile dans laquelle le produit est conçu autour du comportement qu'un utilisateur s'attend à expérimenter</a:t>
            </a:r>
            <a:r>
              <a:rPr lang="fr-FR" dirty="0"/>
              <a:t>. Le principe du BDD est donc de préciser un « comportement désiré ».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AD15F4A0-1030-BBF4-74E6-03A2CDF95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2F54EC-2AA2-05F4-C044-E4A3951A6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17</a:t>
            </a:fld>
            <a:endParaRPr lang="fr-F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600" b="1" noProof="0" dirty="0">
                <a:solidFill>
                  <a:srgbClr val="333333"/>
                </a:solidFill>
              </a:rPr>
              <a:t>Le BDD : un langage commun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b="1" noProof="0" dirty="0" err="1">
                <a:solidFill>
                  <a:srgbClr val="333333"/>
                </a:solidFill>
              </a:rPr>
              <a:t>Behavior</a:t>
            </a:r>
            <a:r>
              <a:rPr lang="fr-FR" sz="2400" b="1" noProof="0" dirty="0">
                <a:solidFill>
                  <a:srgbClr val="333333"/>
                </a:solidFill>
              </a:rPr>
              <a:t> Driven </a:t>
            </a:r>
            <a:r>
              <a:rPr lang="fr-FR" sz="2400" b="1" noProof="0" dirty="0" err="1">
                <a:solidFill>
                  <a:srgbClr val="333333"/>
                </a:solidFill>
              </a:rPr>
              <a:t>Development</a:t>
            </a:r>
            <a:r>
              <a:rPr lang="fr-FR" sz="2400" b="1" noProof="0" dirty="0">
                <a:solidFill>
                  <a:srgbClr val="333333"/>
                </a:solidFill>
              </a:rPr>
              <a:t> : spécifications exécutables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Langage commun entre métier et développeur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Vision communautaire : outils de tests pour les </a:t>
            </a:r>
            <a:r>
              <a:rPr lang="fr-FR" sz="2000" dirty="0">
                <a:solidFill>
                  <a:srgbClr val="333333"/>
                </a:solidFill>
              </a:rPr>
              <a:t>é</a:t>
            </a:r>
            <a:r>
              <a:rPr lang="fr-FR" sz="2000" b="0" noProof="0" dirty="0" err="1">
                <a:solidFill>
                  <a:srgbClr val="333333"/>
                </a:solidFill>
              </a:rPr>
              <a:t>diteurs</a:t>
            </a:r>
            <a:r>
              <a:rPr lang="fr-FR" sz="2000" b="0" noProof="0" dirty="0">
                <a:solidFill>
                  <a:srgbClr val="333333"/>
                </a:solidFill>
              </a:rPr>
              <a:t> de logiciels métier et de PA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La boucle 'Trois Amigos'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Expert métier + Développeur + Testeur</a:t>
            </a:r>
          </a:p>
          <a:p>
            <a:pPr>
              <a:spcBef>
                <a:spcPts val="400"/>
              </a:spcBef>
            </a:pPr>
            <a:r>
              <a:rPr lang="fr-FR" sz="2400" b="1" noProof="0" dirty="0" err="1">
                <a:solidFill>
                  <a:srgbClr val="333333"/>
                </a:solidFill>
              </a:rPr>
              <a:t>Gherkin</a:t>
            </a:r>
            <a:r>
              <a:rPr lang="fr-FR" sz="2400" b="1" noProof="0" dirty="0">
                <a:solidFill>
                  <a:srgbClr val="333333"/>
                </a:solidFill>
              </a:rPr>
              <a:t> en </a:t>
            </a:r>
            <a:r>
              <a:rPr lang="fr-FR" sz="2400" b="1" noProof="0" dirty="0" err="1">
                <a:solidFill>
                  <a:srgbClr val="333333"/>
                </a:solidFill>
              </a:rPr>
              <a:t>francais</a:t>
            </a:r>
            <a:endParaRPr lang="fr-FR" sz="2400" b="1" noProof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Fonctionnalité, Scenario, Soit, Quand, Alors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Cycle de vie d'un test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1. Rédaction par l'expert métier (.feature)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2. Implémentation par le développeur (</a:t>
            </a:r>
            <a:r>
              <a:rPr lang="fr-FR" sz="2000" b="0" noProof="0" dirty="0" err="1">
                <a:solidFill>
                  <a:srgbClr val="333333"/>
                </a:solidFill>
              </a:rPr>
              <a:t>step</a:t>
            </a:r>
            <a:r>
              <a:rPr lang="fr-FR" sz="2000" b="0" noProof="0" dirty="0">
                <a:solidFill>
                  <a:srgbClr val="333333"/>
                </a:solidFill>
              </a:rPr>
              <a:t> </a:t>
            </a:r>
            <a:r>
              <a:rPr lang="fr-FR" sz="2000" b="0" noProof="0" dirty="0" err="1">
                <a:solidFill>
                  <a:srgbClr val="333333"/>
                </a:solidFill>
              </a:rPr>
              <a:t>definitions</a:t>
            </a:r>
            <a:r>
              <a:rPr lang="fr-FR" sz="2000" b="0" noProof="0" dirty="0">
                <a:solidFill>
                  <a:srgbClr val="333333"/>
                </a:solidFill>
              </a:rPr>
              <a:t>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3. Exécution automatique (</a:t>
            </a:r>
            <a:r>
              <a:rPr lang="fr-FR" sz="2000" b="0" noProof="0" dirty="0" err="1">
                <a:solidFill>
                  <a:srgbClr val="333333"/>
                </a:solidFill>
              </a:rPr>
              <a:t>pytest-bdd</a:t>
            </a:r>
            <a:r>
              <a:rPr lang="fr-FR" sz="2000" b="0" noProof="0" dirty="0">
                <a:solidFill>
                  <a:srgbClr val="333333"/>
                </a:solidFill>
              </a:rPr>
              <a:t>)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70CAC3-C0F3-1055-783C-D578E2A35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ED8F5D4-6B08-9858-D49A-9C00F442F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18</a:t>
            </a:fld>
            <a:endParaRPr lang="fr-F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600" b="1" noProof="0" dirty="0">
                <a:solidFill>
                  <a:srgbClr val="333333"/>
                </a:solidFill>
              </a:rPr>
              <a:t>Lien feature -&gt; </a:t>
            </a:r>
            <a:r>
              <a:rPr lang="fr-FR" sz="2600" b="1" noProof="0" dirty="0" err="1">
                <a:solidFill>
                  <a:srgbClr val="333333"/>
                </a:solidFill>
              </a:rPr>
              <a:t>steps</a:t>
            </a:r>
            <a:r>
              <a:rPr lang="fr-FR" sz="2600" b="1" noProof="0" dirty="0">
                <a:solidFill>
                  <a:srgbClr val="333333"/>
                </a:solidFill>
              </a:rPr>
              <a:t> -&gt; </a:t>
            </a:r>
            <a:r>
              <a:rPr lang="fr-FR" sz="2600" b="1" noProof="0" dirty="0" err="1">
                <a:solidFill>
                  <a:srgbClr val="333333"/>
                </a:solidFill>
              </a:rPr>
              <a:t>systeme</a:t>
            </a:r>
            <a:endParaRPr lang="fr-FR" sz="2600" b="1" noProof="0" dirty="0">
              <a:solidFill>
                <a:srgbClr val="33333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b="1" noProof="0" dirty="0">
                <a:solidFill>
                  <a:srgbClr val="333333"/>
                </a:solidFill>
              </a:rPr>
              <a:t>Fichiers .feature dans </a:t>
            </a:r>
            <a:r>
              <a:rPr lang="fr-FR" sz="2400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./docs/briques/&lt;NN-nom&gt;/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Rédiges en </a:t>
            </a:r>
            <a:r>
              <a:rPr lang="fr-FR" sz="2000" b="0" noProof="0" dirty="0" err="1">
                <a:solidFill>
                  <a:srgbClr val="333333"/>
                </a:solidFill>
              </a:rPr>
              <a:t>Gherkin</a:t>
            </a:r>
            <a:r>
              <a:rPr lang="fr-FR" sz="2000" b="0" noProof="0" dirty="0">
                <a:solidFill>
                  <a:srgbClr val="333333"/>
                </a:solidFill>
              </a:rPr>
              <a:t> français par les experts métier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Code des </a:t>
            </a:r>
            <a:r>
              <a:rPr lang="fr-FR" sz="2400" b="1" noProof="0" dirty="0" err="1">
                <a:solidFill>
                  <a:srgbClr val="333333"/>
                </a:solidFill>
              </a:rPr>
              <a:t>steps</a:t>
            </a:r>
            <a:r>
              <a:rPr lang="fr-FR" sz="2400" b="1" noProof="0" dirty="0">
                <a:solidFill>
                  <a:srgbClr val="333333"/>
                </a:solidFill>
              </a:rPr>
              <a:t> dans packages </a:t>
            </a:r>
            <a:r>
              <a:rPr lang="fr-FR" sz="2400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./</a:t>
            </a:r>
            <a:r>
              <a:rPr lang="fr-FR" sz="2400" b="1" noProof="0" dirty="0" err="1">
                <a:solidFill>
                  <a:srgbClr val="333333"/>
                </a:solidFill>
                <a:highlight>
                  <a:srgbClr val="FFFF00"/>
                </a:highlight>
              </a:rPr>
              <a:t>pac-bdd</a:t>
            </a:r>
            <a:r>
              <a:rPr lang="fr-FR" sz="2400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/src/</a:t>
            </a:r>
            <a:r>
              <a:rPr lang="fr-FR" sz="2400" b="1" noProof="0" dirty="0" err="1">
                <a:solidFill>
                  <a:srgbClr val="333333"/>
                </a:solidFill>
                <a:highlight>
                  <a:srgbClr val="FFFF00"/>
                </a:highlight>
              </a:rPr>
              <a:t>pac_bdd</a:t>
            </a:r>
            <a:r>
              <a:rPr lang="fr-FR" sz="2400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/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 err="1">
                <a:solidFill>
                  <a:srgbClr val="333333"/>
                </a:solidFill>
              </a:rPr>
              <a:t>api.py</a:t>
            </a:r>
            <a:r>
              <a:rPr lang="fr-FR" sz="2000" b="0" noProof="0" dirty="0">
                <a:solidFill>
                  <a:srgbClr val="333333"/>
                </a:solidFill>
              </a:rPr>
              <a:t>, </a:t>
            </a:r>
            <a:r>
              <a:rPr lang="fr-FR" sz="2000" b="0" noProof="0" dirty="0" err="1">
                <a:solidFill>
                  <a:srgbClr val="333333"/>
                </a:solidFill>
              </a:rPr>
              <a:t>peppol.py</a:t>
            </a:r>
            <a:r>
              <a:rPr lang="fr-FR" sz="2000" b="0" noProof="0" dirty="0">
                <a:solidFill>
                  <a:srgbClr val="333333"/>
                </a:solidFill>
              </a:rPr>
              <a:t>, </a:t>
            </a:r>
            <a:r>
              <a:rPr lang="fr-FR" sz="2000" b="0" noProof="0" dirty="0" err="1">
                <a:solidFill>
                  <a:srgbClr val="333333"/>
                </a:solidFill>
              </a:rPr>
              <a:t>service.py</a:t>
            </a:r>
            <a:r>
              <a:rPr lang="fr-FR" sz="2000" b="0" noProof="0" dirty="0">
                <a:solidFill>
                  <a:srgbClr val="333333"/>
                </a:solidFill>
              </a:rPr>
              <a:t>, </a:t>
            </a:r>
            <a:r>
              <a:rPr lang="fr-FR" sz="2000" b="0" noProof="0" dirty="0" err="1">
                <a:solidFill>
                  <a:srgbClr val="333333"/>
                </a:solidFill>
              </a:rPr>
              <a:t>esb.py</a:t>
            </a:r>
            <a:r>
              <a:rPr lang="fr-FR" sz="2000" b="0" noProof="0" dirty="0">
                <a:solidFill>
                  <a:srgbClr val="333333"/>
                </a:solidFill>
              </a:rPr>
              <a:t>...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Le moteur </a:t>
            </a:r>
            <a:r>
              <a:rPr lang="fr-FR" sz="2400" b="1" noProof="0" dirty="0" err="1">
                <a:solidFill>
                  <a:srgbClr val="333333"/>
                </a:solidFill>
              </a:rPr>
              <a:t>pytest-bdd</a:t>
            </a:r>
            <a:r>
              <a:rPr lang="fr-FR" sz="2400" b="1" noProof="0" dirty="0">
                <a:solidFill>
                  <a:srgbClr val="333333"/>
                </a:solidFill>
              </a:rPr>
              <a:t> fait le lien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Lit une </a:t>
            </a:r>
            <a:r>
              <a:rPr lang="fr-FR" sz="2000" b="0" noProof="0" dirty="0" err="1">
                <a:solidFill>
                  <a:srgbClr val="333333"/>
                </a:solidFill>
              </a:rPr>
              <a:t>etape</a:t>
            </a:r>
            <a:r>
              <a:rPr lang="fr-FR" sz="2000" b="0" noProof="0" dirty="0">
                <a:solidFill>
                  <a:srgbClr val="333333"/>
                </a:solidFill>
              </a:rPr>
              <a:t> </a:t>
            </a:r>
            <a:r>
              <a:rPr lang="fr-FR" sz="2000" b="0" noProof="0" dirty="0" err="1">
                <a:solidFill>
                  <a:srgbClr val="333333"/>
                </a:solidFill>
              </a:rPr>
              <a:t>Gherkin</a:t>
            </a:r>
            <a:r>
              <a:rPr lang="fr-FR" sz="2000" b="0" noProof="0" dirty="0">
                <a:solidFill>
                  <a:srgbClr val="333333"/>
                </a:solidFill>
              </a:rPr>
              <a:t> (ex: Quand j’appelle l'API GET /</a:t>
            </a:r>
            <a:r>
              <a:rPr lang="fr-FR" sz="2000" b="0" noProof="0" dirty="0" err="1">
                <a:solidFill>
                  <a:srgbClr val="333333"/>
                </a:solidFill>
              </a:rPr>
              <a:t>healthcheck</a:t>
            </a:r>
            <a:r>
              <a:rPr lang="fr-FR" sz="2000" b="0" noProof="0" dirty="0">
                <a:solidFill>
                  <a:srgbClr val="333333"/>
                </a:solidFill>
              </a:rPr>
              <a:t>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Cherche le </a:t>
            </a:r>
            <a:r>
              <a:rPr lang="fr-FR" sz="2000" b="0" noProof="0" dirty="0" err="1">
                <a:solidFill>
                  <a:srgbClr val="333333"/>
                </a:solidFill>
              </a:rPr>
              <a:t>step</a:t>
            </a:r>
            <a:r>
              <a:rPr lang="fr-FR" sz="2000" b="0" noProof="0" dirty="0">
                <a:solidFill>
                  <a:srgbClr val="333333"/>
                </a:solidFill>
              </a:rPr>
              <a:t> </a:t>
            </a:r>
            <a:r>
              <a:rPr lang="fr-FR" sz="2000" b="0" noProof="0" dirty="0" err="1">
                <a:solidFill>
                  <a:srgbClr val="333333"/>
                </a:solidFill>
              </a:rPr>
              <a:t>definition</a:t>
            </a:r>
            <a:r>
              <a:rPr lang="fr-FR" sz="2000" b="0" noProof="0" dirty="0">
                <a:solidFill>
                  <a:srgbClr val="333333"/>
                </a:solidFill>
              </a:rPr>
              <a:t> correspondant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Exécute la fonction Python associée</a:t>
            </a:r>
          </a:p>
          <a:p>
            <a:pPr>
              <a:spcBef>
                <a:spcPts val="400"/>
              </a:spcBef>
            </a:pPr>
            <a:endParaRPr lang="fr-FR" sz="2000" b="0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Rapports : </a:t>
            </a:r>
            <a:r>
              <a:rPr lang="fr-FR" sz="2400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./report/</a:t>
            </a:r>
            <a:r>
              <a:rPr lang="fr-FR" sz="2400" b="1" noProof="0" dirty="0" err="1">
                <a:solidFill>
                  <a:srgbClr val="333333"/>
                </a:solidFill>
                <a:highlight>
                  <a:srgbClr val="FFFF00"/>
                </a:highlight>
              </a:rPr>
              <a:t>pac-bdd</a:t>
            </a:r>
            <a:r>
              <a:rPr lang="fr-FR" sz="2400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/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Ressources : </a:t>
            </a:r>
          </a:p>
          <a:p>
            <a:pPr lvl="1">
              <a:spcBef>
                <a:spcPts val="400"/>
              </a:spcBef>
            </a:pPr>
            <a:r>
              <a:rPr lang="fr-FR" sz="2000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./docs/</a:t>
            </a:r>
            <a:r>
              <a:rPr lang="fr-FR" sz="2000" b="1" noProof="0" dirty="0" err="1">
                <a:solidFill>
                  <a:srgbClr val="333333"/>
                </a:solidFill>
                <a:highlight>
                  <a:srgbClr val="FFFF00"/>
                </a:highlight>
              </a:rPr>
              <a:t>developpement</a:t>
            </a:r>
            <a:r>
              <a:rPr lang="fr-FR" sz="2000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/</a:t>
            </a:r>
            <a:r>
              <a:rPr lang="fr-FR" sz="2000" b="1" noProof="0" dirty="0" err="1">
                <a:solidFill>
                  <a:srgbClr val="333333"/>
                </a:solidFill>
                <a:highlight>
                  <a:srgbClr val="FFFF00"/>
                </a:highlight>
              </a:rPr>
              <a:t>BDD_README.md</a:t>
            </a:r>
            <a:endParaRPr lang="fr-FR" sz="2000" b="1" dirty="0">
              <a:solidFill>
                <a:srgbClr val="333333"/>
              </a:solidFill>
              <a:highlight>
                <a:srgbClr val="FFFF00"/>
              </a:highlight>
            </a:endParaRPr>
          </a:p>
          <a:p>
            <a:pPr lvl="1">
              <a:spcBef>
                <a:spcPts val="400"/>
              </a:spcBef>
            </a:pPr>
            <a:r>
              <a:rPr lang="fr-FR" sz="2000" b="1" dirty="0">
                <a:solidFill>
                  <a:srgbClr val="333333"/>
                </a:solidFill>
                <a:highlight>
                  <a:srgbClr val="FFFF00"/>
                </a:highlight>
              </a:rPr>
              <a:t>./docs/</a:t>
            </a:r>
            <a:r>
              <a:rPr lang="fr-FR" sz="2000" b="1" dirty="0" err="1">
                <a:solidFill>
                  <a:srgbClr val="333333"/>
                </a:solidFill>
                <a:highlight>
                  <a:srgbClr val="FFFF00"/>
                </a:highlight>
              </a:rPr>
              <a:t>developpement</a:t>
            </a:r>
            <a:r>
              <a:rPr lang="fr-FR" sz="2000" b="1" dirty="0">
                <a:solidFill>
                  <a:srgbClr val="333333"/>
                </a:solidFill>
                <a:highlight>
                  <a:srgbClr val="FFFF00"/>
                </a:highlight>
              </a:rPr>
              <a:t>/</a:t>
            </a:r>
            <a:r>
              <a:rPr lang="fr-FR" sz="2000" b="1" dirty="0" err="1">
                <a:solidFill>
                  <a:srgbClr val="333333"/>
                </a:solidFill>
                <a:highlight>
                  <a:srgbClr val="FFFF00"/>
                </a:highlight>
              </a:rPr>
              <a:t>BDD_Guide_Developpeur.md</a:t>
            </a:r>
            <a:endParaRPr lang="fr-FR" sz="2000" b="1" dirty="0">
              <a:solidFill>
                <a:srgbClr val="333333"/>
              </a:solidFill>
              <a:highlight>
                <a:srgbClr val="FFFF00"/>
              </a:highlight>
            </a:endParaRPr>
          </a:p>
          <a:p>
            <a:pPr lvl="1">
              <a:spcBef>
                <a:spcPts val="400"/>
              </a:spcBef>
            </a:pPr>
            <a:r>
              <a:rPr lang="fr-FR" sz="2000" b="1" dirty="0">
                <a:solidFill>
                  <a:srgbClr val="333333"/>
                </a:solidFill>
                <a:highlight>
                  <a:srgbClr val="FFFF00"/>
                </a:highlight>
              </a:rPr>
              <a:t>./docs/</a:t>
            </a:r>
            <a:r>
              <a:rPr lang="fr-FR" sz="2000" b="1" dirty="0" err="1">
                <a:solidFill>
                  <a:srgbClr val="333333"/>
                </a:solidFill>
                <a:highlight>
                  <a:srgbClr val="FFFF00"/>
                </a:highlight>
              </a:rPr>
              <a:t>developpement</a:t>
            </a:r>
            <a:r>
              <a:rPr lang="fr-FR" sz="2000" b="1" dirty="0">
                <a:solidFill>
                  <a:srgbClr val="333333"/>
                </a:solidFill>
                <a:highlight>
                  <a:srgbClr val="FFFF00"/>
                </a:highlight>
              </a:rPr>
              <a:t>/</a:t>
            </a:r>
            <a:r>
              <a:rPr lang="fr-FR" sz="2000" b="1" dirty="0" err="1">
                <a:solidFill>
                  <a:srgbClr val="333333"/>
                </a:solidFill>
                <a:highlight>
                  <a:srgbClr val="FFFF00"/>
                </a:highlight>
              </a:rPr>
              <a:t>BDD_Guide_Expert_Metier.md</a:t>
            </a:r>
            <a:endParaRPr lang="fr-FR" sz="2000" b="1" dirty="0">
              <a:solidFill>
                <a:srgbClr val="333333"/>
              </a:solidFill>
              <a:highlight>
                <a:srgbClr val="FFFF00"/>
              </a:highlight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F48ADC-641C-0E4B-E87B-A3EE22566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1755990-5184-A4E1-8F4D-C1FC5C528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19</a:t>
            </a:fld>
            <a:endParaRPr lang="fr-F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200" b="1" noProof="0" dirty="0">
                <a:solidFill>
                  <a:srgbClr val="F57C00"/>
                </a:solidFill>
              </a:rPr>
              <a:t>[METIER]  </a:t>
            </a:r>
            <a:r>
              <a:rPr lang="fr-FR" sz="3600" b="1" noProof="0" dirty="0">
                <a:solidFill>
                  <a:srgbClr val="333333"/>
                </a:solidFill>
              </a:rPr>
              <a:t>Rédiger un scenario BDD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noProof="0" dirty="0">
                <a:solidFill>
                  <a:srgbClr val="666666"/>
                </a:solidFill>
              </a:rPr>
              <a:t>Bloc 6 - Guide pour l'expert métier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AE9643-CC41-DCBF-E58E-EBBC43124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8B1AABF-56ED-4003-AA11-9EBCCB30D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20</a:t>
            </a:fld>
            <a:endParaRPr lang="fr-F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600" b="1" noProof="0" dirty="0">
                <a:solidFill>
                  <a:srgbClr val="F57C00"/>
                </a:solidFill>
              </a:rPr>
              <a:t>[METIER]  </a:t>
            </a:r>
            <a:r>
              <a:rPr lang="fr-FR" sz="2600" b="1" noProof="0" dirty="0">
                <a:solidFill>
                  <a:srgbClr val="333333"/>
                </a:solidFill>
              </a:rPr>
              <a:t>Structure d'un fichier .feature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b="1" noProof="0" dirty="0">
                <a:solidFill>
                  <a:srgbClr val="333333"/>
                </a:solidFill>
              </a:rPr>
              <a:t>Entête obligatoire : # </a:t>
            </a:r>
            <a:r>
              <a:rPr lang="fr-FR" sz="2400" b="1" noProof="0" dirty="0" err="1">
                <a:solidFill>
                  <a:srgbClr val="333333"/>
                </a:solidFill>
              </a:rPr>
              <a:t>language</a:t>
            </a:r>
            <a:r>
              <a:rPr lang="fr-FR" sz="2400" b="1" noProof="0" dirty="0">
                <a:solidFill>
                  <a:srgbClr val="333333"/>
                </a:solidFill>
              </a:rPr>
              <a:t>: </a:t>
            </a:r>
            <a:r>
              <a:rPr lang="fr-FR" sz="2400" b="1" noProof="0" dirty="0" err="1">
                <a:solidFill>
                  <a:srgbClr val="333333"/>
                </a:solidFill>
              </a:rPr>
              <a:t>fr</a:t>
            </a:r>
            <a:endParaRPr lang="fr-FR" sz="2400" b="1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Fonctionnalité: titre unique + description libre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Peut référencer la norme (ex: Section 4.4 de XP_Z12-013.pdf)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Contexte: étapes exécutées avant chaque scenario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Soit une </a:t>
            </a:r>
            <a:r>
              <a:rPr lang="fr-FR" sz="2000" b="0" noProof="0" dirty="0" err="1">
                <a:solidFill>
                  <a:srgbClr val="333333"/>
                </a:solidFill>
              </a:rPr>
              <a:t>pa</a:t>
            </a:r>
            <a:r>
              <a:rPr lang="fr-FR" sz="2000" b="0" noProof="0" dirty="0">
                <a:solidFill>
                  <a:srgbClr val="333333"/>
                </a:solidFill>
              </a:rPr>
              <a:t> communautaire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Scenario: un cas de test concret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Soit / Etant donne : précondition (</a:t>
            </a:r>
            <a:r>
              <a:rPr lang="fr-FR" sz="2000" b="0" noProof="0" dirty="0" err="1">
                <a:solidFill>
                  <a:srgbClr val="333333"/>
                </a:solidFill>
              </a:rPr>
              <a:t>Given</a:t>
            </a:r>
            <a:r>
              <a:rPr lang="fr-FR" sz="2000" b="0" noProof="0" dirty="0">
                <a:solidFill>
                  <a:srgbClr val="333333"/>
                </a:solidFill>
              </a:rPr>
              <a:t>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Quand : action effectuée (</a:t>
            </a:r>
            <a:r>
              <a:rPr lang="fr-FR" sz="2000" b="0" noProof="0" dirty="0" err="1">
                <a:solidFill>
                  <a:srgbClr val="333333"/>
                </a:solidFill>
              </a:rPr>
              <a:t>When</a:t>
            </a:r>
            <a:r>
              <a:rPr lang="fr-FR" sz="2000" b="0" noProof="0" dirty="0">
                <a:solidFill>
                  <a:srgbClr val="333333"/>
                </a:solidFill>
              </a:rPr>
              <a:t>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Alors : résultat attendu (</a:t>
            </a:r>
            <a:r>
              <a:rPr lang="fr-FR" sz="2000" b="0" noProof="0" dirty="0" err="1">
                <a:solidFill>
                  <a:srgbClr val="333333"/>
                </a:solidFill>
              </a:rPr>
              <a:t>Then</a:t>
            </a:r>
            <a:r>
              <a:rPr lang="fr-FR" sz="2000" b="0" noProof="0" dirty="0">
                <a:solidFill>
                  <a:srgbClr val="333333"/>
                </a:solidFill>
              </a:rPr>
              <a:t>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Et / Mais : continuation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Conventions du projet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Variables entre guillemets : "valeur"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Constantes préfixées : #pa1, #</a:t>
            </a:r>
            <a:r>
              <a:rPr lang="fr-FR" sz="2000" b="0" noProof="0" dirty="0" err="1">
                <a:solidFill>
                  <a:srgbClr val="333333"/>
                </a:solidFill>
              </a:rPr>
              <a:t>accepted</a:t>
            </a:r>
            <a:endParaRPr lang="fr-FR" sz="2000" b="0" noProof="0" dirty="0">
              <a:solidFill>
                <a:srgbClr val="333333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0601203-2622-DD14-8E1C-2E3D025850B6}"/>
              </a:ext>
            </a:extLst>
          </p:cNvPr>
          <p:cNvSpPr txBox="1"/>
          <p:nvPr/>
        </p:nvSpPr>
        <p:spPr>
          <a:xfrm>
            <a:off x="6762467" y="4012020"/>
            <a:ext cx="50428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Exemple</a:t>
            </a:r>
          </a:p>
          <a:p>
            <a:r>
              <a:rPr lang="fr-FR" dirty="0"/>
              <a:t>./docs/briques/01-api-gateway/</a:t>
            </a:r>
            <a:r>
              <a:rPr lang="fr-FR" dirty="0" err="1"/>
              <a:t>healthcheck.feature</a:t>
            </a: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536475EB-3DB7-485B-7D21-6853B053C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2FD21DA-FDAD-98F0-1012-E027088A4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21</a:t>
            </a:fld>
            <a:endParaRPr lang="fr-F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600" b="1" noProof="0" dirty="0">
                <a:solidFill>
                  <a:srgbClr val="F57C00"/>
                </a:solidFill>
              </a:rPr>
              <a:t>[METIER]  </a:t>
            </a:r>
            <a:r>
              <a:rPr lang="fr-FR" sz="2600" b="1" noProof="0" dirty="0">
                <a:solidFill>
                  <a:srgbClr val="333333"/>
                </a:solidFill>
              </a:rPr>
              <a:t>Bonnes pratiques et anti-patterns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b="1" noProof="0" dirty="0">
                <a:solidFill>
                  <a:srgbClr val="333333"/>
                </a:solidFill>
              </a:rPr>
              <a:t>Déclaratif, pas impératif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Bien : Quand Bob se connecte avec des identifiants valides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Eviter : Quand je saisis </a:t>
            </a:r>
            <a:r>
              <a:rPr lang="fr-FR" sz="2000" b="0" noProof="0" dirty="0" err="1">
                <a:solidFill>
                  <a:srgbClr val="333333"/>
                </a:solidFill>
              </a:rPr>
              <a:t>bob@test.com</a:t>
            </a:r>
            <a:r>
              <a:rPr lang="fr-FR" sz="2000" b="0" noProof="0" dirty="0">
                <a:solidFill>
                  <a:srgbClr val="333333"/>
                </a:solidFill>
              </a:rPr>
              <a:t> dans le champ email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Un scenario = un comportement (3-5 </a:t>
            </a:r>
            <a:r>
              <a:rPr lang="fr-FR" sz="2400" b="1" noProof="0" dirty="0" err="1">
                <a:solidFill>
                  <a:srgbClr val="333333"/>
                </a:solidFill>
              </a:rPr>
              <a:t>etapes</a:t>
            </a:r>
            <a:r>
              <a:rPr lang="fr-FR" sz="2400" b="1" noProof="0" dirty="0">
                <a:solidFill>
                  <a:srgbClr val="333333"/>
                </a:solidFill>
              </a:rPr>
              <a:t>)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Utiliser des valeurs concrètes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Bien : Alors l'identification par SIRET porte le code "0002"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Eviter : Alors l'identification est correcte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Anti-patterns à éviter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Details non essentiels (adresses, CB...)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Logique conditionnelle (si... alors...) -&gt; 2 scenarios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Fonctionnalités avancées : Plan du Scenario, tableaux, Doc Strings, tags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498A2C-B20C-C322-B705-CF230DC05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D334348-AD8B-38B3-F50E-10C6D829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22</a:t>
            </a:fld>
            <a:endParaRPr lang="fr-F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600" b="1" noProof="0" dirty="0">
                <a:solidFill>
                  <a:srgbClr val="F57C00"/>
                </a:solidFill>
              </a:rPr>
              <a:t>[METIER]  </a:t>
            </a:r>
            <a:r>
              <a:rPr lang="fr-FR" sz="2600" b="1" noProof="0" dirty="0">
                <a:solidFill>
                  <a:srgbClr val="333333"/>
                </a:solidFill>
              </a:rPr>
              <a:t>Exemples concrets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b="1" noProof="0" dirty="0" err="1">
                <a:solidFill>
                  <a:srgbClr val="333333"/>
                </a:solidFill>
              </a:rPr>
              <a:t>Healthcheck</a:t>
            </a:r>
            <a:r>
              <a:rPr lang="fr-FR" sz="2400" b="1" noProof="0" dirty="0">
                <a:solidFill>
                  <a:srgbClr val="333333"/>
                </a:solidFill>
              </a:rPr>
              <a:t> simple </a:t>
            </a:r>
            <a:r>
              <a:rPr lang="fr-FR" sz="2400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(./docs/briques/01-api-gateway/</a:t>
            </a:r>
            <a:r>
              <a:rPr lang="fr-FR" sz="2400" b="1" noProof="0" dirty="0" err="1">
                <a:solidFill>
                  <a:srgbClr val="333333"/>
                </a:solidFill>
                <a:highlight>
                  <a:srgbClr val="FFFF00"/>
                </a:highlight>
              </a:rPr>
              <a:t>healthcheck.feature</a:t>
            </a:r>
            <a:r>
              <a:rPr lang="fr-FR" sz="2400" b="1" noProof="0" dirty="0">
                <a:solidFill>
                  <a:srgbClr val="333333"/>
                </a:solidFill>
              </a:rPr>
              <a:t>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Contexte + 2 scenarios courts, référence norme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Calculs PEPPOL </a:t>
            </a:r>
            <a:r>
              <a:rPr lang="fr-FR" sz="2400" b="1" dirty="0">
                <a:solidFill>
                  <a:srgbClr val="333333"/>
                </a:solidFill>
                <a:highlight>
                  <a:srgbClr val="FFFF00"/>
                </a:highlight>
              </a:rPr>
              <a:t>(./docs/briques/07-routage</a:t>
            </a:r>
            <a:r>
              <a:rPr lang="fr-FR" sz="2400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/</a:t>
            </a:r>
            <a:r>
              <a:rPr lang="fr-FR" sz="2400" b="1" noProof="0" dirty="0" err="1">
                <a:solidFill>
                  <a:srgbClr val="333333"/>
                </a:solidFill>
                <a:highlight>
                  <a:srgbClr val="FFFF00"/>
                </a:highlight>
              </a:rPr>
              <a:t>peppol.feature</a:t>
            </a:r>
            <a:r>
              <a:rPr lang="fr-FR" sz="2400" b="1" noProof="0" dirty="0">
                <a:solidFill>
                  <a:srgbClr val="333333"/>
                </a:solidFill>
              </a:rPr>
              <a:t>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Plusieurs scenarios avec valeurs </a:t>
            </a:r>
            <a:r>
              <a:rPr lang="fr-FR" sz="2000" b="0" noProof="0" dirty="0" err="1">
                <a:solidFill>
                  <a:srgbClr val="333333"/>
                </a:solidFill>
              </a:rPr>
              <a:t>concretes</a:t>
            </a:r>
            <a:endParaRPr lang="fr-FR" sz="2000" b="0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Communication inter-PA </a:t>
            </a:r>
            <a:r>
              <a:rPr lang="fr-FR" sz="2400" b="1" dirty="0">
                <a:solidFill>
                  <a:srgbClr val="333333"/>
                </a:solidFill>
                <a:highlight>
                  <a:srgbClr val="FFFF00"/>
                </a:highlight>
              </a:rPr>
              <a:t>(./docs/briques/07-routage</a:t>
            </a:r>
            <a:r>
              <a:rPr lang="fr-FR" sz="2400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/</a:t>
            </a:r>
            <a:r>
              <a:rPr lang="fr-FR" sz="2400" b="1" noProof="0" dirty="0" err="1">
                <a:solidFill>
                  <a:srgbClr val="333333"/>
                </a:solidFill>
                <a:highlight>
                  <a:srgbClr val="FFFF00"/>
                </a:highlight>
              </a:rPr>
              <a:t>pa_multiple.feature</a:t>
            </a:r>
            <a:r>
              <a:rPr lang="fr-FR" sz="2400" b="1" noProof="0" dirty="0">
                <a:solidFill>
                  <a:srgbClr val="333333"/>
                </a:solidFill>
              </a:rPr>
              <a:t>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 err="1">
                <a:solidFill>
                  <a:srgbClr val="333333"/>
                </a:solidFill>
              </a:rPr>
              <a:t>References</a:t>
            </a:r>
            <a:r>
              <a:rPr lang="fr-FR" sz="2000" b="0" noProof="0" dirty="0">
                <a:solidFill>
                  <a:srgbClr val="333333"/>
                </a:solidFill>
              </a:rPr>
              <a:t> #pa1, #e1, #f1 - test bout en bout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Cycle de vie facture </a:t>
            </a:r>
            <a:r>
              <a:rPr lang="fr-FR" sz="2400" b="1" dirty="0">
                <a:solidFill>
                  <a:srgbClr val="333333"/>
                </a:solidFill>
                <a:highlight>
                  <a:srgbClr val="FFFF00"/>
                </a:highlight>
              </a:rPr>
              <a:t>(./docs/briques/09-gestion-cycle-vie</a:t>
            </a:r>
            <a:r>
              <a:rPr lang="fr-FR" sz="2400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/</a:t>
            </a:r>
            <a:r>
              <a:rPr lang="fr-FR" sz="2400" b="1" noProof="0" dirty="0" err="1">
                <a:solidFill>
                  <a:srgbClr val="333333"/>
                </a:solidFill>
                <a:highlight>
                  <a:srgbClr val="FFFF00"/>
                </a:highlight>
              </a:rPr>
              <a:t>facture.feature</a:t>
            </a:r>
            <a:r>
              <a:rPr lang="fr-FR" sz="2400" b="1" noProof="0" dirty="0">
                <a:solidFill>
                  <a:srgbClr val="333333"/>
                </a:solidFill>
              </a:rPr>
              <a:t>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Workflow asynchrone : dépôt puis interrogation</a:t>
            </a:r>
          </a:p>
          <a:p>
            <a:pPr>
              <a:spcBef>
                <a:spcPts val="400"/>
              </a:spcBef>
            </a:pPr>
            <a:endParaRPr lang="fr-FR" sz="2000" b="0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Exercice : écrire un scenario pour la brique 05, 06 ou 08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Ressources : </a:t>
            </a:r>
            <a:r>
              <a:rPr lang="fr-FR" sz="2400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./docs/</a:t>
            </a:r>
            <a:r>
              <a:rPr lang="fr-FR" sz="2400" b="1" noProof="0" dirty="0" err="1">
                <a:solidFill>
                  <a:srgbClr val="333333"/>
                </a:solidFill>
                <a:highlight>
                  <a:srgbClr val="FFFF00"/>
                </a:highlight>
              </a:rPr>
              <a:t>developpement</a:t>
            </a:r>
            <a:r>
              <a:rPr lang="fr-FR" sz="2400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/</a:t>
            </a:r>
            <a:r>
              <a:rPr lang="fr-FR" sz="2400" b="1" noProof="0" dirty="0" err="1">
                <a:solidFill>
                  <a:srgbClr val="333333"/>
                </a:solidFill>
                <a:highlight>
                  <a:srgbClr val="FFFF00"/>
                </a:highlight>
              </a:rPr>
              <a:t>BDD_Guide_Expert_Metier.md</a:t>
            </a:r>
            <a:endParaRPr lang="fr-FR" sz="2400" b="1" noProof="0" dirty="0">
              <a:solidFill>
                <a:srgbClr val="333333"/>
              </a:solidFill>
              <a:highlight>
                <a:srgbClr val="FFFF00"/>
              </a:highlight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11D252-97A7-4EEF-F3F0-7C9A9382C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79BF716-6393-07C5-B88C-4A2DBECA6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23</a:t>
            </a:fld>
            <a:endParaRPr lang="fr-F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200" b="1" noProof="0" dirty="0">
                <a:solidFill>
                  <a:srgbClr val="1976D2"/>
                </a:solidFill>
              </a:rPr>
              <a:t>[DEV]  </a:t>
            </a:r>
            <a:r>
              <a:rPr lang="fr-FR" sz="3600" b="1" noProof="0" dirty="0">
                <a:solidFill>
                  <a:srgbClr val="333333"/>
                </a:solidFill>
              </a:rPr>
              <a:t>Installation de l'environnement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noProof="0" dirty="0">
                <a:solidFill>
                  <a:srgbClr val="666666"/>
                </a:solidFill>
              </a:rPr>
              <a:t>Bloc 7 - Mettre en place son poste de développement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F7B49A-640E-D43C-8EB6-6B506CF6E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F5A751C-DBA7-7CB6-D616-8D3CF02F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24</a:t>
            </a:fld>
            <a:endParaRPr lang="fr-F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600" b="1" noProof="0" dirty="0">
                <a:solidFill>
                  <a:srgbClr val="1976D2"/>
                </a:solidFill>
              </a:rPr>
              <a:t>[DEV] </a:t>
            </a:r>
            <a:r>
              <a:rPr lang="fr-FR" sz="2600" b="1" noProof="0" dirty="0">
                <a:solidFill>
                  <a:srgbClr val="333333"/>
                </a:solidFill>
              </a:rPr>
              <a:t>Accéder au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352314" cy="43139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333333"/>
                </a:solidFill>
              </a:rPr>
              <a:t>Installer le repo sur ma machine avec git installé</a:t>
            </a:r>
          </a:p>
          <a:p>
            <a:pPr marL="457200" lvl="1" indent="0">
              <a:buNone/>
            </a:pPr>
            <a:r>
              <a:rPr lang="fr-FR" sz="1000" dirty="0" err="1">
                <a:solidFill>
                  <a:srgbClr val="33333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mkdir</a:t>
            </a:r>
            <a:r>
              <a:rPr lang="fr-FR" sz="1000" dirty="0">
                <a:solidFill>
                  <a:srgbClr val="33333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&lt;</a:t>
            </a:r>
            <a:r>
              <a:rPr lang="fr-FR" sz="1000" dirty="0" err="1">
                <a:solidFill>
                  <a:srgbClr val="33333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repertoire</a:t>
            </a:r>
            <a:r>
              <a:rPr lang="fr-FR" sz="1000" dirty="0">
                <a:solidFill>
                  <a:srgbClr val="33333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racine&gt;</a:t>
            </a:r>
          </a:p>
          <a:p>
            <a:pPr marL="457200" lvl="1" indent="0">
              <a:buNone/>
            </a:pPr>
            <a:r>
              <a:rPr lang="fr-FR" sz="1000" dirty="0">
                <a:solidFill>
                  <a:srgbClr val="33333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cd &lt;</a:t>
            </a:r>
            <a:r>
              <a:rPr lang="fr-FR" sz="1000" dirty="0" err="1">
                <a:solidFill>
                  <a:srgbClr val="33333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repertoire</a:t>
            </a:r>
            <a:r>
              <a:rPr lang="fr-FR" sz="1000" dirty="0">
                <a:solidFill>
                  <a:srgbClr val="33333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racine&gt;</a:t>
            </a:r>
          </a:p>
          <a:p>
            <a:pPr marL="457200" lvl="1" indent="0">
              <a:buNone/>
            </a:pPr>
            <a:r>
              <a:rPr lang="fr-FR" sz="1000" dirty="0">
                <a:solidFill>
                  <a:srgbClr val="33333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git clone  </a:t>
            </a:r>
            <a:r>
              <a:rPr lang="fr-FR" sz="1000" dirty="0">
                <a:solidFill>
                  <a:srgbClr val="33333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hlinkClick r:id="rId2"/>
              </a:rPr>
              <a:t>https://git.pdplibre.org/Construction_PA/PA_Communautaire.git</a:t>
            </a:r>
            <a:endParaRPr lang="fr-FR" sz="1000" dirty="0">
              <a:solidFill>
                <a:srgbClr val="333333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457200" lvl="1" indent="0">
              <a:buNone/>
            </a:pPr>
            <a:r>
              <a:rPr lang="fr-FR" sz="1000" dirty="0">
                <a:solidFill>
                  <a:srgbClr val="33333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</a:t>
            </a:r>
            <a:r>
              <a:rPr lang="fr-FR" sz="1000" b="0" noProof="0" dirty="0">
                <a:solidFill>
                  <a:srgbClr val="33333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 </a:t>
            </a:r>
            <a:r>
              <a:rPr lang="fr-FR" sz="1000" b="0" noProof="0" dirty="0" err="1">
                <a:solidFill>
                  <a:srgbClr val="33333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PA_Communautaire</a:t>
            </a:r>
            <a:endParaRPr lang="fr-FR" sz="1000" b="0" noProof="0" dirty="0">
              <a:solidFill>
                <a:srgbClr val="333333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buNone/>
            </a:pPr>
            <a:endParaRPr lang="fr-FR" sz="2000" dirty="0">
              <a:solidFill>
                <a:srgbClr val="333333"/>
              </a:solidFill>
            </a:endParaRPr>
          </a:p>
          <a:p>
            <a:pPr marL="0" indent="0">
              <a:buNone/>
            </a:pPr>
            <a:r>
              <a:rPr lang="fr-FR" sz="2000" b="1" noProof="0" dirty="0">
                <a:solidFill>
                  <a:srgbClr val="333333"/>
                </a:solidFill>
              </a:rPr>
              <a:t>Accéder au repo via un navigateur : </a:t>
            </a:r>
            <a:r>
              <a:rPr lang="fr-FR" sz="2000" dirty="0">
                <a:solidFill>
                  <a:srgbClr val="333333"/>
                </a:solidFill>
                <a:hlinkClick r:id="rId2"/>
              </a:rPr>
              <a:t>https://git.pdplibre.org/Construction_PA/PA_Communautaire.git</a:t>
            </a:r>
            <a:endParaRPr lang="fr-FR" sz="2000" b="0" noProof="0" dirty="0">
              <a:solidFill>
                <a:srgbClr val="333333"/>
              </a:solidFill>
            </a:endParaRP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DC83690-1690-8C81-2056-76A019D26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48FABC-E9EB-E9D4-ADCA-6320D55CF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25</a:t>
            </a:fld>
            <a:endParaRPr lang="fr-F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9861A-FC05-E122-4DAE-9E0142240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D9B70-8C8E-1872-1B91-148115A4C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600" b="1" noProof="0" dirty="0">
                <a:solidFill>
                  <a:srgbClr val="1976D2"/>
                </a:solidFill>
              </a:rPr>
              <a:t>[DEV] </a:t>
            </a:r>
            <a:r>
              <a:rPr lang="fr-FR" sz="2600" b="1" noProof="0" dirty="0">
                <a:solidFill>
                  <a:srgbClr val="333333"/>
                </a:solidFill>
              </a:rPr>
              <a:t>Installer l’environnement Docker vs Linux natif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CC122-1E31-3B12-2B8B-C99CFC4C8F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FR" sz="2000" b="1" noProof="0" dirty="0">
                <a:solidFill>
                  <a:srgbClr val="333333"/>
                </a:solidFill>
              </a:rPr>
              <a:t>Avec Docker (recommande)</a:t>
            </a:r>
          </a:p>
          <a:p>
            <a:pPr lvl="1">
              <a:spcBef>
                <a:spcPts val="400"/>
              </a:spcBef>
            </a:pPr>
            <a:r>
              <a:rPr lang="fr-FR" sz="1800" b="0" noProof="0" dirty="0" err="1">
                <a:solidFill>
                  <a:srgbClr val="333333"/>
                </a:solidFill>
              </a:rPr>
              <a:t>Prerequis</a:t>
            </a:r>
            <a:r>
              <a:rPr lang="fr-FR" sz="1800" b="0" noProof="0" dirty="0">
                <a:solidFill>
                  <a:srgbClr val="333333"/>
                </a:solidFill>
              </a:rPr>
              <a:t> : Docker / </a:t>
            </a:r>
            <a:r>
              <a:rPr lang="fr-FR" sz="1800" b="0" noProof="0" dirty="0" err="1">
                <a:solidFill>
                  <a:srgbClr val="333333"/>
                </a:solidFill>
              </a:rPr>
              <a:t>Podman</a:t>
            </a:r>
            <a:endParaRPr lang="fr-FR" sz="1800" b="0" noProof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lang="fr-FR" sz="1800" b="0" noProof="0" dirty="0">
                <a:solidFill>
                  <a:srgbClr val="333333"/>
                </a:solidFill>
              </a:rPr>
              <a:t>cd docker &amp;&amp; docker compose up -d</a:t>
            </a:r>
          </a:p>
          <a:p>
            <a:pPr lvl="1">
              <a:spcBef>
                <a:spcPts val="400"/>
              </a:spcBef>
            </a:pPr>
            <a:r>
              <a:rPr lang="fr-FR" sz="1800" b="0" noProof="0" dirty="0">
                <a:solidFill>
                  <a:srgbClr val="333333"/>
                </a:solidFill>
              </a:rPr>
              <a:t>10 services + test-</a:t>
            </a:r>
            <a:r>
              <a:rPr lang="fr-FR" sz="1800" b="0" noProof="0" dirty="0" err="1">
                <a:solidFill>
                  <a:srgbClr val="333333"/>
                </a:solidFill>
              </a:rPr>
              <a:t>bdd</a:t>
            </a:r>
            <a:r>
              <a:rPr lang="fr-FR" sz="1800" b="0" noProof="0" dirty="0">
                <a:solidFill>
                  <a:srgbClr val="333333"/>
                </a:solidFill>
              </a:rPr>
              <a:t> en un seul compose</a:t>
            </a:r>
          </a:p>
          <a:p>
            <a:pPr lvl="1">
              <a:spcBef>
                <a:spcPts val="400"/>
              </a:spcBef>
            </a:pPr>
            <a:r>
              <a:rPr lang="fr-FR" sz="1800" b="0" noProof="0" dirty="0" err="1">
                <a:solidFill>
                  <a:srgbClr val="333333"/>
                </a:solidFill>
              </a:rPr>
              <a:t>Verification</a:t>
            </a:r>
            <a:r>
              <a:rPr lang="fr-FR" sz="1800" b="0" noProof="0" dirty="0">
                <a:solidFill>
                  <a:srgbClr val="333333"/>
                </a:solidFill>
              </a:rPr>
              <a:t> : http://localhost:8000/docs</a:t>
            </a:r>
          </a:p>
          <a:p>
            <a:pPr lvl="1">
              <a:spcBef>
                <a:spcPts val="400"/>
              </a:spcBef>
            </a:pPr>
            <a:r>
              <a:rPr lang="fr-FR" sz="1800" b="0" noProof="0" dirty="0">
                <a:solidFill>
                  <a:srgbClr val="333333"/>
                </a:solidFill>
              </a:rPr>
              <a:t>Cible : branche dev_docker_v2</a:t>
            </a:r>
          </a:p>
          <a:p>
            <a:pPr>
              <a:spcBef>
                <a:spcPts val="400"/>
              </a:spcBef>
            </a:pPr>
            <a:endParaRPr lang="fr-FR" sz="1800" b="0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fr-FR" sz="2000" b="1" noProof="0" dirty="0">
                <a:solidFill>
                  <a:srgbClr val="333333"/>
                </a:solidFill>
              </a:rPr>
              <a:t>Configuration S3 (stockage factures)</a:t>
            </a:r>
          </a:p>
          <a:p>
            <a:pPr lvl="1">
              <a:spcBef>
                <a:spcPts val="400"/>
              </a:spcBef>
            </a:pPr>
            <a:r>
              <a:rPr lang="fr-FR" sz="1800" b="0" noProof="0" dirty="0">
                <a:solidFill>
                  <a:srgbClr val="333333"/>
                </a:solidFill>
              </a:rPr>
              <a:t>Inclus dans le docker-compose (</a:t>
            </a:r>
            <a:r>
              <a:rPr lang="fr-FR" sz="1800" b="0" noProof="0" dirty="0" err="1">
                <a:solidFill>
                  <a:srgbClr val="333333"/>
                </a:solidFill>
              </a:rPr>
              <a:t>SeaweedFS</a:t>
            </a:r>
            <a:r>
              <a:rPr lang="fr-FR" sz="1800" b="0" noProof="0" dirty="0">
                <a:solidFill>
                  <a:srgbClr val="333333"/>
                </a:solidFill>
              </a:rPr>
              <a:t>)</a:t>
            </a:r>
          </a:p>
          <a:p>
            <a:pPr lvl="1">
              <a:spcBef>
                <a:spcPts val="400"/>
              </a:spcBef>
            </a:pPr>
            <a:r>
              <a:rPr lang="fr-FR" sz="1800" b="0" noProof="0" dirty="0">
                <a:solidFill>
                  <a:srgbClr val="333333"/>
                </a:solidFill>
              </a:rPr>
              <a:t>Port S3 : 8333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90C49-0A41-2316-7926-AF6D4714EC0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FR" sz="2000" b="1" noProof="0" dirty="0">
                <a:solidFill>
                  <a:srgbClr val="333333"/>
                </a:solidFill>
              </a:rPr>
              <a:t>Installation locale Linux</a:t>
            </a:r>
          </a:p>
          <a:p>
            <a:pPr lvl="1">
              <a:spcBef>
                <a:spcPts val="400"/>
              </a:spcBef>
            </a:pPr>
            <a:r>
              <a:rPr lang="fr-FR" sz="1800" b="0" noProof="0" dirty="0">
                <a:solidFill>
                  <a:srgbClr val="333333"/>
                </a:solidFill>
              </a:rPr>
              <a:t>Python 3.13+, </a:t>
            </a:r>
            <a:r>
              <a:rPr lang="fr-FR" sz="1800" b="0" noProof="0" dirty="0" err="1">
                <a:solidFill>
                  <a:srgbClr val="333333"/>
                </a:solidFill>
              </a:rPr>
              <a:t>uv</a:t>
            </a:r>
            <a:r>
              <a:rPr lang="fr-FR" sz="1800" b="0" noProof="0" dirty="0">
                <a:solidFill>
                  <a:srgbClr val="333333"/>
                </a:solidFill>
              </a:rPr>
              <a:t> (pas </a:t>
            </a:r>
            <a:r>
              <a:rPr lang="fr-FR" sz="1800" b="0" noProof="0" dirty="0" err="1">
                <a:solidFill>
                  <a:srgbClr val="333333"/>
                </a:solidFill>
              </a:rPr>
              <a:t>pip</a:t>
            </a:r>
            <a:r>
              <a:rPr lang="fr-FR" sz="1800" b="0" noProof="0" dirty="0">
                <a:solidFill>
                  <a:srgbClr val="333333"/>
                </a:solidFill>
              </a:rPr>
              <a:t> !)</a:t>
            </a:r>
          </a:p>
          <a:p>
            <a:pPr lvl="1">
              <a:spcBef>
                <a:spcPts val="400"/>
              </a:spcBef>
            </a:pPr>
            <a:r>
              <a:rPr lang="fr-FR" sz="1800" b="0" noProof="0" dirty="0" err="1">
                <a:solidFill>
                  <a:srgbClr val="333333"/>
                </a:solidFill>
              </a:rPr>
              <a:t>curl</a:t>
            </a:r>
            <a:r>
              <a:rPr lang="fr-FR" sz="1800" b="0" noProof="0" dirty="0">
                <a:solidFill>
                  <a:srgbClr val="333333"/>
                </a:solidFill>
              </a:rPr>
              <a:t> -</a:t>
            </a:r>
            <a:r>
              <a:rPr lang="fr-FR" sz="1800" b="0" noProof="0" dirty="0" err="1">
                <a:solidFill>
                  <a:srgbClr val="333333"/>
                </a:solidFill>
              </a:rPr>
              <a:t>LsSf</a:t>
            </a:r>
            <a:r>
              <a:rPr lang="fr-FR" sz="1800" b="0" noProof="0" dirty="0">
                <a:solidFill>
                  <a:srgbClr val="333333"/>
                </a:solidFill>
              </a:rPr>
              <a:t> https://</a:t>
            </a:r>
            <a:r>
              <a:rPr lang="fr-FR" sz="1800" b="0" noProof="0" dirty="0" err="1">
                <a:solidFill>
                  <a:srgbClr val="333333"/>
                </a:solidFill>
              </a:rPr>
              <a:t>astral.sh</a:t>
            </a:r>
            <a:r>
              <a:rPr lang="fr-FR" sz="1800" b="0" noProof="0" dirty="0">
                <a:solidFill>
                  <a:srgbClr val="333333"/>
                </a:solidFill>
              </a:rPr>
              <a:t>/</a:t>
            </a:r>
            <a:r>
              <a:rPr lang="fr-FR" sz="1800" b="0" noProof="0" dirty="0" err="1">
                <a:solidFill>
                  <a:srgbClr val="333333"/>
                </a:solidFill>
              </a:rPr>
              <a:t>uv</a:t>
            </a:r>
            <a:r>
              <a:rPr lang="fr-FR" sz="1800" b="0" noProof="0" dirty="0">
                <a:solidFill>
                  <a:srgbClr val="333333"/>
                </a:solidFill>
              </a:rPr>
              <a:t>/</a:t>
            </a:r>
            <a:r>
              <a:rPr lang="fr-FR" sz="1800" b="0" noProof="0" dirty="0" err="1">
                <a:solidFill>
                  <a:srgbClr val="333333"/>
                </a:solidFill>
              </a:rPr>
              <a:t>install.sh</a:t>
            </a:r>
            <a:r>
              <a:rPr lang="fr-FR" sz="1800" b="0" noProof="0" dirty="0">
                <a:solidFill>
                  <a:srgbClr val="333333"/>
                </a:solidFill>
              </a:rPr>
              <a:t> | sh</a:t>
            </a:r>
          </a:p>
          <a:p>
            <a:pPr lvl="1">
              <a:spcBef>
                <a:spcPts val="400"/>
              </a:spcBef>
            </a:pPr>
            <a:r>
              <a:rPr lang="fr-FR" sz="1800" b="0" noProof="0" dirty="0" err="1">
                <a:solidFill>
                  <a:srgbClr val="333333"/>
                </a:solidFill>
              </a:rPr>
              <a:t>uv</a:t>
            </a:r>
            <a:r>
              <a:rPr lang="fr-FR" sz="1800" b="0" noProof="0" dirty="0">
                <a:solidFill>
                  <a:srgbClr val="333333"/>
                </a:solidFill>
              </a:rPr>
              <a:t> </a:t>
            </a:r>
            <a:r>
              <a:rPr lang="fr-FR" sz="1800" b="0" noProof="0" dirty="0" err="1">
                <a:solidFill>
                  <a:srgbClr val="333333"/>
                </a:solidFill>
              </a:rPr>
              <a:t>sync</a:t>
            </a:r>
            <a:r>
              <a:rPr lang="fr-FR" sz="1800" b="0" noProof="0" dirty="0">
                <a:solidFill>
                  <a:srgbClr val="333333"/>
                </a:solidFill>
              </a:rPr>
              <a:t> dans chaque package</a:t>
            </a:r>
          </a:p>
          <a:p>
            <a:pPr>
              <a:spcBef>
                <a:spcPts val="400"/>
              </a:spcBef>
            </a:pPr>
            <a:endParaRPr lang="fr-FR" sz="1800" b="0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fr-FR" sz="2000" b="1" noProof="0" dirty="0">
                <a:solidFill>
                  <a:srgbClr val="333333"/>
                </a:solidFill>
              </a:rPr>
              <a:t>NATS Server (broker de messages)</a:t>
            </a:r>
          </a:p>
          <a:p>
            <a:pPr lvl="1">
              <a:spcBef>
                <a:spcPts val="400"/>
              </a:spcBef>
            </a:pPr>
            <a:r>
              <a:rPr lang="fr-FR" sz="1800" b="0" noProof="0" dirty="0" err="1">
                <a:solidFill>
                  <a:srgbClr val="333333"/>
                </a:solidFill>
              </a:rPr>
              <a:t>Telecharger</a:t>
            </a:r>
            <a:r>
              <a:rPr lang="fr-FR" sz="1800" b="0" noProof="0" dirty="0">
                <a:solidFill>
                  <a:srgbClr val="333333"/>
                </a:solidFill>
              </a:rPr>
              <a:t> et installer </a:t>
            </a:r>
            <a:r>
              <a:rPr lang="fr-FR" sz="1800" b="0" noProof="0" dirty="0" err="1">
                <a:solidFill>
                  <a:srgbClr val="333333"/>
                </a:solidFill>
              </a:rPr>
              <a:t>nats</a:t>
            </a:r>
            <a:r>
              <a:rPr lang="fr-FR" sz="1800" b="0" noProof="0" dirty="0">
                <a:solidFill>
                  <a:srgbClr val="333333"/>
                </a:solidFill>
              </a:rPr>
              <a:t>-server</a:t>
            </a:r>
          </a:p>
          <a:p>
            <a:pPr lvl="1">
              <a:spcBef>
                <a:spcPts val="400"/>
              </a:spcBef>
            </a:pPr>
            <a:r>
              <a:rPr lang="fr-FR" sz="1800" b="0" noProof="0" dirty="0">
                <a:solidFill>
                  <a:srgbClr val="333333"/>
                </a:solidFill>
              </a:rPr>
              <a:t>Optionnel : </a:t>
            </a:r>
            <a:r>
              <a:rPr lang="fr-FR" sz="1800" b="0" noProof="0" dirty="0" err="1">
                <a:solidFill>
                  <a:srgbClr val="333333"/>
                </a:solidFill>
              </a:rPr>
              <a:t>nats</a:t>
            </a:r>
            <a:r>
              <a:rPr lang="fr-FR" sz="1800" b="0" noProof="0" dirty="0">
                <a:solidFill>
                  <a:srgbClr val="333333"/>
                </a:solidFill>
              </a:rPr>
              <a:t>-cli pour le </a:t>
            </a:r>
            <a:r>
              <a:rPr lang="fr-FR" sz="1800" b="0" noProof="0" dirty="0" err="1">
                <a:solidFill>
                  <a:srgbClr val="333333"/>
                </a:solidFill>
              </a:rPr>
              <a:t>debug</a:t>
            </a:r>
            <a:endParaRPr lang="fr-FR" sz="1800" b="0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lang="fr-FR" sz="1800" b="0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fr-FR" sz="2000" b="1" noProof="0" dirty="0">
                <a:solidFill>
                  <a:srgbClr val="333333"/>
                </a:solidFill>
              </a:rPr>
              <a:t>Lancement </a:t>
            </a:r>
            <a:r>
              <a:rPr lang="fr-FR" sz="2000" b="1" noProof="0" dirty="0" err="1">
                <a:solidFill>
                  <a:srgbClr val="333333"/>
                </a:solidFill>
              </a:rPr>
              <a:t>sequentiel</a:t>
            </a:r>
            <a:r>
              <a:rPr lang="fr-FR" sz="2000" b="1" noProof="0" dirty="0">
                <a:solidFill>
                  <a:srgbClr val="333333"/>
                </a:solidFill>
              </a:rPr>
              <a:t> des services</a:t>
            </a:r>
          </a:p>
          <a:p>
            <a:pPr lvl="1">
              <a:spcBef>
                <a:spcPts val="400"/>
              </a:spcBef>
            </a:pPr>
            <a:r>
              <a:rPr lang="fr-FR" sz="1800" b="0" noProof="0" dirty="0">
                <a:solidFill>
                  <a:srgbClr val="333333"/>
                </a:solidFill>
              </a:rPr>
              <a:t>1. </a:t>
            </a:r>
            <a:r>
              <a:rPr lang="fr-FR" sz="1800" b="0" noProof="0" dirty="0" err="1">
                <a:solidFill>
                  <a:srgbClr val="333333"/>
                </a:solidFill>
              </a:rPr>
              <a:t>nats</a:t>
            </a:r>
            <a:r>
              <a:rPr lang="fr-FR" sz="1800" b="0" noProof="0" dirty="0">
                <a:solidFill>
                  <a:srgbClr val="333333"/>
                </a:solidFill>
              </a:rPr>
              <a:t>-server -V -</a:t>
            </a:r>
            <a:r>
              <a:rPr lang="fr-FR" sz="1800" b="0" noProof="0" dirty="0" err="1">
                <a:solidFill>
                  <a:srgbClr val="333333"/>
                </a:solidFill>
              </a:rPr>
              <a:t>js</a:t>
            </a:r>
            <a:endParaRPr lang="fr-FR" sz="1800" b="0" noProof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lang="fr-FR" sz="1800" b="0" noProof="0" dirty="0">
                <a:solidFill>
                  <a:srgbClr val="333333"/>
                </a:solidFill>
              </a:rPr>
              <a:t>2. </a:t>
            </a:r>
            <a:r>
              <a:rPr lang="fr-FR" sz="1800" b="0" noProof="0" dirty="0" err="1">
                <a:solidFill>
                  <a:srgbClr val="333333"/>
                </a:solidFill>
              </a:rPr>
              <a:t>uv</a:t>
            </a:r>
            <a:r>
              <a:rPr lang="fr-FR" sz="1800" b="0" noProof="0" dirty="0">
                <a:solidFill>
                  <a:srgbClr val="333333"/>
                </a:solidFill>
              </a:rPr>
              <a:t> run </a:t>
            </a:r>
            <a:r>
              <a:rPr lang="fr-FR" sz="1800" b="0" noProof="0" dirty="0" err="1">
                <a:solidFill>
                  <a:srgbClr val="333333"/>
                </a:solidFill>
              </a:rPr>
              <a:t>fastapi</a:t>
            </a:r>
            <a:r>
              <a:rPr lang="fr-FR" sz="1800" b="0" noProof="0" dirty="0">
                <a:solidFill>
                  <a:srgbClr val="333333"/>
                </a:solidFill>
              </a:rPr>
              <a:t> dev ... (API Gateway)</a:t>
            </a:r>
          </a:p>
          <a:p>
            <a:pPr lvl="1">
              <a:spcBef>
                <a:spcPts val="400"/>
              </a:spcBef>
            </a:pPr>
            <a:r>
              <a:rPr lang="fr-FR" sz="1800" b="0" noProof="0" dirty="0">
                <a:solidFill>
                  <a:srgbClr val="333333"/>
                </a:solidFill>
              </a:rPr>
              <a:t>3. </a:t>
            </a:r>
            <a:r>
              <a:rPr lang="fr-FR" sz="1800" b="0" noProof="0" dirty="0" err="1">
                <a:solidFill>
                  <a:srgbClr val="333333"/>
                </a:solidFill>
              </a:rPr>
              <a:t>uv</a:t>
            </a:r>
            <a:r>
              <a:rPr lang="fr-FR" sz="1800" b="0" noProof="0" dirty="0">
                <a:solidFill>
                  <a:srgbClr val="333333"/>
                </a:solidFill>
              </a:rPr>
              <a:t> run </a:t>
            </a:r>
            <a:r>
              <a:rPr lang="fr-FR" sz="1800" b="0" noProof="0" dirty="0" err="1">
                <a:solidFill>
                  <a:srgbClr val="333333"/>
                </a:solidFill>
              </a:rPr>
              <a:t>faststream</a:t>
            </a:r>
            <a:r>
              <a:rPr lang="fr-FR" sz="1800" b="0" noProof="0" dirty="0">
                <a:solidFill>
                  <a:srgbClr val="333333"/>
                </a:solidFill>
              </a:rPr>
              <a:t> run ... (services)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64A2358-1D16-540B-FECA-D568940D8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AB0985-CC70-5CA8-882A-E37628BB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26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EC3014D-E483-C8EC-D292-5BA45625AAC4}"/>
              </a:ext>
            </a:extLst>
          </p:cNvPr>
          <p:cNvSpPr txBox="1"/>
          <p:nvPr/>
        </p:nvSpPr>
        <p:spPr>
          <a:xfrm>
            <a:off x="838200" y="58973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ighlight>
                  <a:srgbClr val="FFFF00"/>
                </a:highlight>
              </a:rPr>
              <a:t>./docs/</a:t>
            </a:r>
            <a:r>
              <a:rPr lang="fr-FR" dirty="0" err="1">
                <a:highlight>
                  <a:srgbClr val="FFFF00"/>
                </a:highlight>
              </a:rPr>
              <a:t>developpement</a:t>
            </a:r>
            <a:r>
              <a:rPr lang="fr-FR" dirty="0">
                <a:highlight>
                  <a:srgbClr val="FFFF00"/>
                </a:highlight>
              </a:rPr>
              <a:t>/</a:t>
            </a:r>
            <a:r>
              <a:rPr lang="fr-FR" dirty="0" err="1">
                <a:highlight>
                  <a:srgbClr val="FFFF00"/>
                </a:highlight>
              </a:rPr>
              <a:t>Installation_Docker.md</a:t>
            </a:r>
            <a:endParaRPr lang="fr-FR" dirty="0">
              <a:highlight>
                <a:srgbClr val="FFFF00"/>
              </a:highlight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A99D1AB-E4B3-0B7C-1454-F09728556E48}"/>
              </a:ext>
            </a:extLst>
          </p:cNvPr>
          <p:cNvSpPr txBox="1"/>
          <p:nvPr/>
        </p:nvSpPr>
        <p:spPr>
          <a:xfrm>
            <a:off x="6172200" y="586336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ighlight>
                  <a:srgbClr val="FFFF00"/>
                </a:highlight>
              </a:rPr>
              <a:t>./docs/</a:t>
            </a:r>
            <a:r>
              <a:rPr lang="fr-FR" dirty="0" err="1">
                <a:highlight>
                  <a:srgbClr val="FFFF00"/>
                </a:highlight>
              </a:rPr>
              <a:t>developpement</a:t>
            </a:r>
            <a:r>
              <a:rPr lang="fr-FR" dirty="0">
                <a:highlight>
                  <a:srgbClr val="FFFF00"/>
                </a:highlight>
              </a:rPr>
              <a:t>/</a:t>
            </a:r>
            <a:r>
              <a:rPr lang="fr-FR" dirty="0" err="1">
                <a:highlight>
                  <a:srgbClr val="FFFF00"/>
                </a:highlight>
              </a:rPr>
              <a:t>Installation_Linux.md</a:t>
            </a:r>
            <a:endParaRPr lang="fr-FR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544570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600" b="1" noProof="0" dirty="0">
                <a:solidFill>
                  <a:srgbClr val="1976D2"/>
                </a:solidFill>
              </a:rPr>
              <a:t>[DEV]  </a:t>
            </a:r>
            <a:r>
              <a:rPr lang="fr-FR" sz="2600" b="1" noProof="0" dirty="0" err="1">
                <a:solidFill>
                  <a:srgbClr val="333333"/>
                </a:solidFill>
              </a:rPr>
              <a:t>Verification</a:t>
            </a:r>
            <a:r>
              <a:rPr lang="fr-FR" sz="2600" b="1" noProof="0" dirty="0">
                <a:solidFill>
                  <a:srgbClr val="333333"/>
                </a:solidFill>
              </a:rPr>
              <a:t> de l'installation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b="1" noProof="0" dirty="0">
                <a:solidFill>
                  <a:srgbClr val="333333"/>
                </a:solidFill>
              </a:rPr>
              <a:t>Lancer les tests BDD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cd packages/</a:t>
            </a:r>
            <a:r>
              <a:rPr lang="fr-FR" sz="2000" b="0" noProof="0" dirty="0" err="1">
                <a:solidFill>
                  <a:srgbClr val="333333"/>
                </a:solidFill>
              </a:rPr>
              <a:t>pac-bdd</a:t>
            </a:r>
            <a:r>
              <a:rPr lang="fr-FR" sz="2000" b="0" noProof="0" dirty="0">
                <a:solidFill>
                  <a:srgbClr val="333333"/>
                </a:solidFill>
              </a:rPr>
              <a:t> &amp;&amp; </a:t>
            </a:r>
            <a:r>
              <a:rPr lang="fr-FR" sz="2000" b="0" noProof="0" dirty="0" err="1">
                <a:solidFill>
                  <a:srgbClr val="333333"/>
                </a:solidFill>
              </a:rPr>
              <a:t>uv</a:t>
            </a:r>
            <a:r>
              <a:rPr lang="fr-FR" sz="2000" b="0" noProof="0" dirty="0">
                <a:solidFill>
                  <a:srgbClr val="333333"/>
                </a:solidFill>
              </a:rPr>
              <a:t> run </a:t>
            </a:r>
            <a:r>
              <a:rPr lang="fr-FR" sz="2000" b="0" noProof="0" dirty="0" err="1">
                <a:solidFill>
                  <a:srgbClr val="333333"/>
                </a:solidFill>
              </a:rPr>
              <a:t>pytest</a:t>
            </a:r>
            <a:r>
              <a:rPr lang="fr-FR" sz="2000" b="0" noProof="0" dirty="0">
                <a:solidFill>
                  <a:srgbClr val="333333"/>
                </a:solidFill>
              </a:rPr>
              <a:t> -v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Lancer tous les tests avec rapport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  <a:highlight>
                  <a:srgbClr val="FFFF00"/>
                </a:highlight>
              </a:rPr>
              <a:t>./script/test</a:t>
            </a:r>
          </a:p>
          <a:p>
            <a:pPr>
              <a:spcBef>
                <a:spcPts val="400"/>
              </a:spcBef>
            </a:pPr>
            <a:r>
              <a:rPr lang="fr-FR" sz="2400" b="1" noProof="0" dirty="0" err="1">
                <a:solidFill>
                  <a:srgbClr val="333333"/>
                </a:solidFill>
              </a:rPr>
              <a:t>Verifier</a:t>
            </a:r>
            <a:r>
              <a:rPr lang="fr-FR" sz="2400" b="1" noProof="0" dirty="0">
                <a:solidFill>
                  <a:srgbClr val="333333"/>
                </a:solidFill>
              </a:rPr>
              <a:t> l'API Gateway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http://localhost:8000/docs (interface </a:t>
            </a:r>
            <a:r>
              <a:rPr lang="fr-FR" sz="2000" b="0" noProof="0" dirty="0" err="1">
                <a:solidFill>
                  <a:srgbClr val="333333"/>
                </a:solidFill>
              </a:rPr>
              <a:t>Swagger</a:t>
            </a:r>
            <a:r>
              <a:rPr lang="fr-FR" sz="2000" b="0" noProof="0" dirty="0">
                <a:solidFill>
                  <a:srgbClr val="333333"/>
                </a:solidFill>
              </a:rPr>
              <a:t> </a:t>
            </a:r>
            <a:r>
              <a:rPr lang="fr-FR" sz="2000" b="0" noProof="0" dirty="0" err="1">
                <a:solidFill>
                  <a:srgbClr val="333333"/>
                </a:solidFill>
              </a:rPr>
              <a:t>FastAPI</a:t>
            </a:r>
            <a:r>
              <a:rPr lang="fr-FR" sz="2000" b="0" noProof="0" dirty="0">
                <a:solidFill>
                  <a:srgbClr val="333333"/>
                </a:solidFill>
              </a:rPr>
              <a:t>)</a:t>
            </a:r>
          </a:p>
          <a:p>
            <a:pPr>
              <a:spcBef>
                <a:spcPts val="400"/>
              </a:spcBef>
            </a:pPr>
            <a:endParaRPr lang="fr-FR" sz="2000" b="0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Ressources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  <a:highlight>
                  <a:srgbClr val="FFFF00"/>
                </a:highlight>
              </a:rPr>
              <a:t>docs/</a:t>
            </a:r>
            <a:r>
              <a:rPr lang="fr-FR" sz="2000" b="0" noProof="0" dirty="0" err="1">
                <a:solidFill>
                  <a:srgbClr val="333333"/>
                </a:solidFill>
                <a:highlight>
                  <a:srgbClr val="FFFF00"/>
                </a:highlight>
              </a:rPr>
              <a:t>developpement</a:t>
            </a:r>
            <a:r>
              <a:rPr lang="fr-FR" sz="2000" b="0" noProof="0" dirty="0">
                <a:solidFill>
                  <a:srgbClr val="333333"/>
                </a:solidFill>
                <a:highlight>
                  <a:srgbClr val="FFFF00"/>
                </a:highlight>
              </a:rPr>
              <a:t>/</a:t>
            </a:r>
            <a:r>
              <a:rPr lang="fr-FR" sz="2000" b="0" noProof="0" dirty="0" err="1">
                <a:solidFill>
                  <a:srgbClr val="333333"/>
                </a:solidFill>
                <a:highlight>
                  <a:srgbClr val="FFFF00"/>
                </a:highlight>
              </a:rPr>
              <a:t>Installation_Docker.md</a:t>
            </a:r>
            <a:endParaRPr lang="fr-FR" sz="2000" b="0" noProof="0" dirty="0">
              <a:solidFill>
                <a:srgbClr val="333333"/>
              </a:solidFill>
              <a:highlight>
                <a:srgbClr val="FFFF00"/>
              </a:highlight>
            </a:endParaRP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  <a:highlight>
                  <a:srgbClr val="FFFF00"/>
                </a:highlight>
              </a:rPr>
              <a:t>docs/</a:t>
            </a:r>
            <a:r>
              <a:rPr lang="fr-FR" sz="2000" b="0" noProof="0" dirty="0" err="1">
                <a:solidFill>
                  <a:srgbClr val="333333"/>
                </a:solidFill>
                <a:highlight>
                  <a:srgbClr val="FFFF00"/>
                </a:highlight>
              </a:rPr>
              <a:t>developpement</a:t>
            </a:r>
            <a:r>
              <a:rPr lang="fr-FR" sz="2000" b="0" noProof="0" dirty="0">
                <a:solidFill>
                  <a:srgbClr val="333333"/>
                </a:solidFill>
                <a:highlight>
                  <a:srgbClr val="FFFF00"/>
                </a:highlight>
              </a:rPr>
              <a:t>/</a:t>
            </a:r>
            <a:r>
              <a:rPr lang="fr-FR" sz="2000" b="0" noProof="0" dirty="0" err="1">
                <a:solidFill>
                  <a:srgbClr val="333333"/>
                </a:solidFill>
                <a:highlight>
                  <a:srgbClr val="FFFF00"/>
                </a:highlight>
              </a:rPr>
              <a:t>Installation_Linux.md</a:t>
            </a:r>
            <a:endParaRPr lang="fr-FR" sz="2000" b="0" noProof="0" dirty="0">
              <a:solidFill>
                <a:srgbClr val="333333"/>
              </a:solidFill>
              <a:highlight>
                <a:srgbClr val="FFFF00"/>
              </a:highlight>
            </a:endParaRP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  <a:highlight>
                  <a:srgbClr val="FFFF00"/>
                </a:highlight>
              </a:rPr>
              <a:t>docs/</a:t>
            </a:r>
            <a:r>
              <a:rPr lang="fr-FR" sz="2000" b="0" noProof="0" dirty="0" err="1">
                <a:solidFill>
                  <a:srgbClr val="333333"/>
                </a:solidFill>
                <a:highlight>
                  <a:srgbClr val="FFFF00"/>
                </a:highlight>
              </a:rPr>
              <a:t>developpement</a:t>
            </a:r>
            <a:r>
              <a:rPr lang="fr-FR" sz="2000" b="0" noProof="0" dirty="0">
                <a:solidFill>
                  <a:srgbClr val="333333"/>
                </a:solidFill>
                <a:highlight>
                  <a:srgbClr val="FFFF00"/>
                </a:highlight>
              </a:rPr>
              <a:t>/</a:t>
            </a:r>
            <a:r>
              <a:rPr lang="fr-FR" sz="2000" b="0" noProof="0" dirty="0" err="1">
                <a:solidFill>
                  <a:srgbClr val="333333"/>
                </a:solidFill>
                <a:highlight>
                  <a:srgbClr val="FFFF00"/>
                </a:highlight>
              </a:rPr>
              <a:t>Configuration.md</a:t>
            </a:r>
            <a:endParaRPr lang="fr-FR" sz="2000" b="0" noProof="0" dirty="0">
              <a:solidFill>
                <a:srgbClr val="333333"/>
              </a:solidFill>
              <a:highlight>
                <a:srgbClr val="FFFF00"/>
              </a:highlight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5E42DF-4957-7025-AB8B-86B7A9871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BFEDB70-5B67-E1E2-F268-0723C74F9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27</a:t>
            </a:fld>
            <a:endParaRPr lang="fr-F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200" b="1" noProof="0" dirty="0">
                <a:solidFill>
                  <a:srgbClr val="1976D2"/>
                </a:solidFill>
              </a:rPr>
              <a:t>[DEV]  </a:t>
            </a:r>
            <a:r>
              <a:rPr lang="fr-FR" sz="3600" b="1" noProof="0" dirty="0">
                <a:solidFill>
                  <a:srgbClr val="333333"/>
                </a:solidFill>
              </a:rPr>
              <a:t>Le code : packages et services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noProof="0" dirty="0">
                <a:solidFill>
                  <a:srgbClr val="666666"/>
                </a:solidFill>
              </a:rPr>
              <a:t>Bloc 8 - Comprendre l'implémentation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5123D7-9EC8-9BE5-9322-751841AB4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FD8EFE1-3CCF-953B-4422-830DB4F25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28</a:t>
            </a:fld>
            <a:endParaRPr lang="fr-F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600" b="1" noProof="0" dirty="0">
                <a:solidFill>
                  <a:srgbClr val="1976D2"/>
                </a:solidFill>
              </a:rPr>
              <a:t>[DEV]  </a:t>
            </a:r>
            <a:r>
              <a:rPr lang="fr-FR" sz="2600" b="1" noProof="0" dirty="0">
                <a:solidFill>
                  <a:srgbClr val="333333"/>
                </a:solidFill>
              </a:rPr>
              <a:t>Implémentation à date (février 2026)</a:t>
            </a:r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940AD557-69B7-CCF3-CEB4-1607B438AD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0123533"/>
              </p:ext>
            </p:extLst>
          </p:nvPr>
        </p:nvGraphicFramePr>
        <p:xfrm>
          <a:off x="903027" y="1136808"/>
          <a:ext cx="10385945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Espace réservé de la date 9">
            <a:extLst>
              <a:ext uri="{FF2B5EF4-FFF2-40B4-BE49-F238E27FC236}">
                <a16:creationId xmlns:a16="http://schemas.microsoft.com/office/drawing/2014/main" id="{09C2676B-1D20-9DC9-C233-720DBA28A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4E40FC0F-5A3C-6B2F-539E-4E96DD9D7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29</a:t>
            </a:fld>
            <a:endParaRPr lang="fr-F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600" b="1" noProof="0" dirty="0">
                <a:solidFill>
                  <a:srgbClr val="1976D2"/>
                </a:solidFill>
              </a:rPr>
              <a:t>[DEV]  </a:t>
            </a:r>
            <a:r>
              <a:rPr lang="fr-FR" sz="2600" b="1" noProof="0" dirty="0">
                <a:solidFill>
                  <a:srgbClr val="333333"/>
                </a:solidFill>
              </a:rPr>
              <a:t>Conventions du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b="1" noProof="0" dirty="0">
                <a:solidFill>
                  <a:srgbClr val="333333"/>
                </a:solidFill>
              </a:rPr>
              <a:t>Python 3.13+ avec </a:t>
            </a:r>
            <a:r>
              <a:rPr lang="fr-FR" sz="2400" b="1" noProof="0" dirty="0" err="1">
                <a:solidFill>
                  <a:srgbClr val="333333"/>
                </a:solidFill>
              </a:rPr>
              <a:t>async</a:t>
            </a:r>
            <a:r>
              <a:rPr lang="fr-FR" sz="2400" b="1" noProof="0" dirty="0">
                <a:solidFill>
                  <a:srgbClr val="333333"/>
                </a:solidFill>
              </a:rPr>
              <a:t>/</a:t>
            </a:r>
            <a:r>
              <a:rPr lang="fr-FR" sz="2400" b="1" noProof="0" dirty="0" err="1">
                <a:solidFill>
                  <a:srgbClr val="333333"/>
                </a:solidFill>
              </a:rPr>
              <a:t>await</a:t>
            </a:r>
            <a:r>
              <a:rPr lang="fr-FR" sz="2400" b="1" noProof="0" dirty="0">
                <a:solidFill>
                  <a:srgbClr val="333333"/>
                </a:solidFill>
              </a:rPr>
              <a:t> partout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Package manager : </a:t>
            </a:r>
            <a:r>
              <a:rPr lang="fr-FR" sz="2400" b="1" noProof="0" dirty="0" err="1">
                <a:solidFill>
                  <a:srgbClr val="333333"/>
                </a:solidFill>
              </a:rPr>
              <a:t>uv</a:t>
            </a:r>
            <a:r>
              <a:rPr lang="fr-FR" sz="2400" b="1" noProof="0" dirty="0">
                <a:solidFill>
                  <a:srgbClr val="333333"/>
                </a:solidFill>
              </a:rPr>
              <a:t> (jamais </a:t>
            </a:r>
            <a:r>
              <a:rPr lang="fr-FR" sz="2400" b="1" noProof="0" dirty="0" err="1">
                <a:solidFill>
                  <a:srgbClr val="333333"/>
                </a:solidFill>
              </a:rPr>
              <a:t>pip</a:t>
            </a:r>
            <a:r>
              <a:rPr lang="fr-FR" sz="2400" b="1" noProof="0" dirty="0">
                <a:solidFill>
                  <a:srgbClr val="333333"/>
                </a:solidFill>
              </a:rPr>
              <a:t>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 err="1">
                <a:solidFill>
                  <a:srgbClr val="333333"/>
                </a:solidFill>
              </a:rPr>
              <a:t>uv</a:t>
            </a:r>
            <a:r>
              <a:rPr lang="fr-FR" sz="2000" b="0" noProof="0" dirty="0">
                <a:solidFill>
                  <a:srgbClr val="333333"/>
                </a:solidFill>
              </a:rPr>
              <a:t> </a:t>
            </a:r>
            <a:r>
              <a:rPr lang="fr-FR" sz="2000" b="0" noProof="0" dirty="0" err="1">
                <a:solidFill>
                  <a:srgbClr val="333333"/>
                </a:solidFill>
              </a:rPr>
              <a:t>sync</a:t>
            </a:r>
            <a:r>
              <a:rPr lang="fr-FR" sz="2000" b="0" noProof="0" dirty="0">
                <a:solidFill>
                  <a:srgbClr val="333333"/>
                </a:solidFill>
              </a:rPr>
              <a:t> pour installer, </a:t>
            </a:r>
            <a:r>
              <a:rPr lang="fr-FR" sz="2000" b="0" noProof="0" dirty="0" err="1">
                <a:solidFill>
                  <a:srgbClr val="333333"/>
                </a:solidFill>
              </a:rPr>
              <a:t>uv</a:t>
            </a:r>
            <a:r>
              <a:rPr lang="fr-FR" sz="2000" b="0" noProof="0" dirty="0">
                <a:solidFill>
                  <a:srgbClr val="333333"/>
                </a:solidFill>
              </a:rPr>
              <a:t> run pour </a:t>
            </a:r>
            <a:r>
              <a:rPr lang="fr-FR" sz="2000" b="0" noProof="0" dirty="0" err="1">
                <a:solidFill>
                  <a:srgbClr val="333333"/>
                </a:solidFill>
              </a:rPr>
              <a:t>executer</a:t>
            </a:r>
            <a:endParaRPr lang="fr-FR" sz="2000" b="0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fr-FR" sz="2400" b="1" noProof="0" dirty="0" err="1">
                <a:solidFill>
                  <a:srgbClr val="333333"/>
                </a:solidFill>
              </a:rPr>
              <a:t>pytest-asyncio</a:t>
            </a:r>
            <a:r>
              <a:rPr lang="fr-FR" sz="2400" b="1" noProof="0" dirty="0">
                <a:solidFill>
                  <a:srgbClr val="333333"/>
                </a:solidFill>
              </a:rPr>
              <a:t> avec </a:t>
            </a:r>
            <a:r>
              <a:rPr lang="fr-FR" sz="2400" b="1" noProof="0" dirty="0" err="1">
                <a:solidFill>
                  <a:srgbClr val="333333"/>
                </a:solidFill>
              </a:rPr>
              <a:t>asyncio_mode</a:t>
            </a:r>
            <a:r>
              <a:rPr lang="fr-FR" sz="2400" b="1" noProof="0" dirty="0">
                <a:solidFill>
                  <a:srgbClr val="333333"/>
                </a:solidFill>
              </a:rPr>
              <a:t> = "auto"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Licence GPL-3.0-or-later avec headers SPDX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Chaque nouveau module de </a:t>
            </a:r>
            <a:r>
              <a:rPr lang="fr-FR" sz="2400" b="1" noProof="0" dirty="0" err="1">
                <a:solidFill>
                  <a:srgbClr val="333333"/>
                </a:solidFill>
              </a:rPr>
              <a:t>steps</a:t>
            </a:r>
            <a:r>
              <a:rPr lang="fr-FR" sz="2400" b="1" noProof="0" dirty="0">
                <a:solidFill>
                  <a:srgbClr val="333333"/>
                </a:solidFill>
              </a:rPr>
              <a:t> doit </a:t>
            </a:r>
            <a:r>
              <a:rPr lang="fr-FR" sz="2400" b="1" noProof="0" dirty="0" err="1">
                <a:solidFill>
                  <a:srgbClr val="333333"/>
                </a:solidFill>
              </a:rPr>
              <a:t>etre</a:t>
            </a:r>
            <a:r>
              <a:rPr lang="fr-FR" sz="2400" b="1" noProof="0" dirty="0">
                <a:solidFill>
                  <a:srgbClr val="333333"/>
                </a:solidFill>
              </a:rPr>
              <a:t> importe dans </a:t>
            </a:r>
            <a:r>
              <a:rPr lang="fr-FR" sz="2400" b="1" noProof="0" dirty="0" err="1">
                <a:solidFill>
                  <a:srgbClr val="333333"/>
                </a:solidFill>
              </a:rPr>
              <a:t>steps.py</a:t>
            </a:r>
            <a:endParaRPr lang="fr-FR" sz="2400" b="1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lang="fr-FR" sz="2400" b="1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Ressources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packages/pac0/</a:t>
            </a:r>
            <a:r>
              <a:rPr lang="fr-FR" sz="2000" b="0" noProof="0" dirty="0" err="1">
                <a:solidFill>
                  <a:srgbClr val="333333"/>
                </a:solidFill>
              </a:rPr>
              <a:t>README.md</a:t>
            </a:r>
            <a:endParaRPr lang="fr-FR" sz="2000" b="0" noProof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packages/</a:t>
            </a:r>
            <a:r>
              <a:rPr lang="fr-FR" sz="2000" b="0" noProof="0" dirty="0" err="1">
                <a:solidFill>
                  <a:srgbClr val="333333"/>
                </a:solidFill>
              </a:rPr>
              <a:t>pac-bdd</a:t>
            </a:r>
            <a:r>
              <a:rPr lang="fr-FR" sz="2000" b="0" noProof="0" dirty="0">
                <a:solidFill>
                  <a:srgbClr val="333333"/>
                </a:solidFill>
              </a:rPr>
              <a:t>/</a:t>
            </a:r>
            <a:r>
              <a:rPr lang="fr-FR" sz="2000" b="0" noProof="0" dirty="0" err="1">
                <a:solidFill>
                  <a:srgbClr val="333333"/>
                </a:solidFill>
              </a:rPr>
              <a:t>README.md</a:t>
            </a:r>
            <a:endParaRPr lang="fr-FR" sz="2000" b="0" noProof="0" dirty="0">
              <a:solidFill>
                <a:srgbClr val="333333"/>
              </a:solidFill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6C0EF3-7DBC-AD0E-629A-53094D522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FB30028-1860-0C21-725E-9BA60D275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30</a:t>
            </a:fld>
            <a:endParaRPr lang="fr-F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200" b="1" noProof="0" dirty="0">
                <a:solidFill>
                  <a:srgbClr val="1976D2"/>
                </a:solidFill>
              </a:rPr>
              <a:t>[DEV]  </a:t>
            </a:r>
            <a:r>
              <a:rPr lang="fr-FR" sz="3600" b="1" noProof="0" dirty="0">
                <a:solidFill>
                  <a:srgbClr val="333333"/>
                </a:solidFill>
              </a:rPr>
              <a:t>Implémenter un test BDD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noProof="0" dirty="0">
                <a:solidFill>
                  <a:srgbClr val="666666"/>
                </a:solidFill>
              </a:rPr>
              <a:t>Bloc 9 - Coder les </a:t>
            </a:r>
            <a:r>
              <a:rPr lang="fr-FR" sz="1800" noProof="0" dirty="0" err="1">
                <a:solidFill>
                  <a:srgbClr val="666666"/>
                </a:solidFill>
              </a:rPr>
              <a:t>step</a:t>
            </a:r>
            <a:r>
              <a:rPr lang="fr-FR" sz="1800" noProof="0" dirty="0">
                <a:solidFill>
                  <a:srgbClr val="666666"/>
                </a:solidFill>
              </a:rPr>
              <a:t> </a:t>
            </a:r>
            <a:r>
              <a:rPr lang="fr-FR" sz="1800" noProof="0" dirty="0" err="1">
                <a:solidFill>
                  <a:srgbClr val="666666"/>
                </a:solidFill>
              </a:rPr>
              <a:t>definitions</a:t>
            </a:r>
            <a:endParaRPr lang="fr-FR" sz="1800" noProof="0" dirty="0">
              <a:solidFill>
                <a:srgbClr val="666666"/>
              </a:solidFill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4B08E2-35AF-1330-02E0-23FF0D627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568189F-64AF-884B-BC7C-2025983F6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31</a:t>
            </a:fld>
            <a:endParaRPr lang="fr-F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600" b="1" noProof="0" dirty="0">
                <a:solidFill>
                  <a:srgbClr val="1976D2"/>
                </a:solidFill>
              </a:rPr>
              <a:t>[DEV]  </a:t>
            </a:r>
            <a:r>
              <a:rPr lang="fr-FR" sz="2600" b="1" noProof="0" dirty="0">
                <a:solidFill>
                  <a:srgbClr val="333333"/>
                </a:solidFill>
              </a:rPr>
              <a:t>Flux : .feature -&gt; </a:t>
            </a:r>
            <a:r>
              <a:rPr lang="fr-FR" sz="2600" b="1" noProof="0" dirty="0" err="1">
                <a:solidFill>
                  <a:srgbClr val="333333"/>
                </a:solidFill>
              </a:rPr>
              <a:t>step</a:t>
            </a:r>
            <a:r>
              <a:rPr lang="fr-FR" sz="2600" b="1" noProof="0" dirty="0">
                <a:solidFill>
                  <a:srgbClr val="333333"/>
                </a:solidFill>
              </a:rPr>
              <a:t> -&gt; </a:t>
            </a:r>
            <a:r>
              <a:rPr lang="fr-FR" sz="2600" b="1" noProof="0" dirty="0" err="1">
                <a:solidFill>
                  <a:srgbClr val="333333"/>
                </a:solidFill>
              </a:rPr>
              <a:t>systeme</a:t>
            </a:r>
            <a:endParaRPr lang="fr-FR" sz="2600" b="1" noProof="0" dirty="0">
              <a:solidFill>
                <a:srgbClr val="33333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b="1" noProof="0" dirty="0">
                <a:solidFill>
                  <a:srgbClr val="333333"/>
                </a:solidFill>
              </a:rPr>
              <a:t>1. Identifier l’</a:t>
            </a:r>
            <a:r>
              <a:rPr lang="fr-FR" sz="2400" b="1" dirty="0" err="1">
                <a:solidFill>
                  <a:srgbClr val="333333"/>
                </a:solidFill>
              </a:rPr>
              <a:t>é</a:t>
            </a:r>
            <a:r>
              <a:rPr lang="fr-FR" sz="2400" b="1" noProof="0" dirty="0">
                <a:solidFill>
                  <a:srgbClr val="333333"/>
                </a:solidFill>
              </a:rPr>
              <a:t>tape manquante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 err="1">
                <a:solidFill>
                  <a:srgbClr val="333333"/>
                </a:solidFill>
              </a:rPr>
              <a:t>StepDefNotFound</a:t>
            </a:r>
            <a:r>
              <a:rPr lang="fr-FR" sz="2000" b="0" noProof="0" dirty="0">
                <a:solidFill>
                  <a:srgbClr val="333333"/>
                </a:solidFill>
              </a:rPr>
              <a:t>: "je vérifie le format UBL"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2. Choisir le bon module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 err="1">
                <a:solidFill>
                  <a:srgbClr val="333333"/>
                </a:solidFill>
              </a:rPr>
              <a:t>api.py</a:t>
            </a:r>
            <a:r>
              <a:rPr lang="fr-FR" sz="2000" b="0" noProof="0" dirty="0">
                <a:solidFill>
                  <a:srgbClr val="333333"/>
                </a:solidFill>
              </a:rPr>
              <a:t> (REST), </a:t>
            </a:r>
            <a:r>
              <a:rPr lang="fr-FR" sz="2000" b="0" noProof="0" dirty="0" err="1">
                <a:solidFill>
                  <a:srgbClr val="333333"/>
                </a:solidFill>
              </a:rPr>
              <a:t>peppol.py</a:t>
            </a:r>
            <a:r>
              <a:rPr lang="fr-FR" sz="2000" b="0" noProof="0" dirty="0">
                <a:solidFill>
                  <a:srgbClr val="333333"/>
                </a:solidFill>
              </a:rPr>
              <a:t> (routage), </a:t>
            </a:r>
            <a:r>
              <a:rPr lang="fr-FR" sz="2000" b="0" noProof="0" dirty="0" err="1">
                <a:solidFill>
                  <a:srgbClr val="333333"/>
                </a:solidFill>
              </a:rPr>
              <a:t>service.py</a:t>
            </a:r>
            <a:r>
              <a:rPr lang="fr-FR" sz="2000" b="0" noProof="0" dirty="0">
                <a:solidFill>
                  <a:srgbClr val="333333"/>
                </a:solidFill>
              </a:rPr>
              <a:t>, </a:t>
            </a:r>
            <a:r>
              <a:rPr lang="fr-FR" sz="2000" b="0" noProof="0" dirty="0" err="1">
                <a:solidFill>
                  <a:srgbClr val="333333"/>
                </a:solidFill>
              </a:rPr>
              <a:t>esb.py</a:t>
            </a:r>
            <a:endParaRPr lang="fr-FR" sz="2000" b="0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3. Ecrire le </a:t>
            </a:r>
            <a:r>
              <a:rPr lang="fr-FR" sz="2400" b="1" noProof="0" dirty="0" err="1">
                <a:solidFill>
                  <a:srgbClr val="333333"/>
                </a:solidFill>
              </a:rPr>
              <a:t>step</a:t>
            </a:r>
            <a:endParaRPr lang="fr-FR" sz="2400" b="1" noProof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@</a:t>
            </a:r>
            <a:r>
              <a:rPr lang="fr-FR" sz="2000" b="0" noProof="0" dirty="0" err="1">
                <a:solidFill>
                  <a:srgbClr val="333333"/>
                </a:solidFill>
              </a:rPr>
              <a:t>when</a:t>
            </a:r>
            <a:r>
              <a:rPr lang="fr-FR" sz="2000" b="0" noProof="0" dirty="0">
                <a:solidFill>
                  <a:srgbClr val="333333"/>
                </a:solidFill>
              </a:rPr>
              <a:t>(</a:t>
            </a:r>
            <a:r>
              <a:rPr lang="fr-FR" sz="2000" b="0" noProof="0" dirty="0" err="1">
                <a:solidFill>
                  <a:srgbClr val="333333"/>
                </a:solidFill>
              </a:rPr>
              <a:t>parsers.parse</a:t>
            </a:r>
            <a:r>
              <a:rPr lang="fr-FR" sz="2000" b="0" noProof="0" dirty="0">
                <a:solidFill>
                  <a:srgbClr val="333333"/>
                </a:solidFill>
              </a:rPr>
              <a:t>('j'</a:t>
            </a:r>
            <a:r>
              <a:rPr lang="fr-FR" sz="2000" b="0" noProof="0" dirty="0" err="1">
                <a:solidFill>
                  <a:srgbClr val="333333"/>
                </a:solidFill>
              </a:rPr>
              <a:t>appele</a:t>
            </a:r>
            <a:r>
              <a:rPr lang="fr-FR" sz="2000" b="0" noProof="0" dirty="0">
                <a:solidFill>
                  <a:srgbClr val="333333"/>
                </a:solidFill>
              </a:rPr>
              <a:t> l'API {</a:t>
            </a:r>
            <a:r>
              <a:rPr lang="fr-FR" sz="2000" b="0" noProof="0" dirty="0" err="1">
                <a:solidFill>
                  <a:srgbClr val="333333"/>
                </a:solidFill>
              </a:rPr>
              <a:t>verb</a:t>
            </a:r>
            <a:r>
              <a:rPr lang="fr-FR" sz="2000" b="0" noProof="0" dirty="0">
                <a:solidFill>
                  <a:srgbClr val="333333"/>
                </a:solidFill>
              </a:rPr>
              <a:t>} {</a:t>
            </a:r>
            <a:r>
              <a:rPr lang="fr-FR" sz="2000" b="0" noProof="0" dirty="0" err="1">
                <a:solidFill>
                  <a:srgbClr val="333333"/>
                </a:solidFill>
              </a:rPr>
              <a:t>path</a:t>
            </a:r>
            <a:r>
              <a:rPr lang="fr-FR" sz="2000" b="0" noProof="0" dirty="0">
                <a:solidFill>
                  <a:srgbClr val="333333"/>
                </a:solidFill>
              </a:rPr>
              <a:t>}'))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 err="1">
                <a:solidFill>
                  <a:srgbClr val="333333"/>
                </a:solidFill>
              </a:rPr>
              <a:t>parsers.parse</a:t>
            </a:r>
            <a:r>
              <a:rPr lang="fr-FR" sz="2000" b="0" noProof="0" dirty="0">
                <a:solidFill>
                  <a:srgbClr val="333333"/>
                </a:solidFill>
              </a:rPr>
              <a:t> pour les patterns simples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 err="1">
                <a:solidFill>
                  <a:srgbClr val="333333"/>
                </a:solidFill>
              </a:rPr>
              <a:t>parsers.re</a:t>
            </a:r>
            <a:r>
              <a:rPr lang="fr-FR" sz="2000" b="0" noProof="0" dirty="0">
                <a:solidFill>
                  <a:srgbClr val="333333"/>
                </a:solidFill>
              </a:rPr>
              <a:t> pour les regex complexes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4. Gérer Data Tables et Doc Strings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 err="1">
                <a:solidFill>
                  <a:srgbClr val="333333"/>
                </a:solidFill>
              </a:rPr>
              <a:t>datatable</a:t>
            </a:r>
            <a:r>
              <a:rPr lang="fr-FR" sz="2000" b="0" noProof="0" dirty="0">
                <a:solidFill>
                  <a:srgbClr val="333333"/>
                </a:solidFill>
              </a:rPr>
              <a:t> : liste de dictionnaires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 err="1">
                <a:solidFill>
                  <a:srgbClr val="333333"/>
                </a:solidFill>
              </a:rPr>
              <a:t>docstring</a:t>
            </a:r>
            <a:r>
              <a:rPr lang="fr-FR" sz="2000" b="0" noProof="0" dirty="0">
                <a:solidFill>
                  <a:srgbClr val="333333"/>
                </a:solidFill>
              </a:rPr>
              <a:t> : texte brut du bloc """..."""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13FCCE-523F-444D-BCCA-8155F460D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932EC60-F97A-3CEE-6800-032CD91D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32</a:t>
            </a:fld>
            <a:endParaRPr lang="fr-F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600" b="1" noProof="0" dirty="0">
                <a:solidFill>
                  <a:srgbClr val="1976D2"/>
                </a:solidFill>
              </a:rPr>
              <a:t>[DEV]  </a:t>
            </a:r>
            <a:r>
              <a:rPr lang="fr-FR" sz="2600" b="1" noProof="0" dirty="0">
                <a:solidFill>
                  <a:srgbClr val="333333"/>
                </a:solidFill>
              </a:rPr>
              <a:t>Fixtures et exécution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b="1" noProof="0" dirty="0" err="1">
                <a:solidFill>
                  <a:srgbClr val="333333"/>
                </a:solidFill>
              </a:rPr>
              <a:t>WorldContext</a:t>
            </a:r>
            <a:r>
              <a:rPr lang="fr-FR" sz="2400" b="1" noProof="0" dirty="0">
                <a:solidFill>
                  <a:srgbClr val="333333"/>
                </a:solidFill>
              </a:rPr>
              <a:t> : environnement multi-PA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world1.pa1.api_gateway.get_client() pour les appels API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Contexte local </a:t>
            </a:r>
            <a:r>
              <a:rPr lang="fr-FR" sz="2400" b="1" noProof="0" dirty="0" err="1">
                <a:solidFill>
                  <a:srgbClr val="333333"/>
                </a:solidFill>
              </a:rPr>
              <a:t>Pydantic</a:t>
            </a:r>
            <a:r>
              <a:rPr lang="fr-FR" sz="2400" b="1" noProof="0" dirty="0">
                <a:solidFill>
                  <a:srgbClr val="333333"/>
                </a:solidFill>
              </a:rPr>
              <a:t> (</a:t>
            </a:r>
            <a:r>
              <a:rPr lang="fr-FR" sz="2400" b="1" noProof="0" dirty="0" err="1">
                <a:solidFill>
                  <a:srgbClr val="333333"/>
                </a:solidFill>
              </a:rPr>
              <a:t>LocalTestCtx</a:t>
            </a:r>
            <a:r>
              <a:rPr lang="fr-FR" sz="2400" b="1" noProof="0" dirty="0">
                <a:solidFill>
                  <a:srgbClr val="333333"/>
                </a:solidFill>
              </a:rPr>
              <a:t>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Partage de données entre </a:t>
            </a:r>
            <a:r>
              <a:rPr lang="fr-FR" sz="2000" b="0" noProof="0" dirty="0" err="1">
                <a:solidFill>
                  <a:srgbClr val="333333"/>
                </a:solidFill>
              </a:rPr>
              <a:t>steps</a:t>
            </a:r>
            <a:r>
              <a:rPr lang="fr-FR" sz="2000" b="0" noProof="0" dirty="0">
                <a:solidFill>
                  <a:srgbClr val="333333"/>
                </a:solidFill>
              </a:rPr>
              <a:t> d'un scenario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Pattern </a:t>
            </a:r>
            <a:r>
              <a:rPr lang="fr-FR" sz="2400" b="1" noProof="0" dirty="0" err="1">
                <a:solidFill>
                  <a:srgbClr val="333333"/>
                </a:solidFill>
              </a:rPr>
              <a:t>async</a:t>
            </a:r>
            <a:r>
              <a:rPr lang="fr-FR" sz="2400" b="1" noProof="0" dirty="0">
                <a:solidFill>
                  <a:srgbClr val="333333"/>
                </a:solidFill>
              </a:rPr>
              <a:t> -&gt; </a:t>
            </a:r>
            <a:r>
              <a:rPr lang="fr-FR" sz="2400" b="1" noProof="0" dirty="0" err="1">
                <a:solidFill>
                  <a:srgbClr val="333333"/>
                </a:solidFill>
              </a:rPr>
              <a:t>sync</a:t>
            </a:r>
            <a:r>
              <a:rPr lang="fr-FR" sz="2400" b="1" noProof="0" dirty="0">
                <a:solidFill>
                  <a:srgbClr val="333333"/>
                </a:solidFill>
              </a:rPr>
              <a:t> : @</a:t>
            </a:r>
            <a:r>
              <a:rPr lang="fr-FR" sz="2400" b="1" noProof="0" dirty="0" err="1">
                <a:solidFill>
                  <a:srgbClr val="333333"/>
                </a:solidFill>
              </a:rPr>
              <a:t>async_to_sync</a:t>
            </a:r>
            <a:endParaRPr lang="fr-FR" sz="2400" b="1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lang="fr-FR" sz="2400" b="1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Exécution des tests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 err="1">
                <a:solidFill>
                  <a:srgbClr val="333333"/>
                </a:solidFill>
              </a:rPr>
              <a:t>uv</a:t>
            </a:r>
            <a:r>
              <a:rPr lang="fr-FR" sz="2000" b="0" noProof="0" dirty="0">
                <a:solidFill>
                  <a:srgbClr val="333333"/>
                </a:solidFill>
              </a:rPr>
              <a:t> run </a:t>
            </a:r>
            <a:r>
              <a:rPr lang="fr-FR" sz="2000" b="0" noProof="0" dirty="0" err="1">
                <a:solidFill>
                  <a:srgbClr val="333333"/>
                </a:solidFill>
              </a:rPr>
              <a:t>pytest</a:t>
            </a:r>
            <a:r>
              <a:rPr lang="fr-FR" sz="2000" b="0" noProof="0" dirty="0">
                <a:solidFill>
                  <a:srgbClr val="333333"/>
                </a:solidFill>
              </a:rPr>
              <a:t> (tous les tests)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 err="1">
                <a:solidFill>
                  <a:srgbClr val="333333"/>
                </a:solidFill>
              </a:rPr>
              <a:t>uv</a:t>
            </a:r>
            <a:r>
              <a:rPr lang="fr-FR" sz="2000" b="0" noProof="0" dirty="0">
                <a:solidFill>
                  <a:srgbClr val="333333"/>
                </a:solidFill>
              </a:rPr>
              <a:t> run </a:t>
            </a:r>
            <a:r>
              <a:rPr lang="fr-FR" sz="2000" b="0" noProof="0" dirty="0" err="1">
                <a:solidFill>
                  <a:srgbClr val="333333"/>
                </a:solidFill>
              </a:rPr>
              <a:t>pytest</a:t>
            </a:r>
            <a:r>
              <a:rPr lang="fr-FR" sz="2000" b="0" noProof="0" dirty="0">
                <a:solidFill>
                  <a:srgbClr val="333333"/>
                </a:solidFill>
              </a:rPr>
              <a:t> </a:t>
            </a:r>
            <a:r>
              <a:rPr lang="fr-FR" sz="2000" b="0" noProof="0" dirty="0" err="1">
                <a:solidFill>
                  <a:srgbClr val="333333"/>
                </a:solidFill>
              </a:rPr>
              <a:t>test_scenario.py</a:t>
            </a:r>
            <a:r>
              <a:rPr lang="fr-FR" sz="2000" b="0" noProof="0" dirty="0">
                <a:solidFill>
                  <a:srgbClr val="333333"/>
                </a:solidFill>
              </a:rPr>
              <a:t>::</a:t>
            </a:r>
            <a:r>
              <a:rPr lang="fr-FR" sz="2000" b="0" noProof="0" dirty="0" err="1">
                <a:solidFill>
                  <a:srgbClr val="333333"/>
                </a:solidFill>
              </a:rPr>
              <a:t>test_xxx</a:t>
            </a:r>
            <a:r>
              <a:rPr lang="fr-FR" sz="2000" b="0" noProof="0" dirty="0">
                <a:solidFill>
                  <a:srgbClr val="333333"/>
                </a:solidFill>
              </a:rPr>
              <a:t> -v (un seul)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-v -s --log-cli-</a:t>
            </a:r>
            <a:r>
              <a:rPr lang="fr-FR" sz="2000" b="0" noProof="0" dirty="0" err="1">
                <a:solidFill>
                  <a:srgbClr val="333333"/>
                </a:solidFill>
              </a:rPr>
              <a:t>level</a:t>
            </a:r>
            <a:r>
              <a:rPr lang="fr-FR" sz="2000" b="0" noProof="0" dirty="0">
                <a:solidFill>
                  <a:srgbClr val="333333"/>
                </a:solidFill>
              </a:rPr>
              <a:t>=DEBUG (mode </a:t>
            </a:r>
            <a:r>
              <a:rPr lang="fr-FR" sz="2000" b="0" noProof="0" dirty="0" err="1">
                <a:solidFill>
                  <a:srgbClr val="333333"/>
                </a:solidFill>
              </a:rPr>
              <a:t>debug</a:t>
            </a:r>
            <a:r>
              <a:rPr lang="fr-FR" sz="2000" b="0" noProof="0" dirty="0">
                <a:solidFill>
                  <a:srgbClr val="333333"/>
                </a:solidFill>
              </a:rPr>
              <a:t>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--</a:t>
            </a:r>
            <a:r>
              <a:rPr lang="fr-FR" sz="2000" b="0" noProof="0" dirty="0" err="1">
                <a:solidFill>
                  <a:srgbClr val="333333"/>
                </a:solidFill>
              </a:rPr>
              <a:t>collect-only</a:t>
            </a:r>
            <a:r>
              <a:rPr lang="fr-FR" sz="2000" b="0" noProof="0" dirty="0">
                <a:solidFill>
                  <a:srgbClr val="333333"/>
                </a:solidFill>
              </a:rPr>
              <a:t> (collecter sans </a:t>
            </a:r>
            <a:r>
              <a:rPr lang="fr-FR" sz="2000" b="0" noProof="0" dirty="0" err="1">
                <a:solidFill>
                  <a:srgbClr val="333333"/>
                </a:solidFill>
              </a:rPr>
              <a:t>executer</a:t>
            </a:r>
            <a:r>
              <a:rPr lang="fr-FR" sz="2000" b="0" noProof="0" dirty="0">
                <a:solidFill>
                  <a:srgbClr val="333333"/>
                </a:solidFill>
              </a:rPr>
              <a:t>)</a:t>
            </a:r>
          </a:p>
          <a:p>
            <a:pPr>
              <a:spcBef>
                <a:spcPts val="400"/>
              </a:spcBef>
            </a:pPr>
            <a:endParaRPr lang="fr-FR" sz="2000" b="0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Ressources </a:t>
            </a:r>
            <a:r>
              <a:rPr lang="fr-FR" sz="2400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: docs/</a:t>
            </a:r>
            <a:r>
              <a:rPr lang="fr-FR" sz="2400" b="1" noProof="0" dirty="0" err="1">
                <a:solidFill>
                  <a:srgbClr val="333333"/>
                </a:solidFill>
                <a:highlight>
                  <a:srgbClr val="FFFF00"/>
                </a:highlight>
              </a:rPr>
              <a:t>developpement</a:t>
            </a:r>
            <a:r>
              <a:rPr lang="fr-FR" sz="2400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/</a:t>
            </a:r>
            <a:r>
              <a:rPr lang="fr-FR" sz="2400" b="1" noProof="0" dirty="0" err="1">
                <a:solidFill>
                  <a:srgbClr val="333333"/>
                </a:solidFill>
                <a:highlight>
                  <a:srgbClr val="FFFF00"/>
                </a:highlight>
              </a:rPr>
              <a:t>BDD_Guide_Developpeur.md</a:t>
            </a:r>
            <a:endParaRPr lang="fr-FR" sz="2400" b="1" noProof="0" dirty="0">
              <a:solidFill>
                <a:srgbClr val="333333"/>
              </a:solidFill>
              <a:highlight>
                <a:srgbClr val="FFFF00"/>
              </a:highlight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B609ED-696F-DA06-6CF3-F89C0C0C1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5B07E5B-A31E-ED4B-15A4-12249A843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33</a:t>
            </a:fld>
            <a:endParaRPr lang="fr-F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200" b="1" noProof="0" dirty="0">
                <a:solidFill>
                  <a:srgbClr val="388E3C"/>
                </a:solidFill>
              </a:rPr>
              <a:t>[TOUS]  </a:t>
            </a:r>
            <a:r>
              <a:rPr lang="fr-FR" sz="3600" b="1" noProof="0" dirty="0">
                <a:solidFill>
                  <a:srgbClr val="333333"/>
                </a:solidFill>
              </a:rPr>
              <a:t>Rapports de tests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noProof="0" dirty="0">
                <a:solidFill>
                  <a:srgbClr val="666666"/>
                </a:solidFill>
              </a:rPr>
              <a:t>Bloc 10 - Vérifier que ca marche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BC611D-9AD3-CB48-E826-549265054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320A1DE-DA1B-D89C-B52D-682F48B38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34</a:t>
            </a:fld>
            <a:endParaRPr lang="fr-F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600" b="1" noProof="0" dirty="0">
                <a:solidFill>
                  <a:srgbClr val="333333"/>
                </a:solidFill>
              </a:rPr>
              <a:t>Lancer et lire les rapports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sz="2400" b="1" noProof="0" dirty="0">
                <a:solidFill>
                  <a:srgbClr val="333333"/>
                </a:solidFill>
              </a:rPr>
              <a:t>Lancer tous les tests : </a:t>
            </a:r>
            <a:r>
              <a:rPr lang="fr-FR" sz="2400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./script/test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Lancer un package : cd packages/</a:t>
            </a:r>
            <a:r>
              <a:rPr lang="fr-FR" sz="2400" b="1" noProof="0" dirty="0" err="1">
                <a:solidFill>
                  <a:srgbClr val="333333"/>
                </a:solidFill>
              </a:rPr>
              <a:t>pac-bdd</a:t>
            </a:r>
            <a:r>
              <a:rPr lang="fr-FR" sz="2400" b="1" noProof="0" dirty="0">
                <a:solidFill>
                  <a:srgbClr val="333333"/>
                </a:solidFill>
              </a:rPr>
              <a:t> &amp;&amp; </a:t>
            </a:r>
            <a:r>
              <a:rPr lang="fr-FR" sz="2400" b="1" noProof="0" dirty="0" err="1">
                <a:solidFill>
                  <a:srgbClr val="333333"/>
                </a:solidFill>
              </a:rPr>
              <a:t>uv</a:t>
            </a:r>
            <a:r>
              <a:rPr lang="fr-FR" sz="2400" b="1" noProof="0" dirty="0">
                <a:solidFill>
                  <a:srgbClr val="333333"/>
                </a:solidFill>
              </a:rPr>
              <a:t> run </a:t>
            </a:r>
            <a:r>
              <a:rPr lang="fr-FR" sz="2400" b="1" noProof="0" dirty="0" err="1">
                <a:solidFill>
                  <a:srgbClr val="333333"/>
                </a:solidFill>
              </a:rPr>
              <a:t>pytest</a:t>
            </a:r>
            <a:endParaRPr lang="fr-FR" sz="2400" b="1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lang="fr-FR" sz="2400" b="1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Rapports </a:t>
            </a:r>
            <a:r>
              <a:rPr lang="fr-FR" sz="2400" b="1" noProof="0" dirty="0" err="1">
                <a:solidFill>
                  <a:srgbClr val="333333"/>
                </a:solidFill>
              </a:rPr>
              <a:t>généres</a:t>
            </a:r>
            <a:r>
              <a:rPr lang="fr-FR" sz="2400" b="1" noProof="0" dirty="0">
                <a:solidFill>
                  <a:srgbClr val="333333"/>
                </a:solidFill>
              </a:rPr>
              <a:t> dans </a:t>
            </a:r>
            <a:r>
              <a:rPr lang="fr-FR" sz="2400" b="1" noProof="0" dirty="0">
                <a:solidFill>
                  <a:srgbClr val="333333"/>
                </a:solidFill>
                <a:highlight>
                  <a:srgbClr val="FFFF00"/>
                </a:highlight>
              </a:rPr>
              <a:t>./report/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report</a:t>
            </a:r>
            <a:r>
              <a:rPr lang="fr-FR" sz="2000" b="0" noProof="0" dirty="0">
                <a:solidFill>
                  <a:srgbClr val="333333"/>
                </a:solidFill>
                <a:highlight>
                  <a:srgbClr val="FFFF00"/>
                </a:highlight>
              </a:rPr>
              <a:t>/pac0/ </a:t>
            </a:r>
            <a:r>
              <a:rPr lang="fr-FR" sz="2000" b="0" noProof="0" dirty="0">
                <a:solidFill>
                  <a:srgbClr val="333333"/>
                </a:solidFill>
              </a:rPr>
              <a:t>: tests unitaires de l'implémentation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report</a:t>
            </a:r>
            <a:r>
              <a:rPr lang="fr-FR" sz="2000" b="0" noProof="0" dirty="0">
                <a:solidFill>
                  <a:srgbClr val="333333"/>
                </a:solidFill>
                <a:highlight>
                  <a:srgbClr val="FFFF00"/>
                </a:highlight>
              </a:rPr>
              <a:t>/</a:t>
            </a:r>
            <a:r>
              <a:rPr lang="fr-FR" sz="2000" b="0" noProof="0" dirty="0" err="1">
                <a:solidFill>
                  <a:srgbClr val="333333"/>
                </a:solidFill>
                <a:highlight>
                  <a:srgbClr val="FFFF00"/>
                </a:highlight>
              </a:rPr>
              <a:t>pac-bdd</a:t>
            </a:r>
            <a:r>
              <a:rPr lang="fr-FR" sz="2000" b="0" noProof="0" dirty="0">
                <a:solidFill>
                  <a:srgbClr val="333333"/>
                </a:solidFill>
                <a:highlight>
                  <a:srgbClr val="FFFF00"/>
                </a:highlight>
              </a:rPr>
              <a:t>/ </a:t>
            </a:r>
            <a:r>
              <a:rPr lang="fr-FR" sz="2000" b="0" noProof="0" dirty="0">
                <a:solidFill>
                  <a:srgbClr val="333333"/>
                </a:solidFill>
              </a:rPr>
              <a:t>: tests BDD (scenarios </a:t>
            </a:r>
            <a:r>
              <a:rPr lang="fr-FR" sz="2000" b="0" noProof="0" dirty="0" err="1">
                <a:solidFill>
                  <a:srgbClr val="333333"/>
                </a:solidFill>
              </a:rPr>
              <a:t>Gherkin</a:t>
            </a:r>
            <a:r>
              <a:rPr lang="fr-FR" sz="2000" b="0" noProof="0" dirty="0">
                <a:solidFill>
                  <a:srgbClr val="333333"/>
                </a:solidFill>
              </a:rPr>
              <a:t>)</a:t>
            </a:r>
          </a:p>
          <a:p>
            <a:pPr>
              <a:spcBef>
                <a:spcPts val="400"/>
              </a:spcBef>
            </a:pPr>
            <a:endParaRPr lang="fr-FR" sz="2000" b="0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3 formats de rapport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HTML : visuel, navigable dans un navigateur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 err="1">
                <a:solidFill>
                  <a:srgbClr val="333333"/>
                </a:solidFill>
              </a:rPr>
              <a:t>Markdown</a:t>
            </a:r>
            <a:r>
              <a:rPr lang="fr-FR" sz="2000" b="0" noProof="0" dirty="0">
                <a:solidFill>
                  <a:srgbClr val="333333"/>
                </a:solidFill>
              </a:rPr>
              <a:t> : lisible en texte brut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XML JUnit : pour l'</a:t>
            </a:r>
            <a:r>
              <a:rPr lang="fr-FR" sz="2000" b="0" noProof="0" dirty="0" err="1">
                <a:solidFill>
                  <a:srgbClr val="333333"/>
                </a:solidFill>
              </a:rPr>
              <a:t>integration</a:t>
            </a:r>
            <a:r>
              <a:rPr lang="fr-FR" sz="2000" b="0" noProof="0" dirty="0">
                <a:solidFill>
                  <a:srgbClr val="333333"/>
                </a:solidFill>
              </a:rPr>
              <a:t> continue</a:t>
            </a:r>
          </a:p>
          <a:p>
            <a:pPr>
              <a:spcBef>
                <a:spcPts val="400"/>
              </a:spcBef>
            </a:pPr>
            <a:endParaRPr lang="fr-FR" sz="2000" b="0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Interpréter un </a:t>
            </a:r>
            <a:r>
              <a:rPr lang="fr-FR" sz="2400" b="1" dirty="0">
                <a:solidFill>
                  <a:srgbClr val="333333"/>
                </a:solidFill>
              </a:rPr>
              <a:t>é</a:t>
            </a:r>
            <a:r>
              <a:rPr lang="fr-FR" sz="2400" b="1" noProof="0" dirty="0" err="1">
                <a:solidFill>
                  <a:srgbClr val="333333"/>
                </a:solidFill>
              </a:rPr>
              <a:t>chec</a:t>
            </a:r>
            <a:endParaRPr lang="fr-FR" sz="2400" b="1" noProof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lang="fr-FR" sz="2000" b="0" noProof="0" dirty="0" err="1">
                <a:solidFill>
                  <a:srgbClr val="333333"/>
                </a:solidFill>
              </a:rPr>
              <a:t>StepDefNotFound</a:t>
            </a:r>
            <a:r>
              <a:rPr lang="fr-FR" sz="2000" b="0" noProof="0" dirty="0">
                <a:solidFill>
                  <a:srgbClr val="333333"/>
                </a:solidFill>
              </a:rPr>
              <a:t> : </a:t>
            </a:r>
            <a:r>
              <a:rPr lang="fr-FR" sz="2000" b="0" noProof="0" dirty="0" err="1">
                <a:solidFill>
                  <a:srgbClr val="333333"/>
                </a:solidFill>
              </a:rPr>
              <a:t>step</a:t>
            </a:r>
            <a:r>
              <a:rPr lang="fr-FR" sz="2000" b="0" noProof="0" dirty="0">
                <a:solidFill>
                  <a:srgbClr val="333333"/>
                </a:solidFill>
              </a:rPr>
              <a:t> manquant (a implémenter)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 err="1">
                <a:solidFill>
                  <a:srgbClr val="333333"/>
                </a:solidFill>
              </a:rPr>
              <a:t>AssertionError</a:t>
            </a:r>
            <a:r>
              <a:rPr lang="fr-FR" sz="2000" b="0" noProof="0" dirty="0">
                <a:solidFill>
                  <a:srgbClr val="333333"/>
                </a:solidFill>
              </a:rPr>
              <a:t> : bug dans le code ou le scenario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54D38B-40EE-C4FC-BB3E-A2F11C39C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AC24ED9-78BD-F033-AC2C-D4F008F2A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35</a:t>
            </a:fld>
            <a:endParaRPr lang="fr-F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200" b="1" noProof="0" dirty="0">
                <a:solidFill>
                  <a:srgbClr val="388E3C"/>
                </a:solidFill>
              </a:rPr>
              <a:t>[TOUS]  </a:t>
            </a:r>
            <a:r>
              <a:rPr lang="fr-FR" sz="3600" b="1" noProof="0" dirty="0">
                <a:solidFill>
                  <a:srgbClr val="333333"/>
                </a:solidFill>
              </a:rPr>
              <a:t>Contribuer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noProof="0" dirty="0">
                <a:solidFill>
                  <a:srgbClr val="666666"/>
                </a:solidFill>
              </a:rPr>
              <a:t>Bloc 11 - Workflow et bonnes pratiques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801BC3-B69D-9927-E1C0-DCC07493C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BE02BAC-598E-6D1D-B2D0-378AE35A5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36</a:t>
            </a:fld>
            <a:endParaRPr lang="fr-F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600" b="1" noProof="0" dirty="0">
                <a:solidFill>
                  <a:srgbClr val="333333"/>
                </a:solidFill>
              </a:rPr>
              <a:t>Cycle de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b="1" noProof="0" dirty="0">
                <a:solidFill>
                  <a:srgbClr val="333333"/>
                </a:solidFill>
              </a:rPr>
              <a:t>1. </a:t>
            </a:r>
            <a:r>
              <a:rPr lang="fr-FR" sz="2400" b="1" noProof="0" dirty="0" err="1">
                <a:solidFill>
                  <a:srgbClr val="333333"/>
                </a:solidFill>
              </a:rPr>
              <a:t>Accés</a:t>
            </a:r>
            <a:r>
              <a:rPr lang="fr-FR" sz="2400" b="1" noProof="0" dirty="0">
                <a:solidFill>
                  <a:srgbClr val="333333"/>
                </a:solidFill>
              </a:rPr>
              <a:t> </a:t>
            </a:r>
            <a:r>
              <a:rPr lang="fr-FR" sz="2400" b="1" noProof="0" dirty="0" err="1">
                <a:solidFill>
                  <a:srgbClr val="333333"/>
                </a:solidFill>
              </a:rPr>
              <a:t>Forgejo</a:t>
            </a:r>
            <a:r>
              <a:rPr lang="fr-FR" sz="2400" b="1" noProof="0" dirty="0">
                <a:solidFill>
                  <a:srgbClr val="333333"/>
                </a:solidFill>
              </a:rPr>
              <a:t> : demande d'invitation via le forum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https://</a:t>
            </a:r>
            <a:r>
              <a:rPr lang="fr-FR" sz="2000" b="0" noProof="0" dirty="0" err="1">
                <a:solidFill>
                  <a:srgbClr val="333333"/>
                </a:solidFill>
              </a:rPr>
              <a:t>forum.pdplibre.org</a:t>
            </a:r>
            <a:r>
              <a:rPr lang="fr-FR" sz="2000" b="0" noProof="0" dirty="0">
                <a:solidFill>
                  <a:srgbClr val="333333"/>
                </a:solidFill>
              </a:rPr>
              <a:t>/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2. Fork + clone du projet depuis </a:t>
            </a:r>
            <a:r>
              <a:rPr lang="fr-FR" sz="2400" b="1" noProof="0" dirty="0" err="1">
                <a:solidFill>
                  <a:srgbClr val="333333"/>
                </a:solidFill>
              </a:rPr>
              <a:t>Forgejo</a:t>
            </a:r>
            <a:endParaRPr lang="fr-FR" sz="2400" b="1" noProof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git clone https://</a:t>
            </a:r>
            <a:r>
              <a:rPr lang="fr-FR" sz="2000" b="0" noProof="0" dirty="0" err="1">
                <a:solidFill>
                  <a:srgbClr val="333333"/>
                </a:solidFill>
              </a:rPr>
              <a:t>git.pdplibre.org</a:t>
            </a:r>
            <a:r>
              <a:rPr lang="fr-FR" sz="2000" b="0" noProof="0" dirty="0">
                <a:solidFill>
                  <a:srgbClr val="333333"/>
                </a:solidFill>
              </a:rPr>
              <a:t>/</a:t>
            </a:r>
            <a:r>
              <a:rPr lang="fr-FR" sz="2000" b="0" noProof="0" dirty="0" err="1">
                <a:solidFill>
                  <a:srgbClr val="333333"/>
                </a:solidFill>
              </a:rPr>
              <a:t>Construction_PA</a:t>
            </a:r>
            <a:r>
              <a:rPr lang="fr-FR" sz="2000" b="0" noProof="0" dirty="0">
                <a:solidFill>
                  <a:srgbClr val="333333"/>
                </a:solidFill>
              </a:rPr>
              <a:t>/</a:t>
            </a:r>
            <a:r>
              <a:rPr lang="fr-FR" sz="2000" b="0" noProof="0" dirty="0" err="1">
                <a:solidFill>
                  <a:srgbClr val="333333"/>
                </a:solidFill>
              </a:rPr>
              <a:t>PA_Communautaire.git</a:t>
            </a:r>
            <a:endParaRPr lang="fr-FR" sz="2000" b="0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3. </a:t>
            </a:r>
            <a:r>
              <a:rPr lang="fr-FR" sz="2400" b="1" noProof="0" dirty="0" err="1">
                <a:solidFill>
                  <a:srgbClr val="333333"/>
                </a:solidFill>
              </a:rPr>
              <a:t>Creer</a:t>
            </a:r>
            <a:r>
              <a:rPr lang="fr-FR" sz="2400" b="1" noProof="0" dirty="0">
                <a:solidFill>
                  <a:srgbClr val="333333"/>
                </a:solidFill>
              </a:rPr>
              <a:t> une branche thématique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feature/ma-</a:t>
            </a:r>
            <a:r>
              <a:rPr lang="fr-FR" sz="2000" b="0" noProof="0" dirty="0" err="1">
                <a:solidFill>
                  <a:srgbClr val="333333"/>
                </a:solidFill>
              </a:rPr>
              <a:t>fonctionnalite</a:t>
            </a:r>
            <a:r>
              <a:rPr lang="fr-FR" sz="2000" b="0" noProof="0" dirty="0">
                <a:solidFill>
                  <a:srgbClr val="333333"/>
                </a:solidFill>
              </a:rPr>
              <a:t>, fix/mon-correctif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4. </a:t>
            </a:r>
            <a:r>
              <a:rPr lang="fr-FR" sz="2400" b="1" noProof="0" dirty="0" err="1">
                <a:solidFill>
                  <a:srgbClr val="333333"/>
                </a:solidFill>
              </a:rPr>
              <a:t>Verifier</a:t>
            </a:r>
            <a:r>
              <a:rPr lang="fr-FR" sz="2400" b="1" noProof="0" dirty="0">
                <a:solidFill>
                  <a:srgbClr val="333333"/>
                </a:solidFill>
              </a:rPr>
              <a:t> les tests avant de </a:t>
            </a:r>
            <a:r>
              <a:rPr lang="fr-FR" sz="2400" b="1" noProof="0" dirty="0" err="1">
                <a:solidFill>
                  <a:srgbClr val="333333"/>
                </a:solidFill>
              </a:rPr>
              <a:t>commiter</a:t>
            </a:r>
            <a:endParaRPr lang="fr-FR" sz="2400" b="1" noProof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cd packages/</a:t>
            </a:r>
            <a:r>
              <a:rPr lang="fr-FR" sz="2000" b="0" noProof="0" dirty="0" err="1">
                <a:solidFill>
                  <a:srgbClr val="333333"/>
                </a:solidFill>
              </a:rPr>
              <a:t>pac-bdd</a:t>
            </a:r>
            <a:r>
              <a:rPr lang="fr-FR" sz="2000" b="0" noProof="0" dirty="0">
                <a:solidFill>
                  <a:srgbClr val="333333"/>
                </a:solidFill>
              </a:rPr>
              <a:t> &amp;&amp; </a:t>
            </a:r>
            <a:r>
              <a:rPr lang="fr-FR" sz="2000" b="0" noProof="0" dirty="0" err="1">
                <a:solidFill>
                  <a:srgbClr val="333333"/>
                </a:solidFill>
              </a:rPr>
              <a:t>uv</a:t>
            </a:r>
            <a:r>
              <a:rPr lang="fr-FR" sz="2000" b="0" noProof="0" dirty="0">
                <a:solidFill>
                  <a:srgbClr val="333333"/>
                </a:solidFill>
              </a:rPr>
              <a:t> run </a:t>
            </a:r>
            <a:r>
              <a:rPr lang="fr-FR" sz="2000" b="0" noProof="0" dirty="0" err="1">
                <a:solidFill>
                  <a:srgbClr val="333333"/>
                </a:solidFill>
              </a:rPr>
              <a:t>pytest</a:t>
            </a:r>
            <a:r>
              <a:rPr lang="fr-FR" sz="2000" b="0" noProof="0" dirty="0">
                <a:solidFill>
                  <a:srgbClr val="333333"/>
                </a:solidFill>
              </a:rPr>
              <a:t> -v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5. Ouvrir une Pull </a:t>
            </a:r>
            <a:r>
              <a:rPr lang="fr-FR" sz="2400" b="1" noProof="0" dirty="0" err="1">
                <a:solidFill>
                  <a:srgbClr val="333333"/>
                </a:solidFill>
              </a:rPr>
              <a:t>Request</a:t>
            </a:r>
            <a:endParaRPr lang="fr-FR" sz="2400" b="1" noProof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Toujours en lien avec une Issue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 err="1">
                <a:solidFill>
                  <a:srgbClr val="333333"/>
                </a:solidFill>
              </a:rPr>
              <a:t>Prefixe</a:t>
            </a:r>
            <a:r>
              <a:rPr lang="fr-FR" sz="2000" b="0" noProof="0" dirty="0">
                <a:solidFill>
                  <a:srgbClr val="333333"/>
                </a:solidFill>
              </a:rPr>
              <a:t> WIP tant que le travail est en cours</a:t>
            </a: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6. Licence GPL-3.0-or-later, headers SPDX obligatoires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35C50C-C8A9-C6BB-B6F7-638C0602A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703EF93-AEAC-39A6-B350-F5DB850D8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37</a:t>
            </a:fld>
            <a:endParaRPr lang="fr-F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200" b="1" noProof="0" dirty="0">
                <a:solidFill>
                  <a:srgbClr val="F57C00"/>
                </a:solidFill>
              </a:rPr>
              <a:t>[METIER]  </a:t>
            </a:r>
            <a:r>
              <a:rPr lang="fr-FR" sz="3600" b="1" noProof="0" dirty="0">
                <a:solidFill>
                  <a:srgbClr val="333333"/>
                </a:solidFill>
              </a:rPr>
              <a:t>Focus par brique : </a:t>
            </a:r>
            <a:r>
              <a:rPr lang="fr-FR" sz="3600" dirty="0">
                <a:solidFill>
                  <a:srgbClr val="333333"/>
                </a:solidFill>
              </a:rPr>
              <a:t>é</a:t>
            </a:r>
            <a:r>
              <a:rPr lang="fr-FR" sz="3600" b="1" noProof="0" dirty="0" err="1">
                <a:solidFill>
                  <a:srgbClr val="333333"/>
                </a:solidFill>
              </a:rPr>
              <a:t>crire</a:t>
            </a:r>
            <a:r>
              <a:rPr lang="fr-FR" sz="3600" b="1" noProof="0" dirty="0">
                <a:solidFill>
                  <a:srgbClr val="333333"/>
                </a:solidFill>
              </a:rPr>
              <a:t> les tests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noProof="0" dirty="0">
                <a:solidFill>
                  <a:srgbClr val="666666"/>
                </a:solidFill>
              </a:rPr>
              <a:t>Bloc 12 - Couvrir le </a:t>
            </a:r>
            <a:r>
              <a:rPr lang="fr-FR" sz="1800" noProof="0" dirty="0" err="1">
                <a:solidFill>
                  <a:srgbClr val="666666"/>
                </a:solidFill>
              </a:rPr>
              <a:t>périmetre</a:t>
            </a:r>
            <a:r>
              <a:rPr lang="fr-FR" sz="1800" noProof="0" dirty="0">
                <a:solidFill>
                  <a:srgbClr val="666666"/>
                </a:solidFill>
              </a:rPr>
              <a:t> fonctionnel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882A23-4FD6-8A3D-3137-C130B944D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54DA45-A28E-FD3A-D83E-62516EB81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38</a:t>
            </a:fld>
            <a:endParaRPr lang="fr-F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600" b="1" noProof="0" dirty="0">
                <a:solidFill>
                  <a:srgbClr val="F57C00"/>
                </a:solidFill>
              </a:rPr>
              <a:t>[METIER]  </a:t>
            </a:r>
            <a:r>
              <a:rPr lang="fr-FR" sz="2600" b="1" noProof="0" dirty="0">
                <a:solidFill>
                  <a:srgbClr val="333333"/>
                </a:solidFill>
              </a:rPr>
              <a:t>Couverture actuelle (février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FR" sz="2400" b="1" noProof="0" dirty="0">
                <a:solidFill>
                  <a:srgbClr val="333333"/>
                </a:solidFill>
              </a:rPr>
              <a:t>Briques avec .feature existants mais incomplet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01-API Gateway : </a:t>
            </a:r>
            <a:r>
              <a:rPr lang="fr-FR" sz="2000" b="0" noProof="0" dirty="0" err="1">
                <a:solidFill>
                  <a:srgbClr val="333333"/>
                </a:solidFill>
              </a:rPr>
              <a:t>healthcheck</a:t>
            </a:r>
            <a:r>
              <a:rPr lang="fr-FR" sz="2000" b="0" noProof="0" dirty="0">
                <a:solidFill>
                  <a:srgbClr val="333333"/>
                </a:solidFill>
              </a:rPr>
              <a:t>, service, sha256, </a:t>
            </a:r>
            <a:r>
              <a:rPr lang="fr-FR" sz="2000" b="0" noProof="0" dirty="0" err="1">
                <a:solidFill>
                  <a:srgbClr val="333333"/>
                </a:solidFill>
              </a:rPr>
              <a:t>trackingId</a:t>
            </a:r>
            <a:endParaRPr lang="fr-FR" sz="2000" b="0" noProof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02-ESB Central : </a:t>
            </a:r>
            <a:r>
              <a:rPr lang="fr-FR" sz="2000" b="0" noProof="0" dirty="0" err="1">
                <a:solidFill>
                  <a:srgbClr val="333333"/>
                </a:solidFill>
              </a:rPr>
              <a:t>healthcheck</a:t>
            </a:r>
            <a:r>
              <a:rPr lang="fr-FR" sz="2000" b="0" noProof="0" dirty="0">
                <a:solidFill>
                  <a:srgbClr val="333333"/>
                </a:solidFill>
              </a:rPr>
              <a:t>, </a:t>
            </a:r>
            <a:r>
              <a:rPr lang="fr-FR" sz="2000" b="0" noProof="0" dirty="0" err="1">
                <a:solidFill>
                  <a:srgbClr val="333333"/>
                </a:solidFill>
              </a:rPr>
              <a:t>esb</a:t>
            </a:r>
            <a:r>
              <a:rPr lang="fr-FR" sz="2000" b="0" noProof="0" dirty="0">
                <a:solidFill>
                  <a:srgbClr val="333333"/>
                </a:solidFill>
              </a:rPr>
              <a:t>, service, </a:t>
            </a:r>
            <a:r>
              <a:rPr lang="fr-FR" sz="2000" b="0" noProof="0" dirty="0" err="1">
                <a:solidFill>
                  <a:srgbClr val="333333"/>
                </a:solidFill>
              </a:rPr>
              <a:t>lifecycle</a:t>
            </a:r>
            <a:r>
              <a:rPr lang="fr-FR" sz="2000" b="0" noProof="0" dirty="0">
                <a:solidFill>
                  <a:srgbClr val="333333"/>
                </a:solidFill>
              </a:rPr>
              <a:t>, world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03-Controle Formats : format, service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04-Validation </a:t>
            </a:r>
            <a:r>
              <a:rPr lang="fr-FR" sz="2000" b="0" noProof="0" dirty="0" err="1">
                <a:solidFill>
                  <a:srgbClr val="333333"/>
                </a:solidFill>
              </a:rPr>
              <a:t>Metier</a:t>
            </a:r>
            <a:r>
              <a:rPr lang="fr-FR" sz="2000" b="0" noProof="0" dirty="0">
                <a:solidFill>
                  <a:srgbClr val="333333"/>
                </a:solidFill>
              </a:rPr>
              <a:t> : compliance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07-Routage : </a:t>
            </a:r>
            <a:r>
              <a:rPr lang="fr-FR" sz="2000" b="0" noProof="0" dirty="0" err="1">
                <a:solidFill>
                  <a:srgbClr val="333333"/>
                </a:solidFill>
              </a:rPr>
              <a:t>peppol</a:t>
            </a:r>
            <a:r>
              <a:rPr lang="fr-FR" sz="2000" b="0" noProof="0" dirty="0">
                <a:solidFill>
                  <a:srgbClr val="333333"/>
                </a:solidFill>
              </a:rPr>
              <a:t>, </a:t>
            </a:r>
            <a:r>
              <a:rPr lang="fr-FR" sz="2000" b="0" noProof="0" dirty="0" err="1">
                <a:solidFill>
                  <a:srgbClr val="333333"/>
                </a:solidFill>
              </a:rPr>
              <a:t>pa_multiple</a:t>
            </a:r>
            <a:r>
              <a:rPr lang="fr-FR" sz="2000" b="0" noProof="0" dirty="0">
                <a:solidFill>
                  <a:srgbClr val="333333"/>
                </a:solidFill>
              </a:rPr>
              <a:t>, </a:t>
            </a:r>
            <a:r>
              <a:rPr lang="fr-FR" sz="2000" b="0" noProof="0" dirty="0" err="1">
                <a:solidFill>
                  <a:srgbClr val="333333"/>
                </a:solidFill>
              </a:rPr>
              <a:t>peppol_live</a:t>
            </a:r>
            <a:endParaRPr lang="fr-FR" sz="2000" b="0" noProof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09-Gestion Cycle Vie : facture, workflow, </a:t>
            </a:r>
            <a:r>
              <a:rPr lang="fr-FR" sz="2000" b="0" noProof="0" dirty="0" err="1">
                <a:solidFill>
                  <a:srgbClr val="333333"/>
                </a:solidFill>
              </a:rPr>
              <a:t>demo</a:t>
            </a:r>
            <a:endParaRPr lang="fr-FR" sz="2000" b="0" noProof="0" dirty="0">
              <a:solidFill>
                <a:srgbClr val="333333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FR" sz="2400" b="1" noProof="0" dirty="0">
                <a:solidFill>
                  <a:srgbClr val="333333"/>
                </a:solidFill>
              </a:rPr>
              <a:t>Briques a couvrir (prioritaires)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05-Conversion Formats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06-Annuaire Local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08-Transmission Fiscale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10-Stockage</a:t>
            </a:r>
          </a:p>
          <a:p>
            <a:pPr>
              <a:spcBef>
                <a:spcPts val="400"/>
              </a:spcBef>
            </a:pPr>
            <a:endParaRPr lang="fr-FR" sz="2000" b="0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fr-FR" sz="2400" b="1" noProof="0" dirty="0">
                <a:solidFill>
                  <a:srgbClr val="333333"/>
                </a:solidFill>
              </a:rPr>
              <a:t>Méthode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1. Lire le README de la brique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2. Identifier la section de norme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3. Lister les comportements attendus</a:t>
            </a:r>
          </a:p>
          <a:p>
            <a:pPr lvl="1">
              <a:spcBef>
                <a:spcPts val="400"/>
              </a:spcBef>
            </a:pPr>
            <a:r>
              <a:rPr lang="fr-FR" sz="2000" b="0" noProof="0" dirty="0">
                <a:solidFill>
                  <a:srgbClr val="333333"/>
                </a:solidFill>
              </a:rPr>
              <a:t>4. </a:t>
            </a:r>
            <a:r>
              <a:rPr lang="fr-FR" sz="2000" b="0" noProof="0" dirty="0" err="1">
                <a:solidFill>
                  <a:srgbClr val="333333"/>
                </a:solidFill>
              </a:rPr>
              <a:t>Rediger</a:t>
            </a:r>
            <a:r>
              <a:rPr lang="fr-FR" sz="2000" b="0" noProof="0" dirty="0">
                <a:solidFill>
                  <a:srgbClr val="333333"/>
                </a:solidFill>
              </a:rPr>
              <a:t> les scenarios .feature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3A790A-ED6F-F16A-8EC0-F807AA2BB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2A9C3D-7B10-6A8A-DC1B-1C08955E7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39</a:t>
            </a:fld>
            <a:endParaRPr lang="fr-F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noProof="0" dirty="0" err="1">
                <a:solidFill>
                  <a:srgbClr val="333333"/>
                </a:solidFill>
              </a:rPr>
              <a:t>Synthese</a:t>
            </a:r>
            <a:endParaRPr lang="fr-FR" sz="3600" b="1" noProof="0" dirty="0">
              <a:solidFill>
                <a:srgbClr val="333333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noProof="0" dirty="0" err="1">
                <a:solidFill>
                  <a:srgbClr val="666666"/>
                </a:solidFill>
              </a:rPr>
              <a:t>Recap</a:t>
            </a:r>
            <a:r>
              <a:rPr lang="fr-FR" sz="1800" noProof="0" dirty="0">
                <a:solidFill>
                  <a:srgbClr val="666666"/>
                </a:solidFill>
              </a:rPr>
              <a:t> des parcours et ressources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BD3CAD-2FEC-0399-67F7-FA54D14CB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E2FF68E-39E9-1C3F-D957-10545463A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40</a:t>
            </a:fld>
            <a:endParaRPr lang="fr-F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noProof="0" dirty="0" err="1">
                <a:solidFill>
                  <a:srgbClr val="333333"/>
                </a:solidFill>
              </a:rPr>
              <a:t>Recapitulatif</a:t>
            </a:r>
            <a:r>
              <a:rPr lang="fr-FR" sz="2800" b="1" noProof="0" dirty="0">
                <a:solidFill>
                  <a:srgbClr val="333333"/>
                </a:solidFill>
              </a:rPr>
              <a:t> des parcours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200697"/>
              </p:ext>
            </p:extLst>
          </p:nvPr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fr-FR" sz="1200" b="1" noProof="0" dirty="0">
                          <a:solidFill>
                            <a:srgbClr val="FFFFFF"/>
                          </a:solidFill>
                        </a:rPr>
                        <a:t>Bloc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noProof="0" dirty="0">
                          <a:solidFill>
                            <a:srgbClr val="FFFFFF"/>
                          </a:solidFill>
                        </a:rPr>
                        <a:t>DEV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noProof="0" dirty="0">
                          <a:solidFill>
                            <a:srgbClr val="FFFFFF"/>
                          </a:solidFill>
                        </a:rPr>
                        <a:t>METIER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noProof="0" dirty="0" err="1">
                          <a:solidFill>
                            <a:srgbClr val="FFFFFF"/>
                          </a:solidFill>
                        </a:rPr>
                        <a:t>Theme</a:t>
                      </a:r>
                      <a:endParaRPr lang="fr-FR" sz="1200" b="1" noProof="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44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100" noProof="0" dirty="0">
                          <a:solidFill>
                            <a:srgbClr val="333333"/>
                          </a:solidFill>
                        </a:rPr>
                        <a:t>1 - Contexte et 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noProof="0" dirty="0">
                          <a:solidFill>
                            <a:srgbClr val="1976D2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noProof="0" dirty="0">
                          <a:solidFill>
                            <a:srgbClr val="F57C0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noProof="0" dirty="0">
                          <a:solidFill>
                            <a:srgbClr val="333333"/>
                          </a:solidFill>
                        </a:rPr>
                        <a:t>Pourquoi ce projet existe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100" noProof="0" dirty="0">
                          <a:solidFill>
                            <a:srgbClr val="333333"/>
                          </a:solidFill>
                        </a:rPr>
                        <a:t>2 - Architecture 10 briques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noProof="0" dirty="0">
                          <a:solidFill>
                            <a:srgbClr val="1976D2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noProof="0" dirty="0">
                          <a:solidFill>
                            <a:srgbClr val="F57C0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noProof="0" dirty="0">
                          <a:solidFill>
                            <a:srgbClr val="333333"/>
                          </a:solidFill>
                        </a:rPr>
                        <a:t>Organisation du système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100" noProof="0" dirty="0">
                          <a:solidFill>
                            <a:srgbClr val="333333"/>
                          </a:solidFill>
                        </a:rPr>
                        <a:t>3 - Normes de référence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noProof="0" dirty="0">
                          <a:solidFill>
                            <a:srgbClr val="1976D2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noProof="0" dirty="0">
                          <a:solidFill>
                            <a:srgbClr val="F57C0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noProof="0" dirty="0">
                          <a:solidFill>
                            <a:srgbClr val="333333"/>
                          </a:solidFill>
                        </a:rPr>
                        <a:t>Sur quoi on s'appuie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100" noProof="0" dirty="0">
                          <a:solidFill>
                            <a:srgbClr val="333333"/>
                          </a:solidFill>
                        </a:rPr>
                        <a:t>4 - Organisation du dépôt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noProof="0" dirty="0">
                          <a:solidFill>
                            <a:srgbClr val="1976D2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noProof="0" dirty="0">
                          <a:solidFill>
                            <a:srgbClr val="F57C0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noProof="0" dirty="0">
                          <a:solidFill>
                            <a:srgbClr val="333333"/>
                          </a:solidFill>
                        </a:rPr>
                        <a:t>Ou trouver quoi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100" noProof="0" dirty="0">
                          <a:solidFill>
                            <a:srgbClr val="333333"/>
                          </a:solidFill>
                        </a:rPr>
                        <a:t>5 - Stratégie BDD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noProof="0" dirty="0">
                          <a:solidFill>
                            <a:srgbClr val="1976D2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noProof="0" dirty="0">
                          <a:solidFill>
                            <a:srgbClr val="F57C0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noProof="0" dirty="0">
                          <a:solidFill>
                            <a:srgbClr val="333333"/>
                          </a:solidFill>
                        </a:rPr>
                        <a:t>Comment on teste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100" noProof="0" dirty="0">
                          <a:solidFill>
                            <a:srgbClr val="333333"/>
                          </a:solidFill>
                        </a:rPr>
                        <a:t>6 - Rédiger un scenario BDD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noProof="0"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noProof="0" dirty="0">
                          <a:solidFill>
                            <a:srgbClr val="F57C0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noProof="0" dirty="0">
                          <a:solidFill>
                            <a:srgbClr val="333333"/>
                          </a:solidFill>
                        </a:rPr>
                        <a:t>Ecrire un .feature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100" noProof="0" dirty="0">
                          <a:solidFill>
                            <a:srgbClr val="333333"/>
                          </a:solidFill>
                        </a:rPr>
                        <a:t>7 - Installation environnement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noProof="0" dirty="0">
                          <a:solidFill>
                            <a:srgbClr val="1976D2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noProof="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noProof="0" dirty="0">
                          <a:solidFill>
                            <a:srgbClr val="333333"/>
                          </a:solidFill>
                        </a:rPr>
                        <a:t>Mettre en place son poste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100" noProof="0" dirty="0">
                          <a:solidFill>
                            <a:srgbClr val="333333"/>
                          </a:solidFill>
                        </a:rPr>
                        <a:t>8 - Le code : packages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noProof="0" dirty="0">
                          <a:solidFill>
                            <a:srgbClr val="1976D2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noProof="0"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noProof="0" dirty="0">
                          <a:solidFill>
                            <a:srgbClr val="333333"/>
                          </a:solidFill>
                        </a:rPr>
                        <a:t>Comprendre l'implémentation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100" noProof="0" dirty="0">
                          <a:solidFill>
                            <a:srgbClr val="333333"/>
                          </a:solidFill>
                        </a:rPr>
                        <a:t>9 - Implémenter un test BDD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noProof="0" dirty="0">
                          <a:solidFill>
                            <a:srgbClr val="1976D2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noProof="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noProof="0" dirty="0">
                          <a:solidFill>
                            <a:srgbClr val="333333"/>
                          </a:solidFill>
                        </a:rPr>
                        <a:t>Coder les </a:t>
                      </a:r>
                      <a:r>
                        <a:rPr lang="fr-FR" sz="1100" noProof="0" dirty="0" err="1">
                          <a:solidFill>
                            <a:srgbClr val="333333"/>
                          </a:solidFill>
                        </a:rPr>
                        <a:t>steps</a:t>
                      </a:r>
                      <a:endParaRPr lang="fr-FR" sz="1100" noProof="0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100" noProof="0" dirty="0">
                          <a:solidFill>
                            <a:srgbClr val="333333"/>
                          </a:solidFill>
                        </a:rPr>
                        <a:t>10 - Rapports de tests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noProof="0" dirty="0">
                          <a:solidFill>
                            <a:srgbClr val="1976D2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noProof="0" dirty="0">
                          <a:solidFill>
                            <a:srgbClr val="F57C0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noProof="0" dirty="0">
                          <a:solidFill>
                            <a:srgbClr val="333333"/>
                          </a:solidFill>
                        </a:rPr>
                        <a:t>Vérifier que ca marche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100" noProof="0" dirty="0">
                          <a:solidFill>
                            <a:srgbClr val="333333"/>
                          </a:solidFill>
                        </a:rPr>
                        <a:t>11 - Contribuer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noProof="0" dirty="0">
                          <a:solidFill>
                            <a:srgbClr val="1976D2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noProof="0" dirty="0">
                          <a:solidFill>
                            <a:srgbClr val="F57C0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noProof="0" dirty="0">
                          <a:solidFill>
                            <a:srgbClr val="333333"/>
                          </a:solidFill>
                        </a:rPr>
                        <a:t>Pousser ses changements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100" noProof="0" dirty="0">
                          <a:solidFill>
                            <a:srgbClr val="333333"/>
                          </a:solidFill>
                        </a:rPr>
                        <a:t>12 - Focus par brique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noProof="0"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noProof="0" dirty="0">
                          <a:solidFill>
                            <a:srgbClr val="F57C0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noProof="0" dirty="0">
                          <a:solidFill>
                            <a:srgbClr val="333333"/>
                          </a:solidFill>
                        </a:rPr>
                        <a:t>Couvrir le </a:t>
                      </a:r>
                      <a:r>
                        <a:rPr lang="fr-FR" sz="1100" noProof="0" dirty="0" err="1">
                          <a:solidFill>
                            <a:srgbClr val="333333"/>
                          </a:solidFill>
                        </a:rPr>
                        <a:t>perimètre</a:t>
                      </a:r>
                      <a:endParaRPr lang="fr-FR" sz="1100" noProof="0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4DFBDB-536F-AE2C-6971-9DF74F97E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C2EB189-456B-8021-1602-00374F57D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41</a:t>
            </a:fld>
            <a:endParaRPr lang="fr-F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600" b="1" noProof="0" dirty="0">
                <a:solidFill>
                  <a:srgbClr val="333333"/>
                </a:solidFill>
              </a:rPr>
              <a:t>Ressources et contacts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1500" b="1" noProof="0" dirty="0">
                <a:solidFill>
                  <a:srgbClr val="333333"/>
                </a:solidFill>
              </a:rPr>
              <a:t>Documentation</a:t>
            </a:r>
          </a:p>
          <a:p>
            <a:pPr lvl="1">
              <a:spcBef>
                <a:spcPts val="400"/>
              </a:spcBef>
            </a:pPr>
            <a:r>
              <a:rPr lang="fr-FR" sz="1300" b="0" noProof="0" dirty="0">
                <a:solidFill>
                  <a:srgbClr val="333333"/>
                </a:solidFill>
              </a:rPr>
              <a:t>docs/</a:t>
            </a:r>
            <a:r>
              <a:rPr lang="fr-FR" sz="1300" b="0" noProof="0" dirty="0" err="1">
                <a:solidFill>
                  <a:srgbClr val="333333"/>
                </a:solidFill>
              </a:rPr>
              <a:t>developpement</a:t>
            </a:r>
            <a:r>
              <a:rPr lang="fr-FR" sz="1300" b="0" noProof="0" dirty="0">
                <a:solidFill>
                  <a:srgbClr val="333333"/>
                </a:solidFill>
              </a:rPr>
              <a:t>/</a:t>
            </a:r>
            <a:r>
              <a:rPr lang="fr-FR" sz="1300" b="0" noProof="0" dirty="0" err="1">
                <a:solidFill>
                  <a:srgbClr val="333333"/>
                </a:solidFill>
              </a:rPr>
              <a:t>Architecture.md</a:t>
            </a:r>
            <a:r>
              <a:rPr lang="fr-FR" sz="1300" b="0" noProof="0" dirty="0">
                <a:solidFill>
                  <a:srgbClr val="333333"/>
                </a:solidFill>
              </a:rPr>
              <a:t> - Architecture technique</a:t>
            </a:r>
          </a:p>
          <a:p>
            <a:pPr lvl="1">
              <a:spcBef>
                <a:spcPts val="400"/>
              </a:spcBef>
            </a:pPr>
            <a:r>
              <a:rPr lang="fr-FR" sz="1300" b="0" noProof="0" dirty="0">
                <a:solidFill>
                  <a:srgbClr val="333333"/>
                </a:solidFill>
              </a:rPr>
              <a:t>docs/</a:t>
            </a:r>
            <a:r>
              <a:rPr lang="fr-FR" sz="1300" b="0" noProof="0" dirty="0" err="1">
                <a:solidFill>
                  <a:srgbClr val="333333"/>
                </a:solidFill>
              </a:rPr>
              <a:t>developpement</a:t>
            </a:r>
            <a:r>
              <a:rPr lang="fr-FR" sz="1300" b="0" noProof="0" dirty="0">
                <a:solidFill>
                  <a:srgbClr val="333333"/>
                </a:solidFill>
              </a:rPr>
              <a:t>/</a:t>
            </a:r>
            <a:r>
              <a:rPr lang="fr-FR" sz="1300" b="0" noProof="0" dirty="0" err="1">
                <a:solidFill>
                  <a:srgbClr val="333333"/>
                </a:solidFill>
              </a:rPr>
              <a:t>Contribuer.md</a:t>
            </a:r>
            <a:r>
              <a:rPr lang="fr-FR" sz="1300" b="0" noProof="0" dirty="0">
                <a:solidFill>
                  <a:srgbClr val="333333"/>
                </a:solidFill>
              </a:rPr>
              <a:t> - Guide de contribution</a:t>
            </a:r>
          </a:p>
          <a:p>
            <a:pPr lvl="1">
              <a:spcBef>
                <a:spcPts val="400"/>
              </a:spcBef>
            </a:pPr>
            <a:r>
              <a:rPr lang="fr-FR" sz="1300" b="0" noProof="0" dirty="0">
                <a:solidFill>
                  <a:srgbClr val="333333"/>
                </a:solidFill>
              </a:rPr>
              <a:t>docs/</a:t>
            </a:r>
            <a:r>
              <a:rPr lang="fr-FR" sz="1300" b="0" noProof="0" dirty="0" err="1">
                <a:solidFill>
                  <a:srgbClr val="333333"/>
                </a:solidFill>
              </a:rPr>
              <a:t>developpement</a:t>
            </a:r>
            <a:r>
              <a:rPr lang="fr-FR" sz="1300" b="0" noProof="0" dirty="0">
                <a:solidFill>
                  <a:srgbClr val="333333"/>
                </a:solidFill>
              </a:rPr>
              <a:t>/</a:t>
            </a:r>
            <a:r>
              <a:rPr lang="fr-FR" sz="1300" b="0" noProof="0" dirty="0" err="1">
                <a:solidFill>
                  <a:srgbClr val="333333"/>
                </a:solidFill>
              </a:rPr>
              <a:t>BDD_Guide_Expert_Metier.md</a:t>
            </a:r>
            <a:r>
              <a:rPr lang="fr-FR" sz="1300" b="0" noProof="0" dirty="0">
                <a:solidFill>
                  <a:srgbClr val="333333"/>
                </a:solidFill>
              </a:rPr>
              <a:t> - Guide BDD </a:t>
            </a:r>
            <a:r>
              <a:rPr lang="fr-FR" sz="1300" b="0" noProof="0" dirty="0" err="1">
                <a:solidFill>
                  <a:srgbClr val="333333"/>
                </a:solidFill>
              </a:rPr>
              <a:t>metier</a:t>
            </a:r>
            <a:endParaRPr lang="fr-FR" sz="1300" b="0" noProof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lang="fr-FR" sz="1300" b="0" noProof="0" dirty="0">
                <a:solidFill>
                  <a:srgbClr val="333333"/>
                </a:solidFill>
              </a:rPr>
              <a:t>docs/</a:t>
            </a:r>
            <a:r>
              <a:rPr lang="fr-FR" sz="1300" b="0" noProof="0" dirty="0" err="1">
                <a:solidFill>
                  <a:srgbClr val="333333"/>
                </a:solidFill>
              </a:rPr>
              <a:t>developpement</a:t>
            </a:r>
            <a:r>
              <a:rPr lang="fr-FR" sz="1300" b="0" noProof="0" dirty="0">
                <a:solidFill>
                  <a:srgbClr val="333333"/>
                </a:solidFill>
              </a:rPr>
              <a:t>/</a:t>
            </a:r>
            <a:r>
              <a:rPr lang="fr-FR" sz="1300" b="0" noProof="0" dirty="0" err="1">
                <a:solidFill>
                  <a:srgbClr val="333333"/>
                </a:solidFill>
              </a:rPr>
              <a:t>BDD_Guide_Developpeur.md</a:t>
            </a:r>
            <a:r>
              <a:rPr lang="fr-FR" sz="1300" b="0" noProof="0" dirty="0">
                <a:solidFill>
                  <a:srgbClr val="333333"/>
                </a:solidFill>
              </a:rPr>
              <a:t> - Guide BDD dev</a:t>
            </a:r>
          </a:p>
          <a:p>
            <a:pPr lvl="1">
              <a:spcBef>
                <a:spcPts val="400"/>
              </a:spcBef>
            </a:pPr>
            <a:r>
              <a:rPr lang="fr-FR" sz="1300" b="0" noProof="0" dirty="0">
                <a:solidFill>
                  <a:srgbClr val="333333"/>
                </a:solidFill>
              </a:rPr>
              <a:t>docs/norme/</a:t>
            </a:r>
            <a:r>
              <a:rPr lang="fr-FR" sz="1300" b="0" noProof="0" dirty="0" err="1">
                <a:solidFill>
                  <a:srgbClr val="333333"/>
                </a:solidFill>
              </a:rPr>
              <a:t>index.md</a:t>
            </a:r>
            <a:r>
              <a:rPr lang="fr-FR" sz="1300" b="0" noProof="0" dirty="0">
                <a:solidFill>
                  <a:srgbClr val="333333"/>
                </a:solidFill>
              </a:rPr>
              <a:t> - Normes de </a:t>
            </a:r>
            <a:r>
              <a:rPr lang="fr-FR" sz="1300" b="0" noProof="0" dirty="0" err="1">
                <a:solidFill>
                  <a:srgbClr val="333333"/>
                </a:solidFill>
              </a:rPr>
              <a:t>reference</a:t>
            </a:r>
            <a:endParaRPr lang="fr-FR" sz="1300" b="0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lang="fr-FR" sz="1300" b="0" noProof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fr-FR" sz="1500" b="1" noProof="0" dirty="0">
                <a:solidFill>
                  <a:srgbClr val="333333"/>
                </a:solidFill>
              </a:rPr>
              <a:t>Communauté</a:t>
            </a:r>
          </a:p>
          <a:p>
            <a:pPr lvl="1">
              <a:spcBef>
                <a:spcPts val="400"/>
              </a:spcBef>
            </a:pPr>
            <a:r>
              <a:rPr lang="fr-FR" sz="1300" b="0" noProof="0" dirty="0">
                <a:solidFill>
                  <a:srgbClr val="333333"/>
                </a:solidFill>
              </a:rPr>
              <a:t>Forum : https://</a:t>
            </a:r>
            <a:r>
              <a:rPr lang="fr-FR" sz="1300" b="0" noProof="0" dirty="0" err="1">
                <a:solidFill>
                  <a:srgbClr val="333333"/>
                </a:solidFill>
              </a:rPr>
              <a:t>forum.pdplibre.org</a:t>
            </a:r>
            <a:r>
              <a:rPr lang="fr-FR" sz="1300" b="0" noProof="0" dirty="0">
                <a:solidFill>
                  <a:srgbClr val="333333"/>
                </a:solidFill>
              </a:rPr>
              <a:t>/</a:t>
            </a:r>
          </a:p>
          <a:p>
            <a:pPr lvl="1">
              <a:spcBef>
                <a:spcPts val="400"/>
              </a:spcBef>
            </a:pPr>
            <a:r>
              <a:rPr lang="fr-FR" sz="1300" b="0" noProof="0" dirty="0" err="1">
                <a:solidFill>
                  <a:srgbClr val="333333"/>
                </a:solidFill>
              </a:rPr>
              <a:t>Forgejo</a:t>
            </a:r>
            <a:r>
              <a:rPr lang="fr-FR" sz="1300" b="0" noProof="0" dirty="0">
                <a:solidFill>
                  <a:srgbClr val="333333"/>
                </a:solidFill>
              </a:rPr>
              <a:t> : https://</a:t>
            </a:r>
            <a:r>
              <a:rPr lang="fr-FR" sz="1300" b="0" noProof="0" dirty="0" err="1">
                <a:solidFill>
                  <a:srgbClr val="333333"/>
                </a:solidFill>
              </a:rPr>
              <a:t>git.pdplibre.org</a:t>
            </a:r>
            <a:r>
              <a:rPr lang="fr-FR" sz="1300" b="0" noProof="0" dirty="0">
                <a:solidFill>
                  <a:srgbClr val="333333"/>
                </a:solidFill>
              </a:rPr>
              <a:t>/</a:t>
            </a:r>
            <a:r>
              <a:rPr lang="fr-FR" sz="1300" b="0" noProof="0" dirty="0" err="1">
                <a:solidFill>
                  <a:srgbClr val="333333"/>
                </a:solidFill>
              </a:rPr>
              <a:t>Construction_PA</a:t>
            </a:r>
            <a:r>
              <a:rPr lang="fr-FR" sz="1300" b="0" noProof="0" dirty="0">
                <a:solidFill>
                  <a:srgbClr val="333333"/>
                </a:solidFill>
              </a:rPr>
              <a:t>/</a:t>
            </a:r>
            <a:r>
              <a:rPr lang="fr-FR" sz="1300" b="0" noProof="0" dirty="0" err="1">
                <a:solidFill>
                  <a:srgbClr val="333333"/>
                </a:solidFill>
              </a:rPr>
              <a:t>PA_Communautaire</a:t>
            </a:r>
            <a:endParaRPr lang="fr-FR" sz="1300" b="0" noProof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lang="fr-FR" sz="1300" b="0" noProof="0" dirty="0">
                <a:solidFill>
                  <a:srgbClr val="333333"/>
                </a:solidFill>
              </a:rPr>
              <a:t>GitHub : https://</a:t>
            </a:r>
            <a:r>
              <a:rPr lang="fr-FR" sz="1300" b="0" noProof="0" dirty="0" err="1">
                <a:solidFill>
                  <a:srgbClr val="333333"/>
                </a:solidFill>
              </a:rPr>
              <a:t>github.com</a:t>
            </a:r>
            <a:r>
              <a:rPr lang="fr-FR" sz="1300" b="0" noProof="0" dirty="0">
                <a:solidFill>
                  <a:srgbClr val="333333"/>
                </a:solidFill>
              </a:rPr>
              <a:t>/PDP-Libre/</a:t>
            </a:r>
            <a:r>
              <a:rPr lang="fr-FR" sz="1300" b="0" noProof="0" dirty="0" err="1">
                <a:solidFill>
                  <a:srgbClr val="333333"/>
                </a:solidFill>
              </a:rPr>
              <a:t>PA_Communautaire</a:t>
            </a:r>
            <a:endParaRPr lang="fr-FR" sz="1300" b="0" noProof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lang="fr-FR" sz="1300" b="0" noProof="0" dirty="0">
                <a:solidFill>
                  <a:srgbClr val="333333"/>
                </a:solidFill>
              </a:rPr>
              <a:t>Visio bimensuelle : C</a:t>
            </a:r>
            <a:r>
              <a:rPr lang="fr-FR" sz="1300" b="0" noProof="0" dirty="0">
                <a:solidFill>
                  <a:srgbClr val="333333"/>
                </a:solidFill>
                <a:hlinkClick r:id="rId2"/>
              </a:rPr>
              <a:t>’est par ici </a:t>
            </a:r>
            <a:endParaRPr lang="fr-FR" sz="1300" b="0" noProof="0" dirty="0">
              <a:solidFill>
                <a:srgbClr val="333333"/>
              </a:solidFill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4E49F2-F554-D519-F92D-C31E67FBD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B6BDEA8-4640-98A5-6141-9E76DA81D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42</a:t>
            </a:fld>
            <a:endParaRPr lang="fr-F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5CD5E1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19200"/>
            <a:ext cx="1219200" cy="1219200"/>
          </a:xfrm>
          <a:prstGeom prst="rect">
            <a:avLst/>
          </a:prstGeom>
          <a:solidFill>
            <a:srgbClr val="39799A"/>
          </a:solidFill>
        </p:spPr>
      </p:pic>
      <p:sp>
        <p:nvSpPr>
          <p:cNvPr id="4" name="Text 1"/>
          <p:cNvSpPr/>
          <p:nvPr/>
        </p:nvSpPr>
        <p:spPr>
          <a:xfrm>
            <a:off x="609600" y="25603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5333" b="1" noProof="0" dirty="0">
                <a:solidFill>
                  <a:srgbClr val="4848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</a:t>
            </a:r>
            <a:endParaRPr lang="fr-FR" sz="5333" noProof="0" dirty="0">
              <a:solidFill>
                <a:srgbClr val="484848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4267200" y="4693920"/>
            <a:ext cx="365760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4"/>
          <p:cNvSpPr/>
          <p:nvPr/>
        </p:nvSpPr>
        <p:spPr>
          <a:xfrm>
            <a:off x="1219200" y="4998720"/>
            <a:ext cx="97536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fr-FR" sz="1867" noProof="0" dirty="0" err="1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pdplibre.org</a:t>
            </a:r>
            <a:endParaRPr lang="fr-FR" sz="1867" noProof="0" dirty="0">
              <a:solidFill>
                <a:srgbClr val="484848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fr-FR" sz="1867" noProof="0" dirty="0" err="1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contact@pdplibre.org</a:t>
            </a:r>
            <a:endParaRPr lang="fr-FR" sz="1867" noProof="0" dirty="0">
              <a:solidFill>
                <a:srgbClr val="484848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0" y="6339840"/>
            <a:ext cx="12192000" cy="518160"/>
          </a:xfrm>
          <a:prstGeom prst="rect">
            <a:avLst/>
          </a:prstGeom>
          <a:solidFill>
            <a:srgbClr val="252A4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609600" y="6339840"/>
            <a:ext cx="109728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467" noProof="0" dirty="0">
                <a:solidFill>
                  <a:srgbClr val="7E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à but non lucratif — </a:t>
            </a:r>
            <a:r>
              <a:rPr lang="fr-FR" sz="1467" noProof="0" dirty="0" err="1">
                <a:solidFill>
                  <a:srgbClr val="7E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pdplibre.org</a:t>
            </a:r>
            <a:endParaRPr lang="fr-FR" sz="1467" noProof="0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5E375EF-70C2-2DE1-BC42-77EE9A600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Février 2026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76157264-CE18-A38E-2052-0DBBFC0C5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43</a:t>
            </a:fld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DP Libre">
      <a:dk1>
        <a:srgbClr val="1B1F3B"/>
      </a:dk1>
      <a:lt1>
        <a:srgbClr val="FFFFFF"/>
      </a:lt1>
      <a:dk2>
        <a:srgbClr val="252A4A"/>
      </a:dk2>
      <a:lt2>
        <a:srgbClr val="F0F4F8"/>
      </a:lt2>
      <a:accent1>
        <a:srgbClr val="00C9A7"/>
      </a:accent1>
      <a:accent2>
        <a:srgbClr val="00A88A"/>
      </a:accent2>
      <a:accent3>
        <a:srgbClr val="2E345A"/>
      </a:accent3>
      <a:accent4>
        <a:srgbClr val="B0BEC5"/>
      </a:accent4>
      <a:accent5>
        <a:srgbClr val="7E8A9A"/>
      </a:accent5>
      <a:accent6>
        <a:srgbClr val="2D3748"/>
      </a:accent6>
      <a:hlink>
        <a:srgbClr val="00C9A7"/>
      </a:hlink>
      <a:folHlink>
        <a:srgbClr val="00A88A"/>
      </a:folHlink>
    </a:clrScheme>
    <a:fontScheme name="PDP Libr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</TotalTime>
  <Words>3234</Words>
  <Application>Microsoft Macintosh PowerPoint</Application>
  <PresentationFormat>Grand écran</PresentationFormat>
  <Paragraphs>542</Paragraphs>
  <Slides>43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43</vt:i4>
      </vt:variant>
    </vt:vector>
  </HeadingPairs>
  <TitlesOfParts>
    <vt:vector size="48" baseType="lpstr">
      <vt:lpstr>Arial</vt:lpstr>
      <vt:lpstr>Calibri</vt:lpstr>
      <vt:lpstr>Menlo</vt:lpstr>
      <vt:lpstr>Trebuchet MS</vt:lpstr>
      <vt:lpstr>Thème Office</vt:lpstr>
      <vt:lpstr>Onboarding contributeur</vt:lpstr>
      <vt:lpstr>Parcours d'onboarding : ./docs/00_onboarding</vt:lpstr>
      <vt:lpstr>[TOUS]  Contexte et vision du projet</vt:lpstr>
      <vt:lpstr>[TOUS]  La reforme facturation électronique</vt:lpstr>
      <vt:lpstr>Vision PA Communautaire</vt:lpstr>
      <vt:lpstr>Parcours d'une facture (vue simplifiée)</vt:lpstr>
      <vt:lpstr>[TOUS]  Architecture fonctionnelle</vt:lpstr>
      <vt:lpstr>Vue d'ensemble de l'architecture</vt:lpstr>
      <vt:lpstr>[TOUS]  Les 10 briques</vt:lpstr>
      <vt:lpstr>Flux type d'une facture</vt:lpstr>
      <vt:lpstr>[TOUS]  Les normes de référence</vt:lpstr>
      <vt:lpstr>3 normes AFNOR incluses dans le repo</vt:lpstr>
      <vt:lpstr>XP Z12-014 - Cas d'usage B2B</vt:lpstr>
      <vt:lpstr>Autres références</vt:lpstr>
      <vt:lpstr>[TOUS]  Organisation du dépôt</vt:lpstr>
      <vt:lpstr>[TOUS]  Structure du monorepo  un seul référentiel pour tous les projets</vt:lpstr>
      <vt:lpstr>[TOUS]  Stratégie BDD</vt:lpstr>
      <vt:lpstr>Le BDD : un langage commun</vt:lpstr>
      <vt:lpstr>Lien feature -&gt; steps -&gt; systeme</vt:lpstr>
      <vt:lpstr>[METIER]  Rédiger un scenario BDD</vt:lpstr>
      <vt:lpstr>[METIER]  Structure d'un fichier .feature</vt:lpstr>
      <vt:lpstr>[METIER]  Bonnes pratiques et anti-patterns</vt:lpstr>
      <vt:lpstr>[METIER]  Exemples concrets du projet</vt:lpstr>
      <vt:lpstr>[DEV]  Installation de l'environnement</vt:lpstr>
      <vt:lpstr>[DEV] Accéder au repo</vt:lpstr>
      <vt:lpstr>[DEV] Installer l’environnement Docker vs Linux natif</vt:lpstr>
      <vt:lpstr>[DEV]  Verification de l'installation</vt:lpstr>
      <vt:lpstr>[DEV]  Le code : packages et services</vt:lpstr>
      <vt:lpstr>[DEV]  Implémentation à date (février 2026)</vt:lpstr>
      <vt:lpstr>[DEV]  Conventions du code</vt:lpstr>
      <vt:lpstr>[DEV]  Implémenter un test BDD</vt:lpstr>
      <vt:lpstr>[DEV]  Flux : .feature -&gt; step -&gt; systeme</vt:lpstr>
      <vt:lpstr>[DEV]  Fixtures et exécution</vt:lpstr>
      <vt:lpstr>[TOUS]  Rapports de tests</vt:lpstr>
      <vt:lpstr>Lancer et lire les rapports</vt:lpstr>
      <vt:lpstr>[TOUS]  Contribuer</vt:lpstr>
      <vt:lpstr>Cycle de contribution</vt:lpstr>
      <vt:lpstr>[METIER]  Focus par brique : écrire les tests</vt:lpstr>
      <vt:lpstr>[METIER]  Couverture actuelle (février 2026)</vt:lpstr>
      <vt:lpstr>Synthese</vt:lpstr>
      <vt:lpstr>Recapitulatif des parcours</vt:lpstr>
      <vt:lpstr>Ressources et contacts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PDP Libre</dc:creator>
  <cp:keywords/>
  <dc:description/>
  <cp:lastModifiedBy>Bruno Delebarre-Debay</cp:lastModifiedBy>
  <cp:revision>6</cp:revision>
  <dcterms:created xsi:type="dcterms:W3CDTF">2026-02-12T14:26:19Z</dcterms:created>
  <dcterms:modified xsi:type="dcterms:W3CDTF">2026-02-18T06:18:47Z</dcterms:modified>
  <cp:category/>
</cp:coreProperties>
</file>